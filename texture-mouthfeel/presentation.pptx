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4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来源：赵恬田，江南大学硕士论文（2022）；图3-8/9，第32–33页；表3-5，第24页；图3-15，第47页；表3-12，第40页。论文页码；PDF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质构为煮至最佳蒸煮时间、过冷水20s、煮后10min内测试，每样至少10次。样品初始水分22.0±0.5%。SEM是生面固定脱水后的横截面；CLSM是熟面，比例尺20μm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来源：赵恬田，江南大学硕士论文（2022）；图3-8，第32页；表3-4/5，第23–24页。论文页码；PDF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图3-8面板a1空白a2TSPPa3MSP，原比例尺40μm，红箭头为论文标注。MSP0.4%硬度4332.37±87.33a，空白3776.99±108.10def；拉伸13.19±0.66j vs16.85±0.57h。TSPP0.4%硬度3929.70±143.26bcd，与空白def共享d，不能声称显著更硬。蒸煮损失5.46±0.08a vs空白4.62±0.22def，为显著增加。生面形态不能直接替代熟面结构。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来源：赵恬田，江南大学硕士论文（2022）；图3-9，第33页；表3-5，第24页。论文页码；PDF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面板b1–b5为空白SHMPSTPPTSPPMSP；每列上行原始CLSM红色蛋白图，比例尺20μm，下行Angio Tool拟合。同列硬度依次3776.99、4001.08、3645.59、3929.70、4332.37g；拉伸依次16.85、19.67、20.41、22.18、13.19g。0.4%SHMP硬度bc与空白def无共享字母；STPP硬度fgh与空白def共享f，均值较低但不标显著下降。TSPP硬度bcd共享d，不标显著增加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来源：赵恬田，江南大学硕士论文（2022）；图3-10，第34页；表3-4/5，第23–24页。论文页码；PDF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作者综合网络排序STPP&gt;SHMP&gt;MSP&gt;空白&gt;TSPP。原文孔隙度对应英文lacunarity，是图像分析指标，不等同体积孔隙率。STPP0.4%结构最发达，但硬度均值3645.59不高于空白；TSPP蒸煮损失5.46%显著高于空白4.62%。机理解释为作者提出蛋白交联与淀粉糊化作用的平衡，未把显微图单独作为因果证明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来源：赵恬田，江南大学硕士论文（2022）；图3-7，第31页；表3-4/5，第23–24页。论文页码；PDF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MRI质子密度伪彩不能直接换算百分水分。a空白bSHMPcSTPPdTSPPeMSP，0.4%。作者认为SHMPSTPPMSP中心保留低水分区与面筋网络限制水进入、保留有嚼劲的中心相关；这是作者机理解释。STPP同样保留低水分区但硬度均值较低，因此不能仅凭中心图像宣称更硬。SHMP吸水率125.27% vs空白133.02%，硬度4001.08g；STPP吸水率139.42%，硬度3645.59g；TSPP吸水率134.96%，蒸煮损失5.46%。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来源：赵恬田，江南大学硕士论文（2022）；图3-15，第47页；表3-12，第40页。论文页码；PDF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pH试验基于0.2%SHMP+0.4%STPP，以富马酸一钠或Na2CO3/K2CO3调节，不能与无添加空白跨试验直接比较。pH4至10硬度2843.38,2986.96,3121.85,3131.75,3467.08,3366.60,3772.93g；拉伸15.98,15.43,20.65,22.90,22.48,23.53,24.69g。均至各自最佳蒸煮时间，5.5–8.5min不同。原始CLSM20μm与拟合图配对；最致密pH9不等于最高硬度pH10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来源：赵恬田，江南大学硕士论文（2022）；图3-16，第48页；表3-12，第40页。论文页码；PDF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作者综合网络pH9&gt;10&gt;8=7&gt;6=5&gt;4；各单项统计以图字母为准。pH4与9硬度2843.38 vs3366.60g、拉伸15.98 vs23.53g。pH9蒸煮损失8.86%，pH6 4.41%，pH10 11.76%，表示固形物浸出，不能直接等同表面发黏、糊汤程度或感官喜好。pH9相比pH8硬度均值更低，网络排序不等于硬度排序。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来源：赵恬田，江南大学硕士论文（2022）；图3-15，第47页；表3-13/14，第41–42页。论文页码；PDF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显微图仅是pH9初始熟面结构示例，并非10d或20d图；论文此处无同时间动态显微对照。不主张由图证明贮藏网络损坏。pH9硬度10d3843.54±73.63ab，20d3778.48±95.50b共享b，没有显著下降；拉伸10d24.74±0.79a到20d19.32±0.43c显著下降。作者解释微生物生长可能影响结构，但动态结构尚需验证。pH6–8无20d数据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来源：赵恬田，江南大学硕士论文（2022）；图3-8/9/15，第32–33、47页；表3-4/5/12，第23–24、40页。论文页码；PDF 页码＝论文页码＋10。</a:t>
            </a:r>
          </a:p>
          <a:p/>
          <a:p>
            <a:r>
              <a:t>阅读与数据核对说明：</a:t>
            </a:r>
          </a:p>
          <a:p>
            <a:r>
              <a:t>宏观数值为原表均值，原图包保留标准差与显著性字母。硬度用于抗压/咬合阻力解读；拉伸力用于抗拉断能力解读，不直接等同TPA弹性或感官喜好。蒸煮损失反映固形物浸出，不直接等于表面黏性评分。同组同配方图表关联不构成单独因果证明。磷酸盐显微图与配套数字统一使用0.4%（以面粉质量计）；空白不含添加剂。本版删去所有包材比较及相关咀嚼性/弹性数据；不把包装试验结果混入磷酸盐或pH试验。以SEM、CLSM、网络量化及MRI串联质构代理。磷酸盐和pH数据来自不同配方试验，不能跨试验直接比较绝对值。</a:t>
            </a:r>
          </a:p>
          <a:p/>
          <a:p>
            <a:r>
              <a:t>图片处理：仅从原PDF截取；除图3-15按组配对重排外，未修改坐标、数据标记、比例尺、原箭头或图像色彩。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Relationship Id="rId100" Type="http://schemas.openxmlformats.org/officeDocument/2006/relationships/image" Target="../media/research_1_image-1-1.png"/><Relationship Id="rId101" Type="http://schemas.openxmlformats.org/officeDocument/2006/relationships/image" Target="../media/research_1_image-1-2.png"/><Relationship Id="rId102" Type="http://schemas.openxmlformats.org/officeDocument/2006/relationships/image" Target="../media/research_1_image-1-3.pn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Relationship Id="rId100" Type="http://schemas.openxmlformats.org/officeDocument/2006/relationships/image" Target="../media/research_2_image-2-1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Relationship Id="rId100" Type="http://schemas.openxmlformats.org/officeDocument/2006/relationships/image" Target="../media/research_3_image-3-1.png"/><Relationship Id="rId101" Type="http://schemas.openxmlformats.org/officeDocument/2006/relationships/image" Target="../media/research_3_image-3-2.png"/><Relationship Id="rId102" Type="http://schemas.openxmlformats.org/officeDocument/2006/relationships/image" Target="../media/research_3_image-3-3.png"/><Relationship Id="rId103" Type="http://schemas.openxmlformats.org/officeDocument/2006/relationships/image" Target="../media/research_3_image-3-4.png"/><Relationship Id="rId104" Type="http://schemas.openxmlformats.org/officeDocument/2006/relationships/image" Target="../media/research_3_image-3-5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Relationship Id="rId100" Type="http://schemas.openxmlformats.org/officeDocument/2006/relationships/image" Target="../media/research_4_image-4-1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Relationship Id="rId100" Type="http://schemas.openxmlformats.org/officeDocument/2006/relationships/image" Target="../media/research_5_image-5-1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Relationship Id="rId100" Type="http://schemas.openxmlformats.org/officeDocument/2006/relationships/image" Target="../media/research_6_image-6-1.png"/><Relationship Id="rId101" Type="http://schemas.openxmlformats.org/officeDocument/2006/relationships/image" Target="../media/research_6_image-6-2.png"/><Relationship Id="rId102" Type="http://schemas.openxmlformats.org/officeDocument/2006/relationships/image" Target="../media/research_6_image-6-3.png"/><Relationship Id="rId103" Type="http://schemas.openxmlformats.org/officeDocument/2006/relationships/image" Target="../media/research_6_image-6-4.png"/><Relationship Id="rId104" Type="http://schemas.openxmlformats.org/officeDocument/2006/relationships/image" Target="../media/research_6_image-6-5.png"/><Relationship Id="rId105" Type="http://schemas.openxmlformats.org/officeDocument/2006/relationships/image" Target="../media/research_6_image-6-6.png"/><Relationship Id="rId106" Type="http://schemas.openxmlformats.org/officeDocument/2006/relationships/image" Target="../media/research_6_image-6-7.png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Relationship Id="rId100" Type="http://schemas.openxmlformats.org/officeDocument/2006/relationships/image" Target="../media/research_7_image-7-1.png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Relationship Id="rId100" Type="http://schemas.openxmlformats.org/officeDocument/2006/relationships/image" Target="../media/research_8_image-8-1.png"/><Relationship Id="rId101" Type="http://schemas.openxmlformats.org/officeDocument/2006/relationships/image" Target="../media/research_8_image-8-2.png"/><Relationship Id="rId102" Type="http://schemas.openxmlformats.org/officeDocument/2006/relationships/image" Target="../media/research_8_image-8-3.pn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tags" Target="../tags/tag6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Relationship Id="rId100" Type="http://schemas.openxmlformats.org/officeDocument/2006/relationships/image" Target="../media/research_9_image-9-1.png"/><Relationship Id="rId101" Type="http://schemas.openxmlformats.org/officeDocument/2006/relationships/image" Target="../media/research_9_image-9-2.png"/><Relationship Id="rId102" Type="http://schemas.openxmlformats.org/officeDocument/2006/relationships/image" Target="../media/research_9_image-9-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半干面：微观结构与口感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结构观察 → 同组宏观数据 → 口感解读｜磷酸盐 · pH · 贮藏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来源：赵恬田，江南大学硕士论文（2022）；图3-8/9，第32–33页；表3-5，第24页；图3-15，第47页；表3-12，第40页。论文页码；PDF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548640" y="149047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从“网络是否致密”走到“入口怎样表现”</a:t>
            </a:r>
            <a:endParaRPr lang="en-US" sz="2500" dirty="0"/>
          </a:p>
        </p:txBody>
      </p:sp>
      <p:sp>
        <p:nvSpPr>
          <p:cNvPr id="51" name="Shape 5"/>
          <p:cNvSpPr/>
          <p:nvPr/>
        </p:nvSpPr>
        <p:spPr>
          <a:xfrm>
            <a:off x="548640" y="2286000"/>
            <a:ext cx="3611880" cy="324612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6"/>
          <p:cNvSpPr/>
          <p:nvPr/>
        </p:nvSpPr>
        <p:spPr>
          <a:xfrm>
            <a:off x="713232" y="2423160"/>
            <a:ext cx="328269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MSP：紧密网络</a:t>
            </a:r>
            <a:endParaRPr lang="en-US" sz="2000" dirty="0"/>
          </a:p>
        </p:txBody>
      </p:sp>
      <p:pic>
        <p:nvPicPr>
          <p:cNvPr id="53" name="Image 0" descr="/workspace/ppt-work/texture-mouthfeel-v2/figures/figure-3-8-MSP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479654" y="2944368"/>
            <a:ext cx="1749852" cy="1554480"/>
          </a:xfrm>
          <a:prstGeom prst="rect">
            <a:avLst/>
          </a:prstGeom>
        </p:spPr>
      </p:pic>
      <p:sp>
        <p:nvSpPr>
          <p:cNvPr id="54" name="Text 7"/>
          <p:cNvSpPr/>
          <p:nvPr/>
        </p:nvSpPr>
        <p:spPr>
          <a:xfrm>
            <a:off x="704088" y="4654296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4332.37 g｜拉伸 13.19 g</a:t>
            </a:r>
            <a:endParaRPr lang="en-US" sz="1400" dirty="0"/>
          </a:p>
        </p:txBody>
      </p:sp>
      <p:sp>
        <p:nvSpPr>
          <p:cNvPr id="55" name="Text 8"/>
          <p:cNvSpPr/>
          <p:nvPr/>
        </p:nvSpPr>
        <p:spPr>
          <a:xfrm>
            <a:off x="704088" y="5120640"/>
            <a:ext cx="3300984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口感解读：偏硬，抗拉断较弱</a:t>
            </a:r>
            <a:endParaRPr lang="en-US" sz="1400" dirty="0"/>
          </a:p>
        </p:txBody>
      </p:sp>
      <p:sp>
        <p:nvSpPr>
          <p:cNvPr id="56" name="Shape 9"/>
          <p:cNvSpPr/>
          <p:nvPr/>
        </p:nvSpPr>
        <p:spPr>
          <a:xfrm>
            <a:off x="4325112" y="2286000"/>
            <a:ext cx="3611880" cy="324612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7" name="Text 10"/>
          <p:cNvSpPr/>
          <p:nvPr/>
        </p:nvSpPr>
        <p:spPr>
          <a:xfrm>
            <a:off x="4489704" y="2423160"/>
            <a:ext cx="328269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STPP：网络更发达</a:t>
            </a:r>
            <a:endParaRPr lang="en-US" sz="2000" dirty="0"/>
          </a:p>
        </p:txBody>
      </p:sp>
      <p:pic>
        <p:nvPicPr>
          <p:cNvPr id="58" name="Image 1" descr="/workspace/ppt-work/texture-mouthfeel-v2/figures/figure-3-9-3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763762" y="2944368"/>
            <a:ext cx="734580" cy="1554480"/>
          </a:xfrm>
          <a:prstGeom prst="rect">
            <a:avLst/>
          </a:prstGeom>
        </p:spPr>
      </p:pic>
      <p:sp>
        <p:nvSpPr>
          <p:cNvPr id="59" name="Text 11"/>
          <p:cNvSpPr/>
          <p:nvPr/>
        </p:nvSpPr>
        <p:spPr>
          <a:xfrm>
            <a:off x="4480560" y="4654296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3645.59 g｜拉伸 20.41 g</a:t>
            </a:r>
            <a:endParaRPr lang="en-US" sz="1400" dirty="0"/>
          </a:p>
        </p:txBody>
      </p:sp>
      <p:sp>
        <p:nvSpPr>
          <p:cNvPr id="60" name="Text 12"/>
          <p:cNvSpPr/>
          <p:nvPr/>
        </p:nvSpPr>
        <p:spPr>
          <a:xfrm>
            <a:off x="4480560" y="5120640"/>
            <a:ext cx="3300984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口感解读：抗拉更强，不是最硬</a:t>
            </a:r>
            <a:endParaRPr lang="en-US" sz="1400" dirty="0"/>
          </a:p>
        </p:txBody>
      </p:sp>
      <p:sp>
        <p:nvSpPr>
          <p:cNvPr id="61" name="Shape 13"/>
          <p:cNvSpPr/>
          <p:nvPr/>
        </p:nvSpPr>
        <p:spPr>
          <a:xfrm>
            <a:off x="8101584" y="2286000"/>
            <a:ext cx="3611880" cy="3246120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2" name="Text 14"/>
          <p:cNvSpPr/>
          <p:nvPr/>
        </p:nvSpPr>
        <p:spPr>
          <a:xfrm>
            <a:off x="8266176" y="2423160"/>
            <a:ext cx="3282696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9：网络较致密</a:t>
            </a:r>
            <a:endParaRPr lang="en-US" sz="2000" dirty="0"/>
          </a:p>
        </p:txBody>
      </p:sp>
      <p:pic>
        <p:nvPicPr>
          <p:cNvPr id="63" name="Image 2" descr="/workspace/ppt-work/texture-mouthfeel-v2/figures/figure-3-15-pH9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554233" y="2944368"/>
            <a:ext cx="706582" cy="1554480"/>
          </a:xfrm>
          <a:prstGeom prst="rect">
            <a:avLst/>
          </a:prstGeom>
        </p:spPr>
      </p:pic>
      <p:sp>
        <p:nvSpPr>
          <p:cNvPr id="64" name="Text 15"/>
          <p:cNvSpPr/>
          <p:nvPr/>
        </p:nvSpPr>
        <p:spPr>
          <a:xfrm>
            <a:off x="8257032" y="4654296"/>
            <a:ext cx="3300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3366.60 g｜拉伸 23.53 g</a:t>
            </a:r>
            <a:endParaRPr lang="en-US" sz="1400" dirty="0"/>
          </a:p>
        </p:txBody>
      </p:sp>
      <p:sp>
        <p:nvSpPr>
          <p:cNvPr id="65" name="Text 16"/>
          <p:cNvSpPr/>
          <p:nvPr/>
        </p:nvSpPr>
        <p:spPr>
          <a:xfrm>
            <a:off x="8257032" y="5120640"/>
            <a:ext cx="3300984" cy="29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 pH 4：抗咬与抗拉能力更强</a:t>
            </a:r>
            <a:endParaRPr lang="en-US" sz="1400" dirty="0"/>
          </a:p>
        </p:txBody>
      </p:sp>
      <p:sp>
        <p:nvSpPr>
          <p:cNvPr id="66" name="Shape 17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7" name="Text 18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口感解读以质构与蒸煮指标为依据；“更硬”“抗拉更强”不等同于“更好吃”。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生面 SEM：结构与煮后口感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横截面对比｜孔隙形态与同配方煮后表现｜添加组均为 0.4%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来源：赵恬田，江南大学硕士论文（2022）；图3-8，第32页；表3-4/5，第23–24页。论文页码；PDF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pic>
        <p:nvPicPr>
          <p:cNvPr id="50" name="Image 0" descr="/workspace/ppt-work/texture-mouthfeel-v2/figures/figure-3-8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002270" y="1554480"/>
            <a:ext cx="8230133" cy="2395728"/>
          </a:xfrm>
          <a:prstGeom prst="rect">
            <a:avLst/>
          </a:prstGeom>
        </p:spPr>
      </p:pic>
      <p:sp>
        <p:nvSpPr>
          <p:cNvPr id="51" name="Shape 4"/>
          <p:cNvSpPr/>
          <p:nvPr/>
        </p:nvSpPr>
        <p:spPr>
          <a:xfrm>
            <a:off x="548640" y="4142232"/>
            <a:ext cx="3611880" cy="15636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5"/>
          <p:cNvSpPr/>
          <p:nvPr/>
        </p:nvSpPr>
        <p:spPr>
          <a:xfrm>
            <a:off x="713232" y="423367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空白：基准</a:t>
            </a:r>
            <a:endParaRPr lang="en-US" sz="1800" dirty="0"/>
          </a:p>
        </p:txBody>
      </p:sp>
      <p:sp>
        <p:nvSpPr>
          <p:cNvPr id="53" name="Text 6"/>
          <p:cNvSpPr/>
          <p:nvPr/>
        </p:nvSpPr>
        <p:spPr>
          <a:xfrm>
            <a:off x="713232" y="4745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3776.99 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 16.85 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作为同试验的口感基准。</a:t>
            </a:r>
            <a:endParaRPr lang="en-US" sz="1500" dirty="0"/>
          </a:p>
        </p:txBody>
      </p:sp>
      <p:sp>
        <p:nvSpPr>
          <p:cNvPr id="54" name="Shape 7"/>
          <p:cNvSpPr/>
          <p:nvPr/>
        </p:nvSpPr>
        <p:spPr>
          <a:xfrm>
            <a:off x="4325112" y="4142232"/>
            <a:ext cx="3611880" cy="15636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8"/>
          <p:cNvSpPr/>
          <p:nvPr/>
        </p:nvSpPr>
        <p:spPr>
          <a:xfrm>
            <a:off x="4489704" y="423367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TSPP：小孔较多</a:t>
            </a:r>
            <a:endParaRPr lang="en-US" sz="1800" dirty="0"/>
          </a:p>
        </p:txBody>
      </p:sp>
      <p:sp>
        <p:nvSpPr>
          <p:cNvPr id="56" name="Text 9"/>
          <p:cNvSpPr/>
          <p:nvPr/>
        </p:nvSpPr>
        <p:spPr>
          <a:xfrm>
            <a:off x="4489704" y="4745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蒸煮损失 5.46%（空白 4.62%）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拉伸力 22.18 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固形物浸出更多，抗拉更强。</a:t>
            </a:r>
            <a:endParaRPr lang="en-US" sz="1500" dirty="0"/>
          </a:p>
        </p:txBody>
      </p:sp>
      <p:sp>
        <p:nvSpPr>
          <p:cNvPr id="57" name="Shape 10"/>
          <p:cNvSpPr/>
          <p:nvPr/>
        </p:nvSpPr>
        <p:spPr>
          <a:xfrm>
            <a:off x="8101584" y="4142232"/>
            <a:ext cx="3611880" cy="15636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8266176" y="4233672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MSP：较紧密、连续</a:t>
            </a:r>
            <a:endParaRPr lang="en-US" sz="1800" dirty="0"/>
          </a:p>
        </p:txBody>
      </p:sp>
      <p:sp>
        <p:nvSpPr>
          <p:cNvPr id="59" name="Text 12"/>
          <p:cNvSpPr/>
          <p:nvPr/>
        </p:nvSpPr>
        <p:spPr>
          <a:xfrm>
            <a:off x="8266176" y="4745736"/>
            <a:ext cx="3282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4332.37 g；拉伸 13.19 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抗压阻力更大，抗拉断较弱。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“硬”与“韧”并不同步。</a:t>
            </a:r>
            <a:endParaRPr lang="en-US" sz="1500" dirty="0"/>
          </a:p>
        </p:txBody>
      </p:sp>
      <p:sp>
        <p:nvSpPr>
          <p:cNvPr id="60" name="Shape 13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4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 的紧密结构对应更高硬度；TSPP 的多孔形态对应更高蒸煮损失，抗拉却仍较强。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熟面 CLSM：网络与口感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同组对应｜每列保留原始 / 拟合图，并列出煮后质构｜添加组均为 0.4%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来源：赵恬田，江南大学硕士论文（2022）；图3-9，第33页；表3-5，第24页。论文页码；PDF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50" name="Text 4"/>
          <p:cNvSpPr/>
          <p:nvPr/>
        </p:nvSpPr>
        <p:spPr>
          <a:xfrm>
            <a:off x="640080" y="1463040"/>
            <a:ext cx="2011680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空白</a:t>
            </a:r>
            <a:endParaRPr lang="en-US" sz="2000" dirty="0"/>
          </a:p>
        </p:txBody>
      </p:sp>
      <p:pic>
        <p:nvPicPr>
          <p:cNvPr id="51" name="Image 0" descr="/workspace/ppt-work/texture-mouthfeel-v2/figures/figure-3-9-1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041167" y="1984248"/>
            <a:ext cx="1209505" cy="2523744"/>
          </a:xfrm>
          <a:prstGeom prst="rect">
            <a:avLst/>
          </a:prstGeom>
        </p:spPr>
      </p:pic>
      <p:sp>
        <p:nvSpPr>
          <p:cNvPr id="52" name="Shape 5"/>
          <p:cNvSpPr/>
          <p:nvPr/>
        </p:nvSpPr>
        <p:spPr>
          <a:xfrm>
            <a:off x="548640" y="4599432"/>
            <a:ext cx="2121408" cy="11064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3" name="Text 6"/>
          <p:cNvSpPr/>
          <p:nvPr/>
        </p:nvSpPr>
        <p:spPr>
          <a:xfrm>
            <a:off x="658368" y="4681728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3776.99 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16.85 g</a:t>
            </a:r>
            <a:endParaRPr lang="en-US" sz="1400" dirty="0"/>
          </a:p>
        </p:txBody>
      </p:sp>
      <p:sp>
        <p:nvSpPr>
          <p:cNvPr id="54" name="Text 7"/>
          <p:cNvSpPr/>
          <p:nvPr/>
        </p:nvSpPr>
        <p:spPr>
          <a:xfrm>
            <a:off x="640080" y="5330952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同试验基准</a:t>
            </a:r>
            <a:endParaRPr lang="en-US" sz="1250" dirty="0"/>
          </a:p>
        </p:txBody>
      </p:sp>
      <p:sp>
        <p:nvSpPr>
          <p:cNvPr id="55" name="Text 8"/>
          <p:cNvSpPr/>
          <p:nvPr/>
        </p:nvSpPr>
        <p:spPr>
          <a:xfrm>
            <a:off x="2889504" y="1463040"/>
            <a:ext cx="2011680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SHMP</a:t>
            </a:r>
            <a:endParaRPr lang="en-US" sz="2000" dirty="0"/>
          </a:p>
        </p:txBody>
      </p:sp>
      <p:pic>
        <p:nvPicPr>
          <p:cNvPr id="56" name="Image 1" descr="/workspace/ppt-work/texture-mouthfeel-v2/figures/figure-3-9-2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295659" y="1984248"/>
            <a:ext cx="1199370" cy="2523744"/>
          </a:xfrm>
          <a:prstGeom prst="rect">
            <a:avLst/>
          </a:prstGeom>
        </p:spPr>
      </p:pic>
      <p:sp>
        <p:nvSpPr>
          <p:cNvPr id="57" name="Shape 9"/>
          <p:cNvSpPr/>
          <p:nvPr/>
        </p:nvSpPr>
        <p:spPr>
          <a:xfrm>
            <a:off x="2798064" y="4599432"/>
            <a:ext cx="2121408" cy="11064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0"/>
          <p:cNvSpPr/>
          <p:nvPr/>
        </p:nvSpPr>
        <p:spPr>
          <a:xfrm>
            <a:off x="2907792" y="4681728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4001.08 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19.67 g</a:t>
            </a:r>
            <a:endParaRPr lang="en-US" sz="1400" dirty="0"/>
          </a:p>
        </p:txBody>
      </p:sp>
      <p:sp>
        <p:nvSpPr>
          <p:cNvPr id="59" name="Text 11"/>
          <p:cNvSpPr/>
          <p:nvPr/>
        </p:nvSpPr>
        <p:spPr>
          <a:xfrm>
            <a:off x="2889504" y="5330952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更硬，抗拉更强</a:t>
            </a:r>
            <a:endParaRPr lang="en-US" sz="1250" dirty="0"/>
          </a:p>
        </p:txBody>
      </p:sp>
      <p:sp>
        <p:nvSpPr>
          <p:cNvPr id="60" name="Text 12"/>
          <p:cNvSpPr/>
          <p:nvPr/>
        </p:nvSpPr>
        <p:spPr>
          <a:xfrm>
            <a:off x="5138928" y="1463040"/>
            <a:ext cx="2011680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</a:t>
            </a:r>
            <a:endParaRPr lang="en-US" sz="2000" dirty="0"/>
          </a:p>
        </p:txBody>
      </p:sp>
      <p:pic>
        <p:nvPicPr>
          <p:cNvPr id="61" name="Image 2" descr="/workspace/ppt-work/texture-mouthfeel-v2/figures/figure-3-9-3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548462" y="1984248"/>
            <a:ext cx="1192613" cy="2523744"/>
          </a:xfrm>
          <a:prstGeom prst="rect">
            <a:avLst/>
          </a:prstGeom>
        </p:spPr>
      </p:pic>
      <p:sp>
        <p:nvSpPr>
          <p:cNvPr id="62" name="Shape 13"/>
          <p:cNvSpPr/>
          <p:nvPr/>
        </p:nvSpPr>
        <p:spPr>
          <a:xfrm>
            <a:off x="5047488" y="4599432"/>
            <a:ext cx="2121408" cy="11064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3" name="Text 14"/>
          <p:cNvSpPr/>
          <p:nvPr/>
        </p:nvSpPr>
        <p:spPr>
          <a:xfrm>
            <a:off x="5157216" y="4681728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3645.59 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20.41 g</a:t>
            </a:r>
            <a:endParaRPr lang="en-US" sz="1400" dirty="0"/>
          </a:p>
        </p:txBody>
      </p:sp>
      <p:sp>
        <p:nvSpPr>
          <p:cNvPr id="64" name="Text 15"/>
          <p:cNvSpPr/>
          <p:nvPr/>
        </p:nvSpPr>
        <p:spPr>
          <a:xfrm>
            <a:off x="5138928" y="5330952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抗拉更强，硬度未同步</a:t>
            </a:r>
            <a:endParaRPr lang="en-US" sz="1250" dirty="0"/>
          </a:p>
        </p:txBody>
      </p:sp>
      <p:sp>
        <p:nvSpPr>
          <p:cNvPr id="65" name="Text 16"/>
          <p:cNvSpPr/>
          <p:nvPr/>
        </p:nvSpPr>
        <p:spPr>
          <a:xfrm>
            <a:off x="7388352" y="1463040"/>
            <a:ext cx="2011680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</a:t>
            </a:r>
            <a:endParaRPr lang="en-US" sz="2000" dirty="0"/>
          </a:p>
        </p:txBody>
      </p:sp>
      <p:pic>
        <p:nvPicPr>
          <p:cNvPr id="66" name="Image 3" descr="/workspace/ppt-work/texture-mouthfeel-v2/figures/figure-3-9-4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7792818" y="1984248"/>
            <a:ext cx="1202748" cy="2523744"/>
          </a:xfrm>
          <a:prstGeom prst="rect">
            <a:avLst/>
          </a:prstGeom>
        </p:spPr>
      </p:pic>
      <p:sp>
        <p:nvSpPr>
          <p:cNvPr id="67" name="Shape 17"/>
          <p:cNvSpPr/>
          <p:nvPr/>
        </p:nvSpPr>
        <p:spPr>
          <a:xfrm>
            <a:off x="7296912" y="4599432"/>
            <a:ext cx="2121408" cy="11064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8" name="Text 18"/>
          <p:cNvSpPr/>
          <p:nvPr/>
        </p:nvSpPr>
        <p:spPr>
          <a:xfrm>
            <a:off x="7406640" y="4681728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3929.70 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22.18 g</a:t>
            </a:r>
            <a:endParaRPr lang="en-US" sz="1400" dirty="0"/>
          </a:p>
        </p:txBody>
      </p:sp>
      <p:sp>
        <p:nvSpPr>
          <p:cNvPr id="69" name="Text 19"/>
          <p:cNvSpPr/>
          <p:nvPr/>
        </p:nvSpPr>
        <p:spPr>
          <a:xfrm>
            <a:off x="7388352" y="5330952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较多孔，但抗拉较强</a:t>
            </a:r>
            <a:endParaRPr lang="en-US" sz="1250" dirty="0"/>
          </a:p>
        </p:txBody>
      </p:sp>
      <p:sp>
        <p:nvSpPr>
          <p:cNvPr id="70" name="Text 20"/>
          <p:cNvSpPr/>
          <p:nvPr/>
        </p:nvSpPr>
        <p:spPr>
          <a:xfrm>
            <a:off x="9637776" y="1463040"/>
            <a:ext cx="2011680" cy="411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</a:t>
            </a:r>
            <a:endParaRPr lang="en-US" sz="2000" dirty="0"/>
          </a:p>
        </p:txBody>
      </p:sp>
      <p:pic>
        <p:nvPicPr>
          <p:cNvPr id="71" name="Image 4" descr="/workspace/ppt-work/texture-mouthfeel-v2/figures/figure-3-9-5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0038863" y="1984248"/>
            <a:ext cx="1209505" cy="2523744"/>
          </a:xfrm>
          <a:prstGeom prst="rect">
            <a:avLst/>
          </a:prstGeom>
        </p:spPr>
      </p:pic>
      <p:sp>
        <p:nvSpPr>
          <p:cNvPr id="72" name="Shape 21"/>
          <p:cNvSpPr/>
          <p:nvPr/>
        </p:nvSpPr>
        <p:spPr>
          <a:xfrm>
            <a:off x="9546336" y="4599432"/>
            <a:ext cx="2121408" cy="1106424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3" name="Text 22"/>
          <p:cNvSpPr/>
          <p:nvPr/>
        </p:nvSpPr>
        <p:spPr>
          <a:xfrm>
            <a:off x="9656064" y="4681728"/>
            <a:ext cx="19019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4332.37 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13.19 g</a:t>
            </a:r>
            <a:endParaRPr lang="en-US" sz="1400" dirty="0"/>
          </a:p>
        </p:txBody>
      </p:sp>
      <p:sp>
        <p:nvSpPr>
          <p:cNvPr id="74" name="Text 23"/>
          <p:cNvSpPr/>
          <p:nvPr/>
        </p:nvSpPr>
        <p:spPr>
          <a:xfrm>
            <a:off x="9637776" y="5330952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偏硬，抗拉断较弱</a:t>
            </a:r>
            <a:endParaRPr lang="en-US" sz="1250" dirty="0"/>
          </a:p>
        </p:txBody>
      </p:sp>
      <p:sp>
        <p:nvSpPr>
          <p:cNvPr id="75" name="Shape 24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6" name="Text 25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网络更连续，不能直接写成“口感更硬”；抗咬与抗拉要分别结合对应的实测数据。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网络量化：为什么不等于硬度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四项结构指标｜与抗咬、抗拉、蒸煮损失配对｜添加组均为 0.4%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来源：赵恬田，江南大学硕士论文（2022）；图3-10，第34页；表3-4/5，第23–24页。论文页码；PDF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pic>
        <p:nvPicPr>
          <p:cNvPr id="50" name="Image 0" descr="/workspace/ppt-work/texture-mouthfeel-v2/figures/figure-3-10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21088" y="1444752"/>
            <a:ext cx="5000071" cy="4315968"/>
          </a:xfrm>
          <a:prstGeom prst="rect">
            <a:avLst/>
          </a:prstGeom>
        </p:spPr>
      </p:pic>
      <p:sp>
        <p:nvSpPr>
          <p:cNvPr id="51" name="Shape 4"/>
          <p:cNvSpPr/>
          <p:nvPr/>
        </p:nvSpPr>
        <p:spPr>
          <a:xfrm>
            <a:off x="8485632" y="1463040"/>
            <a:ext cx="3182112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5"/>
          <p:cNvSpPr/>
          <p:nvPr/>
        </p:nvSpPr>
        <p:spPr>
          <a:xfrm>
            <a:off x="8650224" y="155448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STPP：网络发达，抗拉强</a:t>
            </a:r>
            <a:endParaRPr lang="en-US" sz="1800" dirty="0"/>
          </a:p>
        </p:txBody>
      </p:sp>
      <p:sp>
        <p:nvSpPr>
          <p:cNvPr id="53" name="Text 6"/>
          <p:cNvSpPr/>
          <p:nvPr/>
        </p:nvSpPr>
        <p:spPr>
          <a:xfrm>
            <a:off x="8650224" y="2066544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20.41 g（空白 16.85 g）；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3645.59 g，均值未更高。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结点、长度增加对应抗拉增强。</a:t>
            </a:r>
            <a:endParaRPr lang="en-US" sz="1500" dirty="0"/>
          </a:p>
        </p:txBody>
      </p:sp>
      <p:sp>
        <p:nvSpPr>
          <p:cNvPr id="54" name="Shape 7"/>
          <p:cNvSpPr/>
          <p:nvPr/>
        </p:nvSpPr>
        <p:spPr>
          <a:xfrm>
            <a:off x="8485632" y="2907792"/>
            <a:ext cx="3182112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8"/>
          <p:cNvSpPr/>
          <p:nvPr/>
        </p:nvSpPr>
        <p:spPr>
          <a:xfrm>
            <a:off x="8650224" y="299923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TSPP：较多孔，浸出多</a:t>
            </a:r>
            <a:endParaRPr lang="en-US" sz="1800" dirty="0"/>
          </a:p>
        </p:txBody>
      </p:sp>
      <p:sp>
        <p:nvSpPr>
          <p:cNvPr id="56" name="Text 9"/>
          <p:cNvSpPr/>
          <p:nvPr/>
        </p:nvSpPr>
        <p:spPr>
          <a:xfrm>
            <a:off x="8650224" y="3511296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孔隙度较高。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蒸煮损失：5.46% vs 4.62%。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 组固形物浸出更多。</a:t>
            </a:r>
            <a:endParaRPr lang="en-US" sz="1500" dirty="0"/>
          </a:p>
        </p:txBody>
      </p:sp>
      <p:sp>
        <p:nvSpPr>
          <p:cNvPr id="57" name="Shape 10"/>
          <p:cNvSpPr/>
          <p:nvPr/>
        </p:nvSpPr>
        <p:spPr>
          <a:xfrm>
            <a:off x="8485632" y="4352544"/>
            <a:ext cx="3182112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8650224" y="4443984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蛋白与淀粉共同影响</a:t>
            </a:r>
            <a:endParaRPr lang="en-US" sz="1800" dirty="0"/>
          </a:p>
        </p:txBody>
      </p:sp>
      <p:sp>
        <p:nvSpPr>
          <p:cNvPr id="59" name="Text 12"/>
          <p:cNvSpPr/>
          <p:nvPr/>
        </p:nvSpPr>
        <p:spPr>
          <a:xfrm>
            <a:off x="8650224" y="4956048"/>
            <a:ext cx="2852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作者解释：蛋白交联增强，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与淀粉糊化共同决定质地。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网络强度不能替代硬度实测。</a:t>
            </a:r>
            <a:endParaRPr lang="en-US" sz="1500" dirty="0"/>
          </a:p>
        </p:txBody>
      </p:sp>
      <p:sp>
        <p:nvSpPr>
          <p:cNvPr id="60" name="Shape 13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4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宏观表现取决于蛋白网络与淀粉状态的共同作用：结构更强，可能体现为抗拉更强。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MRI：水分进入与口感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水分分布｜中心水合程度与煮后质构同时看｜添加组均为 0.4%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来源：赵恬田，江南大学硕士论文（2022）；图3-7，第31页；表3-4/5，第23–24页。论文页码；PDF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pic>
        <p:nvPicPr>
          <p:cNvPr id="50" name="Image 0" descr="/workspace/ppt-work/texture-mouthfeel-v2/figures/figure-3-7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06698" y="1435608"/>
            <a:ext cx="4489357" cy="4325112"/>
          </a:xfrm>
          <a:prstGeom prst="rect">
            <a:avLst/>
          </a:prstGeom>
        </p:spPr>
      </p:pic>
      <p:sp>
        <p:nvSpPr>
          <p:cNvPr id="51" name="Shape 4"/>
          <p:cNvSpPr/>
          <p:nvPr/>
        </p:nvSpPr>
        <p:spPr>
          <a:xfrm>
            <a:off x="7973568" y="1463040"/>
            <a:ext cx="3685032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5"/>
          <p:cNvSpPr/>
          <p:nvPr/>
        </p:nvSpPr>
        <p:spPr>
          <a:xfrm>
            <a:off x="8138160" y="1554480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SHMP：中心低水分区</a:t>
            </a:r>
            <a:endParaRPr lang="en-US" sz="1800" dirty="0"/>
          </a:p>
        </p:txBody>
      </p:sp>
      <p:sp>
        <p:nvSpPr>
          <p:cNvPr id="53" name="Text 6"/>
          <p:cNvSpPr/>
          <p:nvPr/>
        </p:nvSpPr>
        <p:spPr>
          <a:xfrm>
            <a:off x="8138160" y="2066544"/>
            <a:ext cx="3355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作者解释：中心水进入受限。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吸水率 125.27%（空白 133.02%）；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4001.08 g：抗咬阻力更高。</a:t>
            </a:r>
            <a:endParaRPr lang="en-US" sz="1500" dirty="0"/>
          </a:p>
        </p:txBody>
      </p:sp>
      <p:sp>
        <p:nvSpPr>
          <p:cNvPr id="54" name="Shape 7"/>
          <p:cNvSpPr/>
          <p:nvPr/>
        </p:nvSpPr>
        <p:spPr>
          <a:xfrm>
            <a:off x="7973568" y="2907792"/>
            <a:ext cx="3685032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8"/>
          <p:cNvSpPr/>
          <p:nvPr/>
        </p:nvSpPr>
        <p:spPr>
          <a:xfrm>
            <a:off x="8138160" y="2999232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STPP：水分与网络共同作用</a:t>
            </a:r>
            <a:endParaRPr lang="en-US" sz="1800" dirty="0"/>
          </a:p>
        </p:txBody>
      </p:sp>
      <p:sp>
        <p:nvSpPr>
          <p:cNvPr id="56" name="Text 9"/>
          <p:cNvSpPr/>
          <p:nvPr/>
        </p:nvSpPr>
        <p:spPr>
          <a:xfrm>
            <a:off x="8138160" y="3511296"/>
            <a:ext cx="3355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同样保留中心低水分区。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吸水率 139.42%；硬度 3645.59 g。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中心低水分，不必然意味着更硬。</a:t>
            </a:r>
            <a:endParaRPr lang="en-US" sz="1500" dirty="0"/>
          </a:p>
        </p:txBody>
      </p:sp>
      <p:sp>
        <p:nvSpPr>
          <p:cNvPr id="57" name="Shape 10"/>
          <p:cNvSpPr/>
          <p:nvPr/>
        </p:nvSpPr>
        <p:spPr>
          <a:xfrm>
            <a:off x="7973568" y="4352544"/>
            <a:ext cx="3685032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8138160" y="4443984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TSPP：较高水合与浸出</a:t>
            </a:r>
            <a:endParaRPr lang="en-US" sz="1800" dirty="0"/>
          </a:p>
        </p:txBody>
      </p:sp>
      <p:sp>
        <p:nvSpPr>
          <p:cNvPr id="59" name="Text 12"/>
          <p:cNvSpPr/>
          <p:nvPr/>
        </p:nvSpPr>
        <p:spPr>
          <a:xfrm>
            <a:off x="8138160" y="4956048"/>
            <a:ext cx="3355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作者观察外围高度水合圈。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蒸煮损失 5.46%（空白 4.62%）；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固形物浸出更多。</a:t>
            </a:r>
            <a:endParaRPr lang="en-US" sz="1500" dirty="0"/>
          </a:p>
        </p:txBody>
      </p:sp>
      <p:sp>
        <p:nvSpPr>
          <p:cNvPr id="60" name="Shape 13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4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MRI 补充“水怎样进入面条”的解释；口感仍需用同组硬度、抗拉和蒸煮指标落地。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pH：微观结构与口感对应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七组横向比较｜每组图像下直接配硬度与拉伸力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来源：赵恬田，江南大学硕士论文（2022）；图3-15，第47页；表3-12，第40页。论文页码；PDF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Shape 4"/>
          <p:cNvSpPr/>
          <p:nvPr/>
        </p:nvSpPr>
        <p:spPr>
          <a:xfrm>
            <a:off x="5486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1" name="Text 5"/>
          <p:cNvSpPr/>
          <p:nvPr/>
        </p:nvSpPr>
        <p:spPr>
          <a:xfrm>
            <a:off x="5852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4</a:t>
            </a:r>
            <a:endParaRPr lang="en-US" sz="1800" dirty="0"/>
          </a:p>
        </p:txBody>
      </p:sp>
      <p:pic>
        <p:nvPicPr>
          <p:cNvPr id="52" name="Image 0" descr="/workspace/ppt-work/texture-mouthfeel-v2/figures/figure-3-15-pH4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41118" y="2048256"/>
            <a:ext cx="1096372" cy="2459736"/>
          </a:xfrm>
          <a:prstGeom prst="rect">
            <a:avLst/>
          </a:prstGeom>
        </p:spPr>
      </p:pic>
      <p:sp>
        <p:nvSpPr>
          <p:cNvPr id="53" name="Text 6"/>
          <p:cNvSpPr/>
          <p:nvPr/>
        </p:nvSpPr>
        <p:spPr>
          <a:xfrm>
            <a:off x="6217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2843.38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15.98</a:t>
            </a:r>
            <a:endParaRPr lang="en-US" sz="1300" dirty="0"/>
          </a:p>
        </p:txBody>
      </p:sp>
      <p:sp>
        <p:nvSpPr>
          <p:cNvPr id="54" name="Text 7"/>
          <p:cNvSpPr/>
          <p:nvPr/>
        </p:nvSpPr>
        <p:spPr>
          <a:xfrm>
            <a:off x="6035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偏软，抗拉弱</a:t>
            </a:r>
            <a:endParaRPr lang="en-US" sz="1100" dirty="0"/>
          </a:p>
        </p:txBody>
      </p:sp>
      <p:sp>
        <p:nvSpPr>
          <p:cNvPr id="55" name="Shape 8"/>
          <p:cNvSpPr/>
          <p:nvPr/>
        </p:nvSpPr>
        <p:spPr>
          <a:xfrm>
            <a:off x="21488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6" name="Text 9"/>
          <p:cNvSpPr/>
          <p:nvPr/>
        </p:nvSpPr>
        <p:spPr>
          <a:xfrm>
            <a:off x="21854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</a:t>
            </a:r>
            <a:endParaRPr lang="en-US" sz="1800" dirty="0"/>
          </a:p>
        </p:txBody>
      </p:sp>
      <p:pic>
        <p:nvPicPr>
          <p:cNvPr id="57" name="Image 1" descr="/workspace/ppt-work/texture-mouthfeel-v2/figures/figure-3-15-pH5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335637" y="2048256"/>
            <a:ext cx="1107733" cy="2459736"/>
          </a:xfrm>
          <a:prstGeom prst="rect">
            <a:avLst/>
          </a:prstGeom>
        </p:spPr>
      </p:pic>
      <p:sp>
        <p:nvSpPr>
          <p:cNvPr id="58" name="Text 10"/>
          <p:cNvSpPr/>
          <p:nvPr/>
        </p:nvSpPr>
        <p:spPr>
          <a:xfrm>
            <a:off x="22219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2986.96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15.43</a:t>
            </a:r>
            <a:endParaRPr lang="en-US" sz="1300" dirty="0"/>
          </a:p>
        </p:txBody>
      </p:sp>
      <p:sp>
        <p:nvSpPr>
          <p:cNvPr id="59" name="Text 11"/>
          <p:cNvSpPr/>
          <p:nvPr/>
        </p:nvSpPr>
        <p:spPr>
          <a:xfrm>
            <a:off x="22037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较软，抗拉弱</a:t>
            </a:r>
            <a:endParaRPr lang="en-US" sz="1100" dirty="0"/>
          </a:p>
        </p:txBody>
      </p:sp>
      <p:sp>
        <p:nvSpPr>
          <p:cNvPr id="60" name="Shape 12"/>
          <p:cNvSpPr/>
          <p:nvPr/>
        </p:nvSpPr>
        <p:spPr>
          <a:xfrm>
            <a:off x="37490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3"/>
          <p:cNvSpPr/>
          <p:nvPr/>
        </p:nvSpPr>
        <p:spPr>
          <a:xfrm>
            <a:off x="37856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6</a:t>
            </a:r>
            <a:endParaRPr lang="en-US" sz="1800" dirty="0"/>
          </a:p>
        </p:txBody>
      </p:sp>
      <p:pic>
        <p:nvPicPr>
          <p:cNvPr id="62" name="Image 2" descr="/workspace/ppt-work/texture-mouthfeel-v2/figures/figure-3-15-pH6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935837" y="2048256"/>
            <a:ext cx="1107733" cy="2459736"/>
          </a:xfrm>
          <a:prstGeom prst="rect">
            <a:avLst/>
          </a:prstGeom>
        </p:spPr>
      </p:pic>
      <p:sp>
        <p:nvSpPr>
          <p:cNvPr id="63" name="Text 14"/>
          <p:cNvSpPr/>
          <p:nvPr/>
        </p:nvSpPr>
        <p:spPr>
          <a:xfrm>
            <a:off x="38221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3121.85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20.65</a:t>
            </a:r>
            <a:endParaRPr lang="en-US" sz="1300" dirty="0"/>
          </a:p>
        </p:txBody>
      </p:sp>
      <p:sp>
        <p:nvSpPr>
          <p:cNvPr id="64" name="Text 15"/>
          <p:cNvSpPr/>
          <p:nvPr/>
        </p:nvSpPr>
        <p:spPr>
          <a:xfrm>
            <a:off x="38039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作为 pH 对照</a:t>
            </a:r>
            <a:endParaRPr lang="en-US" sz="1100" dirty="0"/>
          </a:p>
        </p:txBody>
      </p:sp>
      <p:sp>
        <p:nvSpPr>
          <p:cNvPr id="65" name="Shape 16"/>
          <p:cNvSpPr/>
          <p:nvPr/>
        </p:nvSpPr>
        <p:spPr>
          <a:xfrm>
            <a:off x="53492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17"/>
          <p:cNvSpPr/>
          <p:nvPr/>
        </p:nvSpPr>
        <p:spPr>
          <a:xfrm>
            <a:off x="53858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7</a:t>
            </a:r>
            <a:endParaRPr lang="en-US" sz="1800" dirty="0"/>
          </a:p>
        </p:txBody>
      </p:sp>
      <p:pic>
        <p:nvPicPr>
          <p:cNvPr id="67" name="Image 3" descr="/workspace/ppt-work/texture-mouthfeel-v2/figures/figure-3-15-pH7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533197" y="2048256"/>
            <a:ext cx="1113414" cy="2459736"/>
          </a:xfrm>
          <a:prstGeom prst="rect">
            <a:avLst/>
          </a:prstGeom>
        </p:spPr>
      </p:pic>
      <p:sp>
        <p:nvSpPr>
          <p:cNvPr id="68" name="Text 18"/>
          <p:cNvSpPr/>
          <p:nvPr/>
        </p:nvSpPr>
        <p:spPr>
          <a:xfrm>
            <a:off x="54223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3131.75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22.90</a:t>
            </a:r>
            <a:endParaRPr lang="en-US" sz="1300" dirty="0"/>
          </a:p>
        </p:txBody>
      </p:sp>
      <p:sp>
        <p:nvSpPr>
          <p:cNvPr id="69" name="Text 19"/>
          <p:cNvSpPr/>
          <p:nvPr/>
        </p:nvSpPr>
        <p:spPr>
          <a:xfrm>
            <a:off x="54041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抗拉较强</a:t>
            </a:r>
            <a:endParaRPr lang="en-US" sz="1100" dirty="0"/>
          </a:p>
        </p:txBody>
      </p:sp>
      <p:sp>
        <p:nvSpPr>
          <p:cNvPr id="70" name="Shape 20"/>
          <p:cNvSpPr/>
          <p:nvPr/>
        </p:nvSpPr>
        <p:spPr>
          <a:xfrm>
            <a:off x="69494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1" name="Text 21"/>
          <p:cNvSpPr/>
          <p:nvPr/>
        </p:nvSpPr>
        <p:spPr>
          <a:xfrm>
            <a:off x="69860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8</a:t>
            </a:r>
            <a:endParaRPr lang="en-US" sz="1800" dirty="0"/>
          </a:p>
        </p:txBody>
      </p:sp>
      <p:pic>
        <p:nvPicPr>
          <p:cNvPr id="72" name="Image 4" descr="/workspace/ppt-work/texture-mouthfeel-v2/figures/figure-3-15-pH8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7136807" y="2048256"/>
            <a:ext cx="1106595" cy="2459736"/>
          </a:xfrm>
          <a:prstGeom prst="rect">
            <a:avLst/>
          </a:prstGeom>
        </p:spPr>
      </p:pic>
      <p:sp>
        <p:nvSpPr>
          <p:cNvPr id="73" name="Text 22"/>
          <p:cNvSpPr/>
          <p:nvPr/>
        </p:nvSpPr>
        <p:spPr>
          <a:xfrm>
            <a:off x="70225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3467.08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22.48</a:t>
            </a:r>
            <a:endParaRPr lang="en-US" sz="1300" dirty="0"/>
          </a:p>
        </p:txBody>
      </p:sp>
      <p:sp>
        <p:nvSpPr>
          <p:cNvPr id="74" name="Text 23"/>
          <p:cNvSpPr/>
          <p:nvPr/>
        </p:nvSpPr>
        <p:spPr>
          <a:xfrm>
            <a:off x="70043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抗咬阻力较高</a:t>
            </a:r>
            <a:endParaRPr lang="en-US" sz="1100" dirty="0"/>
          </a:p>
        </p:txBody>
      </p:sp>
      <p:sp>
        <p:nvSpPr>
          <p:cNvPr id="75" name="Shape 24"/>
          <p:cNvSpPr/>
          <p:nvPr/>
        </p:nvSpPr>
        <p:spPr>
          <a:xfrm>
            <a:off x="85496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76" name="Text 25"/>
          <p:cNvSpPr/>
          <p:nvPr/>
        </p:nvSpPr>
        <p:spPr>
          <a:xfrm>
            <a:off x="85862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</a:t>
            </a:r>
            <a:endParaRPr lang="en-US" sz="1800" dirty="0"/>
          </a:p>
        </p:txBody>
      </p:sp>
      <p:pic>
        <p:nvPicPr>
          <p:cNvPr id="77" name="Image 5" descr="/workspace/ppt-work/texture-mouthfeel-v2/figures/figure-3-15-pH9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8731273" y="2048256"/>
            <a:ext cx="1118062" cy="2459736"/>
          </a:xfrm>
          <a:prstGeom prst="rect">
            <a:avLst/>
          </a:prstGeom>
        </p:spPr>
      </p:pic>
      <p:sp>
        <p:nvSpPr>
          <p:cNvPr id="78" name="Text 26"/>
          <p:cNvSpPr/>
          <p:nvPr/>
        </p:nvSpPr>
        <p:spPr>
          <a:xfrm>
            <a:off x="86227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3366.60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23.53</a:t>
            </a:r>
            <a:endParaRPr lang="en-US" sz="1300" dirty="0"/>
          </a:p>
        </p:txBody>
      </p:sp>
      <p:sp>
        <p:nvSpPr>
          <p:cNvPr id="79" name="Text 27"/>
          <p:cNvSpPr/>
          <p:nvPr/>
        </p:nvSpPr>
        <p:spPr>
          <a:xfrm>
            <a:off x="86045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网络最致密</a:t>
            </a:r>
            <a:endParaRPr lang="en-US" sz="1100" dirty="0"/>
          </a:p>
        </p:txBody>
      </p:sp>
      <p:sp>
        <p:nvSpPr>
          <p:cNvPr id="80" name="Shape 28"/>
          <p:cNvSpPr/>
          <p:nvPr/>
        </p:nvSpPr>
        <p:spPr>
          <a:xfrm>
            <a:off x="10149840" y="1481328"/>
            <a:ext cx="1481328" cy="42336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81" name="Text 29"/>
          <p:cNvSpPr/>
          <p:nvPr/>
        </p:nvSpPr>
        <p:spPr>
          <a:xfrm>
            <a:off x="10186416" y="1581912"/>
            <a:ext cx="14081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10</a:t>
            </a:r>
            <a:endParaRPr lang="en-US" sz="1800" dirty="0"/>
          </a:p>
        </p:txBody>
      </p:sp>
      <p:pic>
        <p:nvPicPr>
          <p:cNvPr id="82" name="Image 6" descr="/workspace/ppt-work/texture-mouthfeel-v2/figures/figure-3-15-pH10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0331473" y="2048256"/>
            <a:ext cx="1118062" cy="2459736"/>
          </a:xfrm>
          <a:prstGeom prst="rect">
            <a:avLst/>
          </a:prstGeom>
        </p:spPr>
      </p:pic>
      <p:sp>
        <p:nvSpPr>
          <p:cNvPr id="83" name="Text 30"/>
          <p:cNvSpPr/>
          <p:nvPr/>
        </p:nvSpPr>
        <p:spPr>
          <a:xfrm>
            <a:off x="10222992" y="4654296"/>
            <a:ext cx="13350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3772.93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24.69</a:t>
            </a:r>
            <a:endParaRPr lang="en-US" sz="1300" dirty="0"/>
          </a:p>
        </p:txBody>
      </p:sp>
      <p:sp>
        <p:nvSpPr>
          <p:cNvPr id="84" name="Text 31"/>
          <p:cNvSpPr/>
          <p:nvPr/>
        </p:nvSpPr>
        <p:spPr>
          <a:xfrm>
            <a:off x="10204704" y="5358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/ 抗拉最高</a:t>
            </a:r>
            <a:endParaRPr lang="en-US" sz="1100" dirty="0"/>
          </a:p>
        </p:txBody>
      </p:sp>
      <p:sp>
        <p:nvSpPr>
          <p:cNvPr id="85" name="Shape 32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86" name="Text 33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硬度、拉伸力单位均为 g；pH 9 的网络最致密，但 pH 10 的抗咬和抗拉指标最高。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pH：致密网络怎样体现口感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量化与权衡｜抗咬、抗拉提升，也要观察固形物浸出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来源：赵恬田，江南大学硕士论文（2022）；图3-16，第48页；表3-12，第40页。论文页码；PDF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pic>
        <p:nvPicPr>
          <p:cNvPr id="50" name="Image 0" descr="/workspace/ppt-work/texture-mouthfeel-v2/figures/figure-3-16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923985" y="1453896"/>
            <a:ext cx="4957703" cy="4306824"/>
          </a:xfrm>
          <a:prstGeom prst="rect">
            <a:avLst/>
          </a:prstGeom>
        </p:spPr>
      </p:pic>
      <p:sp>
        <p:nvSpPr>
          <p:cNvPr id="51" name="Shape 4"/>
          <p:cNvSpPr/>
          <p:nvPr/>
        </p:nvSpPr>
        <p:spPr>
          <a:xfrm>
            <a:off x="8458200" y="1463040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2" name="Text 5"/>
          <p:cNvSpPr/>
          <p:nvPr/>
        </p:nvSpPr>
        <p:spPr>
          <a:xfrm>
            <a:off x="8622792" y="15544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4 → 9：抗咬、抗拉</a:t>
            </a:r>
            <a:endParaRPr lang="en-US" sz="1800" dirty="0"/>
          </a:p>
        </p:txBody>
      </p:sp>
      <p:sp>
        <p:nvSpPr>
          <p:cNvPr id="53" name="Text 6"/>
          <p:cNvSpPr/>
          <p:nvPr/>
        </p:nvSpPr>
        <p:spPr>
          <a:xfrm>
            <a:off x="8622792" y="2066544"/>
            <a:ext cx="2880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网络由松散转为较致密。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硬度：2843.38 → 3366.60 g；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拉伸：15.98 → 23.53 g。</a:t>
            </a:r>
            <a:endParaRPr lang="en-US" sz="1500" dirty="0"/>
          </a:p>
        </p:txBody>
      </p:sp>
      <p:sp>
        <p:nvSpPr>
          <p:cNvPr id="54" name="Shape 7"/>
          <p:cNvSpPr/>
          <p:nvPr/>
        </p:nvSpPr>
        <p:spPr>
          <a:xfrm>
            <a:off x="8458200" y="2907792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8"/>
          <p:cNvSpPr/>
          <p:nvPr/>
        </p:nvSpPr>
        <p:spPr>
          <a:xfrm>
            <a:off x="8622792" y="299923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结构与硬度不同步</a:t>
            </a:r>
            <a:endParaRPr lang="en-US" sz="1800" dirty="0"/>
          </a:p>
        </p:txBody>
      </p:sp>
      <p:sp>
        <p:nvSpPr>
          <p:cNvPr id="56" name="Text 9"/>
          <p:cNvSpPr/>
          <p:nvPr/>
        </p:nvSpPr>
        <p:spPr>
          <a:xfrm>
            <a:off x="8622792" y="3511296"/>
            <a:ext cx="2880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9：网络综合表现最好。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10：硬度 3772.93 g，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24.69 g，均高于 pH 9。</a:t>
            </a:r>
            <a:endParaRPr lang="en-US" sz="1500" dirty="0"/>
          </a:p>
        </p:txBody>
      </p:sp>
      <p:sp>
        <p:nvSpPr>
          <p:cNvPr id="57" name="Shape 10"/>
          <p:cNvSpPr/>
          <p:nvPr/>
        </p:nvSpPr>
        <p:spPr>
          <a:xfrm>
            <a:off x="8458200" y="4352544"/>
            <a:ext cx="3209544" cy="1389888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11"/>
          <p:cNvSpPr/>
          <p:nvPr/>
        </p:nvSpPr>
        <p:spPr>
          <a:xfrm>
            <a:off x="8622792" y="44439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蒸煮表现的权衡</a:t>
            </a:r>
            <a:endParaRPr lang="en-US" sz="1800" dirty="0"/>
          </a:p>
        </p:txBody>
      </p:sp>
      <p:sp>
        <p:nvSpPr>
          <p:cNvPr id="59" name="Text 12"/>
          <p:cNvSpPr/>
          <p:nvPr/>
        </p:nvSpPr>
        <p:spPr>
          <a:xfrm>
            <a:off x="8622792" y="4956048"/>
            <a:ext cx="2880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pH6：4.41%（蒸煮损失）；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pH9：8.86%；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pH10：11.76%，浸出更多。</a:t>
            </a:r>
            <a:endParaRPr lang="en-US" sz="1500" dirty="0"/>
          </a:p>
        </p:txBody>
      </p:sp>
      <p:sp>
        <p:nvSpPr>
          <p:cNvPr id="60" name="Shape 13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4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“更有咬劲”需要与蒸煮表现一同评价；微观结构可解释口感差异，不能直接评判好吃。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贮藏：咬感保持，抗拉却下降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动态质构｜pH 9 的初始结构与贮藏表现放在一起读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来源：赵恬田，江南大学硕士论文（2022）；图3-15，第47页；表3-13/14，第41–42页。论文页码；PDF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pic>
        <p:nvPicPr>
          <p:cNvPr id="50" name="Image 0" descr="/workspace/ppt-work/texture-mouthfeel-v2/figures/table-3-13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273172" y="1481328"/>
            <a:ext cx="4460496" cy="2048256"/>
          </a:xfrm>
          <a:prstGeom prst="rect">
            <a:avLst/>
          </a:prstGeom>
        </p:spPr>
      </p:pic>
      <p:pic>
        <p:nvPicPr>
          <p:cNvPr id="51" name="Image 1" descr="/workspace/ppt-work/texture-mouthfeel-v2/figures/table-3-14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033297" y="3767328"/>
            <a:ext cx="4940246" cy="1719072"/>
          </a:xfrm>
          <a:prstGeom prst="rect">
            <a:avLst/>
          </a:prstGeom>
        </p:spPr>
      </p:pic>
      <p:pic>
        <p:nvPicPr>
          <p:cNvPr id="52" name="Image 2" descr="/workspace/ppt-work/texture-mouthfeel-v2/figures/figure-3-15-pH9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516826" y="1563624"/>
            <a:ext cx="872836" cy="1920240"/>
          </a:xfrm>
          <a:prstGeom prst="rect">
            <a:avLst/>
          </a:prstGeom>
        </p:spPr>
      </p:pic>
      <p:sp>
        <p:nvSpPr>
          <p:cNvPr id="53" name="Text 4"/>
          <p:cNvSpPr/>
          <p:nvPr/>
        </p:nvSpPr>
        <p:spPr>
          <a:xfrm>
            <a:off x="8513064" y="3502152"/>
            <a:ext cx="3172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 初始结构示例；非贮藏动态图</a:t>
            </a:r>
            <a:endParaRPr lang="en-US" sz="1100" dirty="0"/>
          </a:p>
        </p:txBody>
      </p:sp>
      <p:sp>
        <p:nvSpPr>
          <p:cNvPr id="54" name="Shape 5"/>
          <p:cNvSpPr/>
          <p:nvPr/>
        </p:nvSpPr>
        <p:spPr>
          <a:xfrm>
            <a:off x="8485632" y="3986784"/>
            <a:ext cx="3172968" cy="171907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5" name="Text 6"/>
          <p:cNvSpPr/>
          <p:nvPr/>
        </p:nvSpPr>
        <p:spPr>
          <a:xfrm>
            <a:off x="8650224" y="4078224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→ 20 d：口感分化</a:t>
            </a:r>
            <a:endParaRPr lang="en-US" sz="1800" dirty="0"/>
          </a:p>
        </p:txBody>
      </p:sp>
      <p:sp>
        <p:nvSpPr>
          <p:cNvPr id="56" name="Text 7"/>
          <p:cNvSpPr/>
          <p:nvPr/>
        </p:nvSpPr>
        <p:spPr>
          <a:xfrm>
            <a:off x="8650224" y="4590288"/>
            <a:ext cx="284378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3843.54 → 3778.48 g；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无显著下降，抗咬较稳定。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24.74 → 19.32 g；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显著下降，抗拉断变弱。</a:t>
            </a:r>
            <a:endParaRPr lang="en-US" sz="1500" dirty="0"/>
          </a:p>
        </p:txBody>
      </p:sp>
      <p:sp>
        <p:nvSpPr>
          <p:cNvPr id="57" name="Shape 8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8" name="Text 9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初始结构较致密，不能保证贮藏口感全面保持；本文未提供同时间显微图来验证动态机理。</a:t>
            </a:r>
            <a:endParaRPr lang="en-US" sz="15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254635" y="179705"/>
            <a:ext cx="163830" cy="44132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25095" y="174625"/>
            <a:ext cx="76200" cy="446405"/>
          </a:xfrm>
          <a:prstGeom prst="rect">
            <a:avLst/>
          </a:prstGeom>
          <a:gradFill flip="none" rotWithShape="1">
            <a:gsLst>
              <a:gs pos="0">
                <a:srgbClr val="56AD3C"/>
              </a:gs>
              <a:gs pos="100000">
                <a:srgbClr val="56AD3C">
                  <a:shade val="100000"/>
                  <a:satMod val="115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764145" y="114300"/>
            <a:ext cx="1860550" cy="652145"/>
          </a:xfrm>
          <a:prstGeom prst="roundRect">
            <a:avLst>
              <a:gd name="adj" fmla="val 23224"/>
            </a:avLst>
          </a:prstGeom>
        </p:spPr>
      </p:pic>
      <p:grpSp>
        <p:nvGrpSpPr>
          <p:cNvPr id="39" name="组合 38"/>
          <p:cNvGrpSpPr>
            <a:grpSpLocks noChangeAspect="1"/>
          </p:cNvGrpSpPr>
          <p:nvPr/>
        </p:nvGrpSpPr>
        <p:grpSpPr>
          <a:xfrm>
            <a:off x="9722485" y="129540"/>
            <a:ext cx="2434590" cy="602615"/>
            <a:chOff x="6650" y="1264"/>
            <a:chExt cx="6884" cy="1704"/>
          </a:xfrm>
        </p:grpSpPr>
        <p:pic>
          <p:nvPicPr>
            <p:cNvPr id="40" name="图片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0" y="1264"/>
              <a:ext cx="2369" cy="1705"/>
            </a:xfrm>
            <a:prstGeom prst="rect">
              <a:avLst/>
            </a:prstGeom>
          </p:spPr>
        </p:pic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5"/>
            <a:srcRect l="3301" b="-117"/>
            <a:stretch>
              <a:fillRect/>
            </a:stretch>
          </p:blipFill>
          <p:spPr>
            <a:xfrm>
              <a:off x="8994" y="1264"/>
              <a:ext cx="4540" cy="1705"/>
            </a:xfrm>
            <a:prstGeom prst="rect">
              <a:avLst/>
            </a:prstGeom>
          </p:spPr>
        </p:pic>
      </p:grpSp>
      <p:sp>
        <p:nvSpPr>
          <p:cNvPr id="46" name="Text 0"/>
          <p:cNvSpPr/>
          <p:nvPr/>
        </p:nvSpPr>
        <p:spPr>
          <a:xfrm>
            <a:off x="539496" y="1554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结构与口感：三个核心对应</a:t>
            </a:r>
            <a:endParaRPr lang="en-US" sz="2900" dirty="0"/>
          </a:p>
        </p:txBody>
      </p:sp>
      <p:sp>
        <p:nvSpPr>
          <p:cNvPr id="47" name="Text 1"/>
          <p:cNvSpPr/>
          <p:nvPr/>
        </p:nvSpPr>
        <p:spPr>
          <a:xfrm>
            <a:off x="548640" y="10241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归纳｜用原图和同组数据，解释硬、抗拉与蒸煮表现</a:t>
            </a:r>
            <a:endParaRPr lang="en-US" sz="1300" dirty="0"/>
          </a:p>
        </p:txBody>
      </p:sp>
      <p:sp>
        <p:nvSpPr>
          <p:cNvPr id="48" name="Text 2"/>
          <p:cNvSpPr/>
          <p:nvPr/>
        </p:nvSpPr>
        <p:spPr>
          <a:xfrm>
            <a:off x="548640" y="6510528"/>
            <a:ext cx="1074420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来源：赵恬田，江南大学硕士论文（2022）；图3-8/9/15，第32–33、47页；表3-4/5/12，第23–24、40页。论文页码；PDF 页码＝论文页码＋10。</a:t>
            </a:r>
            <a:endParaRPr lang="en-US" sz="960" dirty="0"/>
          </a:p>
        </p:txBody>
      </p:sp>
      <p:sp>
        <p:nvSpPr>
          <p:cNvPr id="49" name="Text 3"/>
          <p:cNvSpPr/>
          <p:nvPr/>
        </p:nvSpPr>
        <p:spPr>
          <a:xfrm>
            <a:off x="11430000" y="6510528"/>
            <a:ext cx="274320" cy="21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2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sp>
        <p:nvSpPr>
          <p:cNvPr id="50" name="Shape 4"/>
          <p:cNvSpPr/>
          <p:nvPr/>
        </p:nvSpPr>
        <p:spPr>
          <a:xfrm>
            <a:off x="548640" y="1554480"/>
            <a:ext cx="3611880" cy="414223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1" name="Text 5"/>
          <p:cNvSpPr/>
          <p:nvPr/>
        </p:nvSpPr>
        <p:spPr>
          <a:xfrm>
            <a:off x="704088" y="1682496"/>
            <a:ext cx="3300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MSP：紧密 ≠ 更韧</a:t>
            </a:r>
            <a:endParaRPr lang="en-US" sz="2000" dirty="0"/>
          </a:p>
        </p:txBody>
      </p:sp>
      <p:pic>
        <p:nvPicPr>
          <p:cNvPr id="52" name="Image 0" descr="/workspace/ppt-work/texture-mouthfeel-v2/figures/figure-3-8-MSP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459068" y="2377440"/>
            <a:ext cx="1791025" cy="1591056"/>
          </a:xfrm>
          <a:prstGeom prst="rect">
            <a:avLst/>
          </a:prstGeom>
        </p:spPr>
      </p:pic>
      <p:sp>
        <p:nvSpPr>
          <p:cNvPr id="53" name="Text 6"/>
          <p:cNvSpPr/>
          <p:nvPr/>
        </p:nvSpPr>
        <p:spPr>
          <a:xfrm>
            <a:off x="731520" y="4215384"/>
            <a:ext cx="3246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0.4%：硬度 4332.37 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13.19 g</a:t>
            </a:r>
            <a:endParaRPr lang="en-US" sz="1600" dirty="0"/>
          </a:p>
        </p:txBody>
      </p:sp>
      <p:sp>
        <p:nvSpPr>
          <p:cNvPr id="54" name="Text 7"/>
          <p:cNvSpPr/>
          <p:nvPr/>
        </p:nvSpPr>
        <p:spPr>
          <a:xfrm>
            <a:off x="731520" y="497433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偏硬，但抗拉断能力较弱。</a:t>
            </a:r>
            <a:endParaRPr lang="en-US" sz="1600" dirty="0"/>
          </a:p>
        </p:txBody>
      </p:sp>
      <p:sp>
        <p:nvSpPr>
          <p:cNvPr id="55" name="Shape 8"/>
          <p:cNvSpPr/>
          <p:nvPr/>
        </p:nvSpPr>
        <p:spPr>
          <a:xfrm>
            <a:off x="4325112" y="1554480"/>
            <a:ext cx="3611880" cy="414223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56" name="Text 9"/>
          <p:cNvSpPr/>
          <p:nvPr/>
        </p:nvSpPr>
        <p:spPr>
          <a:xfrm>
            <a:off x="4480560" y="1682496"/>
            <a:ext cx="3300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STPP：网络强 ≠ 最硬</a:t>
            </a:r>
            <a:endParaRPr lang="en-US" sz="2000" dirty="0"/>
          </a:p>
        </p:txBody>
      </p:sp>
      <p:pic>
        <p:nvPicPr>
          <p:cNvPr id="57" name="Image 1" descr="/workspace/ppt-work/texture-mouthfeel-v2/figures/figure-3-9-3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755120" y="2377440"/>
            <a:ext cx="751864" cy="1591056"/>
          </a:xfrm>
          <a:prstGeom prst="rect">
            <a:avLst/>
          </a:prstGeom>
        </p:spPr>
      </p:pic>
      <p:sp>
        <p:nvSpPr>
          <p:cNvPr id="58" name="Text 10"/>
          <p:cNvSpPr/>
          <p:nvPr/>
        </p:nvSpPr>
        <p:spPr>
          <a:xfrm>
            <a:off x="4507992" y="4215384"/>
            <a:ext cx="3246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0.4%：硬度 3645.59 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拉伸 20.41 g</a:t>
            </a:r>
            <a:endParaRPr lang="en-US" sz="1600" dirty="0"/>
          </a:p>
        </p:txBody>
      </p:sp>
      <p:sp>
        <p:nvSpPr>
          <p:cNvPr id="59" name="Text 11"/>
          <p:cNvSpPr/>
          <p:nvPr/>
        </p:nvSpPr>
        <p:spPr>
          <a:xfrm>
            <a:off x="4507992" y="497433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抗拉更强，硬度没有同步提高。</a:t>
            </a:r>
            <a:endParaRPr lang="en-US" sz="1600" dirty="0"/>
          </a:p>
        </p:txBody>
      </p:sp>
      <p:sp>
        <p:nvSpPr>
          <p:cNvPr id="60" name="Shape 12"/>
          <p:cNvSpPr/>
          <p:nvPr/>
        </p:nvSpPr>
        <p:spPr>
          <a:xfrm>
            <a:off x="8101584" y="1554480"/>
            <a:ext cx="3611880" cy="414223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1" name="Text 13"/>
          <p:cNvSpPr/>
          <p:nvPr/>
        </p:nvSpPr>
        <p:spPr>
          <a:xfrm>
            <a:off x="8257032" y="1682496"/>
            <a:ext cx="3300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85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9：致密 ≠ 各指标最佳</a:t>
            </a:r>
            <a:endParaRPr lang="en-US" sz="2000" dirty="0"/>
          </a:p>
        </p:txBody>
      </p:sp>
      <p:pic>
        <p:nvPicPr>
          <p:cNvPr id="62" name="Image 2" descr="/workspace/ppt-work/texture-mouthfeel-v2/figures/figure-3-15-pH9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9545920" y="2377440"/>
            <a:ext cx="723207" cy="1591056"/>
          </a:xfrm>
          <a:prstGeom prst="rect">
            <a:avLst/>
          </a:prstGeom>
        </p:spPr>
      </p:pic>
      <p:sp>
        <p:nvSpPr>
          <p:cNvPr id="63" name="Text 14"/>
          <p:cNvSpPr/>
          <p:nvPr/>
        </p:nvSpPr>
        <p:spPr>
          <a:xfrm>
            <a:off x="8284464" y="4215384"/>
            <a:ext cx="3246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硬度 3366.60 g；拉伸 23.53 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430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蒸煮损失 8.86%</a:t>
            </a:r>
            <a:endParaRPr lang="en-US" sz="1600" dirty="0"/>
          </a:p>
        </p:txBody>
      </p:sp>
      <p:sp>
        <p:nvSpPr>
          <p:cNvPr id="64" name="Text 15"/>
          <p:cNvSpPr/>
          <p:nvPr/>
        </p:nvSpPr>
        <p:spPr>
          <a:xfrm>
            <a:off x="8284464" y="497433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 pH 4 更抗咬、更抗拉；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 pH 6 固形物浸出更多。</a:t>
            </a:r>
            <a:endParaRPr lang="en-US" sz="1600" dirty="0"/>
          </a:p>
        </p:txBody>
      </p:sp>
      <p:sp>
        <p:nvSpPr>
          <p:cNvPr id="65" name="Shape 16"/>
          <p:cNvSpPr/>
          <p:nvPr/>
        </p:nvSpPr>
        <p:spPr>
          <a:xfrm>
            <a:off x="548640" y="5952744"/>
            <a:ext cx="11155680" cy="438912"/>
          </a:xfrm>
          <a:prstGeom prst="roundRect">
            <a:avLst/>
          </a:prstGeom>
          <a:solidFill>
            <a:srgbClr val="F1F7EF"/>
          </a:solidFill>
          <a:ln w="12700">
            <a:solidFill>
              <a:srgbClr val="F1F7EF">
                <a:alpha val="0"/>
              </a:srgbClr>
            </a:solidFill>
            <a:prstDash val="solid"/>
          </a:ln>
        </p:spPr>
      </p:sp>
      <p:sp>
        <p:nvSpPr>
          <p:cNvPr id="66" name="Text 17"/>
          <p:cNvSpPr/>
          <p:nvPr/>
        </p:nvSpPr>
        <p:spPr>
          <a:xfrm>
            <a:off x="731520" y="5989320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C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每页均以微观观察连接宏观数据；口感解读基于质构代理，感官偏好仍需独立评价。</a:t>
            </a:r>
            <a:endParaRPr lang="en-US" sz="15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1942</Words>
  <Application>WPS 演示</Application>
  <PresentationFormat>宽屏</PresentationFormat>
  <Paragraphs>125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汉仪大宋简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半干面：微观结构与宏观口感对应</dc:title>
  <dc:creator/>
  <cp:lastModifiedBy>zoaod</cp:lastModifiedBy>
  <cp:revision>157</cp:revision>
  <dcterms:created xsi:type="dcterms:W3CDTF">2019-06-19T02:08:00Z</dcterms:created>
  <dcterms:modified xsi:type="dcterms:W3CDTF">2026-10-12T16:03:52Z</dcterms:modified>
  <dc:subject>赵恬田，江南大学，2022年硕士论文；9页微观结构与口感对应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9E3FEA8E12F641009FBA9BFB943C0E01_11</vt:lpwstr>
  </property>
</Properties>
</file>