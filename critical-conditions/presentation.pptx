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4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来源：Li 等，所附 PDF（2016 在线版），研究设计与结论，第 1–2、6 页；DOI：10.1111/jfpp.13173。</a:t>
            </a:r>
          </a:p>
          <a:p/>
          <a:p>
            <a:r>
              <a:t>阅读与数据核对说明：</a:t>
            </a:r>
          </a:p>
          <a:p>
            <a:r>
              <a:t>研究对象为面粉与水基础配方鲜面，非前述半干面配方。本文以TPC（特定培养条件下的可培养菌落总数）与CIE L*亮度为劣变指标，没有显微结构图、TPA、拉伸或口感实测。本稿只摘录实测图和作者结论；解释与应用建议不新增数据。论文的“临界”是该试验体系加速变化区间，不是通用安全限值。作者Man Li,Meng Ma,Ke-Xue Zhu,Xiao-Na Guo,Hui-Ming Zhou。PDF标记2016；DOI10.1111/jfpp.13173。配方面粉:水=100:34(w/v)，尺寸宽1mm厚0.8mm；2个独立样品批次，每批分析3次，结果至少3次读数；不能把读数当3个独立生产批次。水分梯度通过晾置0–200min制备，pH用柠檬酸/碳酸钾调节；水分/pH试验与模型为25±1℃。</a:t>
            </a:r>
          </a:p>
          <a:p/>
          <a:p>
            <a:r>
              <a:t>图片处理：仅从用户提供PDF截取；保留原始坐标、图例、误差线、数据点和拟合曲线，未重绘或补造数据。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来源：Li 等，所附 PDF（2016 在线版），材料与方法，第 2–3 页；DOI：10.1111/jfpp.13173。</a:t>
            </a:r>
          </a:p>
          <a:p/>
          <a:p>
            <a:r>
              <a:t>阅读与数据核对说明：</a:t>
            </a:r>
          </a:p>
          <a:p>
            <a:r>
              <a:t>研究对象为面粉与水基础配方鲜面，非前述半干面配方。本文以TPC（特定培养条件下的可培养菌落总数）与CIE L*亮度为劣变指标，没有显微结构图、TPA、拉伸或口感实测。本稿只摘录实测图和作者结论；解释与应用建议不新增数据。论文的“临界”是该试验体系加速变化区间，不是通用安全限值。基础配方面粉100:水34(w/v)，面条宽1mm厚0.8mm。原文2个独立样品批次，每批重复分析3次；不是3个独立生产批次。温度图实际含4,10,15,20,25,30,37℃，方法2.3漏30℃，本稿按图及正文列出。水分梯度0,15,30,50,80,120,160,200min晾置形成；pH以柠檬酸/碳酸钾调节，基础pH6.60。水分/pH试验及模型25±1℃，本页不讨论包材比较。TPC培养37℃48±2h，为检测条件，未等同贮藏37℃；特定方法的可培养菌数不等于全部菌群、致病菌或安全。</a:t>
            </a:r>
          </a:p>
          <a:p/>
          <a:p>
            <a:r>
              <a:t>图片处理：仅从用户提供PDF截取；保留原始坐标、图例、误差线、数据点和拟合曲线，未重绘或补造数据。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来源：Li 等，所附 PDF（2016 在线版），图1，第 3 页；DOI：10.1111/jfpp.13173。</a:t>
            </a:r>
          </a:p>
          <a:p/>
          <a:p>
            <a:r>
              <a:t>阅读与数据核对说明：</a:t>
            </a:r>
          </a:p>
          <a:p>
            <a:r>
              <a:t>研究对象为面粉与水基础配方鲜面，非前述半干面配方。本文以TPC（特定培养条件下的可培养菌落总数）与CIE L*亮度为劣变指标，没有显微结构图、TPA、拉伸或口感实测。本稿只摘录实测图和作者结论；解释与应用建议不新增数据。论文的“临界”是该试验体系加速变化区间，不是通用安全限值。图1a横轴贮藏时间day，纵轴TPC(lgCFU/g)；图1b横轴储温℃，纵轴TPC24h–0h，即24h与0h对数计数差。方法文字称growth rate但未除以时间，故中文称前24h增量。温度图包含4,10,15,20,25,30,37℃；方法2.3温度清单漏列30℃，图与正文包含30℃，按图保留。作者报告25℃及以上测试条件下24h超过10^6CFU/g；4℃20d仍低于10^6。该数值不是通用安全或放行阈值。</a:t>
            </a:r>
          </a:p>
          <a:p/>
          <a:p>
            <a:r>
              <a:t>图片处理：仅从用户提供PDF截取；保留原始坐标、图例、误差线、数据点和拟合曲线，未重绘或补造数据。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来源：Li 等，所附 PDF（2016 在线版），图2及机理讨论，第 4–5 页；DOI：10.1111/jfpp.13173。</a:t>
            </a:r>
          </a:p>
          <a:p/>
          <a:p>
            <a:r>
              <a:t>阅读与数据核对说明：</a:t>
            </a:r>
          </a:p>
          <a:p>
            <a:r>
              <a:t>研究对象为面粉与水基础配方鲜面，非前述半干面配方。本文以TPC（特定培养条件下的可培养菌落总数）与CIE L*亮度为劣变指标，没有显微结构图、TPA、拉伸或口感实测。本稿只摘录实测图和作者结论；解释与应用建议不新增数据。论文的“临界”是该试验体系加速变化区间，不是通用安全限值。图2a纵轴L*，横轴h；图2b纵轴ΔL0h–24h=L*0h−L*24h，横轴℃，是24h下降量未除以时间。方法定义下降量为正，正文3.1.2一处符号反写，按图轴与2.3定义解释。作者指出前4h变暗较明显，温度加速区间20–25℃。L*为亮度，不是总色差ΔE，也不是细菌计数。PPO/非PPO机理来源于讨论与引用文献，本文未提供酶活与显微结构的直接测定。</a:t>
            </a:r>
          </a:p>
          <a:p/>
          <a:p>
            <a:r>
              <a:t>图片处理：仅从用户提供PDF截取；保留原始坐标、图例、误差线、数据点和拟合曲线，未重绘或补造数据。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来源：Li 等，所附 PDF（2016 在线版），图3，第 4–5 页；DOI：10.1111/jfpp.13173。</a:t>
            </a:r>
          </a:p>
          <a:p/>
          <a:p>
            <a:r>
              <a:t>阅读与数据核对说明：</a:t>
            </a:r>
          </a:p>
          <a:p>
            <a:r>
              <a:t>研究对象为面粉与水基础配方鲜面，非前述半干面配方。本文以TPC（特定培养条件下的可培养菌落总数）与CIE L*亮度为劣变指标，没有显微结构图、TPA、拉伸或口感实测。本稿只摘录实测图和作者结论；解释与应用建议不新增数据。论文的“临界”是该试验体系加速变化区间，不是通用安全限值。晾置时间同时改变水分和aw，所以这是同一体系的关联，不能当作两个独立变量已隔离。图3a纵轴标TPC24h(lgCFU/g)，为24h计数，不是图1b的24h−0h增量；虽图注称microbial growth，中文按实际坐标解释。图3b是ΔL0h–24h。◆用下轴水分%，△用上轴aw，是同一组样品分别对两个指标作图，不是两套配方。作者给水分23–24%转折；24–26%对应aw0.93–0.94，23.5%对应aw0.927，低于23%对应aw约0.92（描述近似，非通用换算）。未由图读取或补造点值。</a:t>
            </a:r>
          </a:p>
          <a:p/>
          <a:p>
            <a:r>
              <a:t>图片处理：仅从用户提供PDF截取；保留原始坐标、图例、误差线、数据点和拟合曲线，未重绘或补造数据。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来源：Li 等，所附 PDF（2016 在线版），图4，第 5 页；DOI：10.1111/jfpp.13173。</a:t>
            </a:r>
          </a:p>
          <a:p/>
          <a:p>
            <a:r>
              <a:t>阅读与数据核对说明：</a:t>
            </a:r>
          </a:p>
          <a:p>
            <a:r>
              <a:t>研究对象为面粉与水基础配方鲜面，非前述半干面配方。本文以TPC（特定培养条件下的可培养菌落总数）与CIE L*亮度为劣变指标，没有显微结构图、TPA、拉伸或口感实测。本稿只摘录实测图和作者结论；解释与应用建议不新增数据。论文的“临界”是该试验体系加速变化区间，不是通用安全限值。基础鲜面初始pH6.60，柠檬酸降低pH、碳酸钾提高pH；贮藏25±1℃。图4a纵轴TPC24h不是每小时速率。作者报告pH&lt;5抑制，而初始pH6–10仍保持较高增长；作者将后者归因于贮藏期间pH被微生物代谢降低，这一处没有展示pH时间序列，标为作者解释。pH8.0–8.5变暗最明显；PPO最适pH讨论不是本文单独测得。加酸/加碱同时改变配方，结果不是纯pH效应已隔离。文中提出pH&gt;10可能延长稳定性，不能把该描述写成生产推荐，本稿不推荐升高pH到10以上。</a:t>
            </a:r>
          </a:p>
          <a:p/>
          <a:p>
            <a:r>
              <a:t>图片处理：仅从用户提供PDF截取；保留原始坐标、图例、误差线、数据点和拟合曲线，未重绘或补造数据。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来源：Li 等，所附 PDF（2016 在线版），图5，第 6 页；DOI：10.1111/jfpp.13173。</a:t>
            </a:r>
          </a:p>
          <a:p/>
          <a:p>
            <a:r>
              <a:t>阅读与数据核对说明：</a:t>
            </a:r>
          </a:p>
          <a:p>
            <a:r>
              <a:t>研究对象为面粉与水基础配方鲜面，非前述半干面配方。本文以TPC（特定培养条件下的可培养菌落总数）与CIE L*亮度为劣变指标，没有显微结构图、TPA、拉伸或口感实测。本稿只摘录实测图和作者结论；解释与应用建议不新增数据。论文的“临界”是该试验体系加速变化区间，不是通用安全限值。原图纵轴lg(Nt/N0)，是相对初始菌数的对数增长量，不是绝对TPC，不是每小时增长率；横轴t小时。模型基于未调节水分与pH的鲜面，固定25±1℃。Logistic y=4.364/[1+exp(2.1213−0.1239t)]，R²0.96488；Gompertz y=4.364exp[−exp(1.032−0.086t)]，R²0.98855。黑点原数据，红线拟合。拟合优度不是独立预测验证；需N0和明确终点才能讨论达到某菌数水平的时间，且不得外推4–6月或不同配方。</a:t>
            </a:r>
          </a:p>
          <a:p/>
          <a:p>
            <a:r>
              <a:t>图片处理：仅从用户提供PDF截取；保留原始坐标、图例、误差线、数据点和拟合曲线，未重绘或补造数据。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来源：Li 等，所附 PDF（2016 在线版），图6及正文公式，第 6 页；DOI：10.1111/jfpp.13173。</a:t>
            </a:r>
          </a:p>
          <a:p/>
          <a:p>
            <a:r>
              <a:t>阅读与数据核对说明：</a:t>
            </a:r>
          </a:p>
          <a:p>
            <a:r>
              <a:t>研究对象为面粉与水基础配方鲜面，非前述半干面配方。本文以TPC（特定培养条件下的可培养菌落总数）与CIE L*亮度为劣变指标，没有显微结构图、TPA、拉伸或口感实测。本稿只摘录实测图和作者结论；解释与应用建议不新增数据。论文的“临界”是该试验体系加速变化区间，不是通用安全限值。图6横轴分钟0–约1440，纵轴L*，黑方点数据红线拟合。作者报告R²0.9814，早期前4h变化较明显。摘要/正文/结论均印y=76.0629−0.0165x+5.98587x²；若照印刷系数计算，x=60时会得到远大于100的L*，不符合图线向下且0–100亮度范围，疑有数量级排印遗漏或变量定义遗漏。不得自行补10^-6或修改系数；本稿保留原图、不复算、不外推、不把未核对方程作为可靠预测。图注称darkening rate而实际纵轴是L*，中文按坐标解释。</a:t>
            </a:r>
          </a:p>
          <a:p/>
          <a:p>
            <a:r>
              <a:t>图片处理：仅从用户提供PDF截取；保留原始坐标、图例、误差线、数据点和拟合曲线，未重绘或补造数据。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来源：Li 等，所附 PDF（2016 在线版），全文图1–6与讨论，第 2–6 页；DOI：10.1111/jfpp.13173。</a:t>
            </a:r>
          </a:p>
          <a:p/>
          <a:p>
            <a:r>
              <a:t>阅读与数据核对说明：</a:t>
            </a:r>
          </a:p>
          <a:p>
            <a:r>
              <a:t>研究对象为面粉与水基础配方鲜面，非前述半干面配方。本文以TPC（特定培养条件下的可培养菌落总数）与CIE L*亮度为劣变指标，没有显微结构图、TPA、拉伸或口感实测。本稿只摘录实测图和作者结论；解释与应用建议不新增数据。论文的“临界”是该试验体系加速变化区间，不是通用安全限值。应用建议来自科学解释，不是论文实测企业半干面结果。鲜面基础配方与前述半干面复合配方、烘烤/脱水和菌群不同，因此不能把pH9或水分23–24%的结论跨研究机械合并。本文温度是贮藏温度，不是烘烤杀菌温度。水分/aw系本试验关联，23–24%不是产品标准；pH6–10高增长不是所有面条或所有菌群的普遍界限。TPC与色泽均不足以独立判定致病菌风险，也未提供具体发酸机理。</a:t>
            </a:r>
          </a:p>
          <a:p/>
          <a:p>
            <a:r>
              <a:t>图片处理：仅从用户提供PDF截取；保留原始坐标、图例、误差线、数据点和拟合曲线，未重绘或补造数据。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Relationship Id="rId100" Type="http://schemas.openxmlformats.org/officeDocument/2006/relationships/image" Target="../media/research_1_image-1-1.png"/><Relationship Id="rId101" Type="http://schemas.openxmlformats.org/officeDocument/2006/relationships/image" Target="../media/research_1_image-1-2.png"/><Relationship Id="rId102" Type="http://schemas.openxmlformats.org/officeDocument/2006/relationships/image" Target="../media/research_1_image-1-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2.xml"/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Relationship Id="rId100" Type="http://schemas.openxmlformats.org/officeDocument/2006/relationships/image" Target="../media/research_3_image-3-1.png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Relationship Id="rId100" Type="http://schemas.openxmlformats.org/officeDocument/2006/relationships/image" Target="../media/research_4_image-4-1.png"/></Relationships>
</file>

<file path=ppt/slides/_rels/slide5.xml.rels><?xml version='1.0' encoding='UTF-8' standalone='yes'?>
<Relationships xmlns="http://schemas.openxmlformats.org/package/2006/relationships"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Relationship Id="rId100" Type="http://schemas.openxmlformats.org/officeDocument/2006/relationships/image" Target="../media/research_5_image-5-1.png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Relationship Id="rId100" Type="http://schemas.openxmlformats.org/officeDocument/2006/relationships/image" Target="../media/research_6_image-6-1.png"/></Relationships>
</file>

<file path=ppt/slides/_rels/slide7.xml.rels><?xml version='1.0' encoding='UTF-8' standalone='yes'?>
<Relationships xmlns="http://schemas.openxmlformats.org/package/2006/relationships"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Relationship Id="rId100" Type="http://schemas.openxmlformats.org/officeDocument/2006/relationships/image" Target="../media/research_7_image-7-1.png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Relationship Id="rId100" Type="http://schemas.openxmlformats.org/officeDocument/2006/relationships/image" Target="../media/research_8_image-8-1.png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Relationship Id="rId100" Type="http://schemas.openxmlformats.org/officeDocument/2006/relationships/image" Target="../media/research_9_image-9-1.png"/><Relationship Id="rId101" Type="http://schemas.openxmlformats.org/officeDocument/2006/relationships/image" Target="../media/research_9_image-9-2.png"/><Relationship Id="rId102" Type="http://schemas.openxmlformats.org/officeDocument/2006/relationships/image" Target="../media/research_9_image-9-3.png"/><Relationship Id="rId103" Type="http://schemas.openxmlformats.org/officeDocument/2006/relationships/image" Target="../media/research_9_image-9-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9496" y="15544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鲜面条劣变：临界条件</a:t>
            </a:r>
            <a:endParaRPr lang="en-US" sz="2900" dirty="0"/>
          </a:p>
        </p:txBody>
      </p:sp>
      <p:sp>
        <p:nvSpPr>
          <p:cNvPr id="47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论文原图中文解读｜温度 · 含水量 · 水分活度 aw · pH</a:t>
            </a:r>
            <a:endParaRPr lang="en-US" sz="1300" dirty="0"/>
          </a:p>
        </p:txBody>
      </p:sp>
      <p:sp>
        <p:nvSpPr>
          <p:cNvPr id="48" name="Text 2"/>
          <p:cNvSpPr/>
          <p:nvPr/>
        </p:nvSpPr>
        <p:spPr>
          <a:xfrm>
            <a:off x="548640" y="6510528"/>
            <a:ext cx="1069848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来源：Li 等，所附 PDF（2016 在线版），研究设计与结论，第 1–2、6 页；DOI：10.1111/jfpp.13173。</a:t>
            </a:r>
            <a:endParaRPr lang="en-US" sz="1000" dirty="0"/>
          </a:p>
        </p:txBody>
      </p:sp>
      <p:sp>
        <p:nvSpPr>
          <p:cNvPr id="49" name="Text 3"/>
          <p:cNvSpPr/>
          <p:nvPr/>
        </p:nvSpPr>
        <p:spPr>
          <a:xfrm>
            <a:off x="11430000" y="6510528"/>
            <a:ext cx="27432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000" dirty="0"/>
          </a:p>
        </p:txBody>
      </p:sp>
      <p:sp>
        <p:nvSpPr>
          <p:cNvPr id="50" name="Text 4"/>
          <p:cNvSpPr/>
          <p:nvPr/>
        </p:nvSpPr>
        <p:spPr>
          <a:xfrm>
            <a:off x="548640" y="1499616"/>
            <a:ext cx="110642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用“菌落总数＋亮度变化”观察劣变</a:t>
            </a:r>
            <a:endParaRPr lang="en-US" sz="2500" dirty="0"/>
          </a:p>
        </p:txBody>
      </p:sp>
      <p:sp>
        <p:nvSpPr>
          <p:cNvPr id="51" name="Shape 5"/>
          <p:cNvSpPr/>
          <p:nvPr/>
        </p:nvSpPr>
        <p:spPr>
          <a:xfrm>
            <a:off x="548640" y="2295144"/>
            <a:ext cx="3611880" cy="318211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2" name="Text 6"/>
          <p:cNvSpPr/>
          <p:nvPr/>
        </p:nvSpPr>
        <p:spPr>
          <a:xfrm>
            <a:off x="704088" y="2414016"/>
            <a:ext cx="3300984" cy="411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温度敏感区间</a:t>
            </a:r>
            <a:endParaRPr lang="en-US" sz="2000" dirty="0"/>
          </a:p>
        </p:txBody>
      </p:sp>
      <p:sp>
        <p:nvSpPr>
          <p:cNvPr id="53" name="Text 7"/>
          <p:cNvSpPr/>
          <p:nvPr/>
        </p:nvSpPr>
        <p:spPr>
          <a:xfrm>
            <a:off x="704088" y="2980944"/>
            <a:ext cx="3300984" cy="687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20–25℃</a:t>
            </a:r>
            <a:endParaRPr lang="en-US" sz="3400" dirty="0"/>
          </a:p>
        </p:txBody>
      </p:sp>
      <p:pic>
        <p:nvPicPr>
          <p:cNvPr id="54" name="Image 0" descr="/workspace/ppt-work/critical-conditions/figures/figure-1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731520" y="3808558"/>
            <a:ext cx="3246120" cy="987388"/>
          </a:xfrm>
          <a:prstGeom prst="rect">
            <a:avLst/>
          </a:prstGeom>
        </p:spPr>
      </p:pic>
      <p:sp>
        <p:nvSpPr>
          <p:cNvPr id="55" name="Text 8"/>
          <p:cNvSpPr/>
          <p:nvPr/>
        </p:nvSpPr>
        <p:spPr>
          <a:xfrm>
            <a:off x="713232" y="5084064"/>
            <a:ext cx="3282696" cy="29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 24 h 菌数增量与变暗加快</a:t>
            </a:r>
            <a:endParaRPr lang="en-US" sz="1400" dirty="0"/>
          </a:p>
        </p:txBody>
      </p:sp>
      <p:sp>
        <p:nvSpPr>
          <p:cNvPr id="56" name="Shape 9"/>
          <p:cNvSpPr/>
          <p:nvPr/>
        </p:nvSpPr>
        <p:spPr>
          <a:xfrm>
            <a:off x="4325112" y="2295144"/>
            <a:ext cx="3611880" cy="318211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7" name="Text 10"/>
          <p:cNvSpPr/>
          <p:nvPr/>
        </p:nvSpPr>
        <p:spPr>
          <a:xfrm>
            <a:off x="4480560" y="2414016"/>
            <a:ext cx="3300984" cy="411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含水量转折区间</a:t>
            </a:r>
            <a:endParaRPr lang="en-US" sz="2000" dirty="0"/>
          </a:p>
        </p:txBody>
      </p:sp>
      <p:sp>
        <p:nvSpPr>
          <p:cNvPr id="58" name="Text 11"/>
          <p:cNvSpPr/>
          <p:nvPr/>
        </p:nvSpPr>
        <p:spPr>
          <a:xfrm>
            <a:off x="4480560" y="2980944"/>
            <a:ext cx="3300984" cy="687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23–24%</a:t>
            </a:r>
            <a:endParaRPr lang="en-US" sz="3400" dirty="0"/>
          </a:p>
        </p:txBody>
      </p:sp>
      <p:pic>
        <p:nvPicPr>
          <p:cNvPr id="59" name="Image 1" descr="/workspace/ppt-work/critical-conditions/figures/figure-3.png">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5029835" y="3776472"/>
            <a:ext cx="2202434" cy="1051560"/>
          </a:xfrm>
          <a:prstGeom prst="rect">
            <a:avLst/>
          </a:prstGeom>
        </p:spPr>
      </p:pic>
      <p:sp>
        <p:nvSpPr>
          <p:cNvPr id="60" name="Text 12"/>
          <p:cNvSpPr/>
          <p:nvPr/>
        </p:nvSpPr>
        <p:spPr>
          <a:xfrm>
            <a:off x="4489704" y="5084064"/>
            <a:ext cx="3282696" cy="29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对应 aw 仅适用于本试验体系</a:t>
            </a:r>
            <a:endParaRPr lang="en-US" sz="1400" dirty="0"/>
          </a:p>
        </p:txBody>
      </p:sp>
      <p:sp>
        <p:nvSpPr>
          <p:cNvPr id="61" name="Shape 13"/>
          <p:cNvSpPr/>
          <p:nvPr/>
        </p:nvSpPr>
        <p:spPr>
          <a:xfrm>
            <a:off x="8101584" y="2295144"/>
            <a:ext cx="3611880" cy="318211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2" name="Text 14"/>
          <p:cNvSpPr/>
          <p:nvPr/>
        </p:nvSpPr>
        <p:spPr>
          <a:xfrm>
            <a:off x="8257032" y="2414016"/>
            <a:ext cx="3300984" cy="411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变暗最快的 pH 区间</a:t>
            </a:r>
            <a:endParaRPr lang="en-US" sz="2000" dirty="0"/>
          </a:p>
        </p:txBody>
      </p:sp>
      <p:sp>
        <p:nvSpPr>
          <p:cNvPr id="63" name="Text 15"/>
          <p:cNvSpPr/>
          <p:nvPr/>
        </p:nvSpPr>
        <p:spPr>
          <a:xfrm>
            <a:off x="8257032" y="2980944"/>
            <a:ext cx="3300984" cy="687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8.0–8.5</a:t>
            </a:r>
            <a:endParaRPr lang="en-US" sz="3400" dirty="0"/>
          </a:p>
        </p:txBody>
      </p:sp>
      <p:pic>
        <p:nvPicPr>
          <p:cNvPr id="64" name="Image 2" descr="/workspace/ppt-work/critical-conditions/figures/figure-4.png">    </p:cNvPr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8359394" y="3776472"/>
            <a:ext cx="3096260" cy="1051560"/>
          </a:xfrm>
          <a:prstGeom prst="rect">
            <a:avLst/>
          </a:prstGeom>
        </p:spPr>
      </p:pic>
      <p:sp>
        <p:nvSpPr>
          <p:cNvPr id="65" name="Text 16"/>
          <p:cNvSpPr/>
          <p:nvPr/>
        </p:nvSpPr>
        <p:spPr>
          <a:xfrm>
            <a:off x="8266176" y="5084064"/>
            <a:ext cx="3282696" cy="29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菌数变化与色泽变化分别评价</a:t>
            </a:r>
            <a:endParaRPr lang="en-US" sz="1400" dirty="0"/>
          </a:p>
        </p:txBody>
      </p:sp>
      <p:sp>
        <p:nvSpPr>
          <p:cNvPr id="66" name="Shape 17"/>
          <p:cNvSpPr/>
          <p:nvPr/>
        </p:nvSpPr>
        <p:spPr>
          <a:xfrm>
            <a:off x="548640" y="5952744"/>
            <a:ext cx="11155680" cy="43891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7" name="Text 18"/>
          <p:cNvSpPr/>
          <p:nvPr/>
        </p:nvSpPr>
        <p:spPr>
          <a:xfrm>
            <a:off x="731520" y="598932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本文研究鲜面；6 幅原图全部保留。指标是菌落总数与色泽，未测微观结构或口感。</a:t>
            </a:r>
            <a:endParaRPr lang="en-US" sz="15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9496" y="15544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研究怎样设计与测量</a:t>
            </a:r>
            <a:endParaRPr lang="en-US" sz="2900" dirty="0"/>
          </a:p>
        </p:txBody>
      </p:sp>
      <p:sp>
        <p:nvSpPr>
          <p:cNvPr id="47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实验框架｜基础鲜面 → 温度 / 水分 / pH 梯度 → 菌数与亮度</a:t>
            </a:r>
            <a:endParaRPr lang="en-US" sz="1300" dirty="0"/>
          </a:p>
        </p:txBody>
      </p:sp>
      <p:sp>
        <p:nvSpPr>
          <p:cNvPr id="48" name="Text 2"/>
          <p:cNvSpPr/>
          <p:nvPr/>
        </p:nvSpPr>
        <p:spPr>
          <a:xfrm>
            <a:off x="548640" y="6510528"/>
            <a:ext cx="1069848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来源：Li 等，所附 PDF（2016 在线版），材料与方法，第 2–3 页；DOI：10.1111/jfpp.13173。</a:t>
            </a:r>
            <a:endParaRPr lang="en-US" sz="1000" dirty="0"/>
          </a:p>
        </p:txBody>
      </p:sp>
      <p:sp>
        <p:nvSpPr>
          <p:cNvPr id="49" name="Text 3"/>
          <p:cNvSpPr/>
          <p:nvPr/>
        </p:nvSpPr>
        <p:spPr>
          <a:xfrm>
            <a:off x="11430000" y="6510528"/>
            <a:ext cx="27432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00" dirty="0"/>
          </a:p>
        </p:txBody>
      </p:sp>
      <p:sp>
        <p:nvSpPr>
          <p:cNvPr id="50" name="Shape 4"/>
          <p:cNvSpPr/>
          <p:nvPr/>
        </p:nvSpPr>
        <p:spPr>
          <a:xfrm>
            <a:off x="548640" y="1481328"/>
            <a:ext cx="5157216" cy="914400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1" name="Text 5"/>
          <p:cNvSpPr/>
          <p:nvPr/>
        </p:nvSpPr>
        <p:spPr>
          <a:xfrm>
            <a:off x="731520" y="1572768"/>
            <a:ext cx="4791456" cy="411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基础鲜面样品</a:t>
            </a:r>
            <a:endParaRPr lang="en-US" sz="2000" dirty="0"/>
          </a:p>
        </p:txBody>
      </p:sp>
      <p:sp>
        <p:nvSpPr>
          <p:cNvPr id="52" name="Text 6"/>
          <p:cNvSpPr/>
          <p:nvPr/>
        </p:nvSpPr>
        <p:spPr>
          <a:xfrm>
            <a:off x="731520" y="2029968"/>
            <a:ext cx="4791456" cy="29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面粉∶水 = 100∶34（w/v）；宽 1 mm、厚 0.8 mm</a:t>
            </a:r>
            <a:endParaRPr lang="en-US" sz="1400" dirty="0"/>
          </a:p>
        </p:txBody>
      </p:sp>
      <p:sp>
        <p:nvSpPr>
          <p:cNvPr id="53" name="Shape 7"/>
          <p:cNvSpPr/>
          <p:nvPr/>
        </p:nvSpPr>
        <p:spPr>
          <a:xfrm rot="5400000">
            <a:off x="2971800" y="2418588"/>
            <a:ext cx="219456" cy="91440"/>
          </a:xfrm>
          <a:prstGeom prst="chevron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54" name="Shape 8"/>
          <p:cNvSpPr/>
          <p:nvPr/>
        </p:nvSpPr>
        <p:spPr>
          <a:xfrm>
            <a:off x="548640" y="2532888"/>
            <a:ext cx="5157216" cy="914400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5" name="Text 9"/>
          <p:cNvSpPr/>
          <p:nvPr/>
        </p:nvSpPr>
        <p:spPr>
          <a:xfrm>
            <a:off x="731520" y="2624328"/>
            <a:ext cx="4791456" cy="411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分别建立条件梯度</a:t>
            </a:r>
            <a:endParaRPr lang="en-US" sz="2000" dirty="0"/>
          </a:p>
        </p:txBody>
      </p:sp>
      <p:sp>
        <p:nvSpPr>
          <p:cNvPr id="56" name="Text 10"/>
          <p:cNvSpPr/>
          <p:nvPr/>
        </p:nvSpPr>
        <p:spPr>
          <a:xfrm>
            <a:off x="731520" y="3081528"/>
            <a:ext cx="4791456" cy="29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改变储温、晾置失水或酸碱添加条件</a:t>
            </a:r>
            <a:endParaRPr lang="en-US" sz="1400" dirty="0"/>
          </a:p>
        </p:txBody>
      </p:sp>
      <p:sp>
        <p:nvSpPr>
          <p:cNvPr id="57" name="Shape 11"/>
          <p:cNvSpPr/>
          <p:nvPr/>
        </p:nvSpPr>
        <p:spPr>
          <a:xfrm rot="5400000">
            <a:off x="2971800" y="3470148"/>
            <a:ext cx="219456" cy="91440"/>
          </a:xfrm>
          <a:prstGeom prst="chevron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58" name="Shape 12"/>
          <p:cNvSpPr/>
          <p:nvPr/>
        </p:nvSpPr>
        <p:spPr>
          <a:xfrm>
            <a:off x="548640" y="3584448"/>
            <a:ext cx="5157216" cy="914400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9" name="Text 13"/>
          <p:cNvSpPr/>
          <p:nvPr/>
        </p:nvSpPr>
        <p:spPr>
          <a:xfrm>
            <a:off x="731520" y="3675888"/>
            <a:ext cx="4791456" cy="411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定时测定两类指标</a:t>
            </a:r>
            <a:endParaRPr lang="en-US" sz="2000" dirty="0"/>
          </a:p>
        </p:txBody>
      </p:sp>
      <p:sp>
        <p:nvSpPr>
          <p:cNvPr id="60" name="Text 14"/>
          <p:cNvSpPr/>
          <p:nvPr/>
        </p:nvSpPr>
        <p:spPr>
          <a:xfrm>
            <a:off x="731520" y="4133088"/>
            <a:ext cx="4791456" cy="29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TPC：菌落总数；L*：外观亮度</a:t>
            </a:r>
            <a:endParaRPr lang="en-US" sz="1400" dirty="0"/>
          </a:p>
        </p:txBody>
      </p:sp>
      <p:sp>
        <p:nvSpPr>
          <p:cNvPr id="61" name="Shape 15"/>
          <p:cNvSpPr/>
          <p:nvPr/>
        </p:nvSpPr>
        <p:spPr>
          <a:xfrm rot="5400000">
            <a:off x="2971800" y="4521708"/>
            <a:ext cx="219456" cy="91440"/>
          </a:xfrm>
          <a:prstGeom prst="chevron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62" name="Shape 16"/>
          <p:cNvSpPr/>
          <p:nvPr/>
        </p:nvSpPr>
        <p:spPr>
          <a:xfrm>
            <a:off x="548640" y="4636008"/>
            <a:ext cx="5157216" cy="914400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3" name="Text 17"/>
          <p:cNvSpPr/>
          <p:nvPr/>
        </p:nvSpPr>
        <p:spPr>
          <a:xfrm>
            <a:off x="731520" y="4727448"/>
            <a:ext cx="4791456" cy="411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比较变化与建立模型</a:t>
            </a:r>
            <a:endParaRPr lang="en-US" sz="2000" dirty="0"/>
          </a:p>
        </p:txBody>
      </p:sp>
      <p:sp>
        <p:nvSpPr>
          <p:cNvPr id="64" name="Text 18"/>
          <p:cNvSpPr/>
          <p:nvPr/>
        </p:nvSpPr>
        <p:spPr>
          <a:xfrm>
            <a:off x="731520" y="5184648"/>
            <a:ext cx="4791456" cy="29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 24 h 的变化，拟合室温下的时间曲线</a:t>
            </a:r>
            <a:endParaRPr lang="en-US" sz="1400" dirty="0"/>
          </a:p>
        </p:txBody>
      </p:sp>
      <p:sp>
        <p:nvSpPr>
          <p:cNvPr id="65" name="Shape 19"/>
          <p:cNvSpPr/>
          <p:nvPr/>
        </p:nvSpPr>
        <p:spPr>
          <a:xfrm>
            <a:off x="6025896" y="1463040"/>
            <a:ext cx="5632704" cy="138988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6" name="Text 20"/>
          <p:cNvSpPr/>
          <p:nvPr/>
        </p:nvSpPr>
        <p:spPr>
          <a:xfrm>
            <a:off x="6199632" y="1572768"/>
            <a:ext cx="5285232" cy="411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储温梯度</a:t>
            </a:r>
            <a:endParaRPr lang="en-US" sz="2000" dirty="0"/>
          </a:p>
        </p:txBody>
      </p:sp>
      <p:sp>
        <p:nvSpPr>
          <p:cNvPr id="67" name="Text 21"/>
          <p:cNvSpPr/>
          <p:nvPr/>
        </p:nvSpPr>
        <p:spPr>
          <a:xfrm>
            <a:off x="6199632" y="2103120"/>
            <a:ext cx="528523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4、10、15、20、25、30、37℃。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比较不同储温的菌数与色泽变化。</a:t>
            </a:r>
            <a:endParaRPr lang="en-US" sz="1600" dirty="0"/>
          </a:p>
        </p:txBody>
      </p:sp>
      <p:sp>
        <p:nvSpPr>
          <p:cNvPr id="68" name="Shape 22"/>
          <p:cNvSpPr/>
          <p:nvPr/>
        </p:nvSpPr>
        <p:spPr>
          <a:xfrm>
            <a:off x="6025896" y="2907792"/>
            <a:ext cx="5632704" cy="138988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9" name="Text 23"/>
          <p:cNvSpPr/>
          <p:nvPr/>
        </p:nvSpPr>
        <p:spPr>
          <a:xfrm>
            <a:off x="6199632" y="3017520"/>
            <a:ext cx="5285232" cy="411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含水量 / aw 梯度</a:t>
            </a:r>
            <a:endParaRPr lang="en-US" sz="2000" dirty="0"/>
          </a:p>
        </p:txBody>
      </p:sp>
      <p:sp>
        <p:nvSpPr>
          <p:cNvPr id="70" name="Text 24"/>
          <p:cNvSpPr/>
          <p:nvPr/>
        </p:nvSpPr>
        <p:spPr>
          <a:xfrm>
            <a:off x="6199632" y="3547872"/>
            <a:ext cx="528523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通过晾置 0–200 min 失水建立。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水分与 aw 同时变化，需区分关联与独立效应。</a:t>
            </a:r>
            <a:endParaRPr lang="en-US" sz="1600" dirty="0"/>
          </a:p>
        </p:txBody>
      </p:sp>
      <p:sp>
        <p:nvSpPr>
          <p:cNvPr id="71" name="Shape 25"/>
          <p:cNvSpPr/>
          <p:nvPr/>
        </p:nvSpPr>
        <p:spPr>
          <a:xfrm>
            <a:off x="6025896" y="4352544"/>
            <a:ext cx="5632704" cy="138988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72" name="Text 26"/>
          <p:cNvSpPr/>
          <p:nvPr/>
        </p:nvSpPr>
        <p:spPr>
          <a:xfrm>
            <a:off x="6199632" y="4462272"/>
            <a:ext cx="5285232" cy="411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梯度</a:t>
            </a:r>
            <a:endParaRPr lang="en-US" sz="2000" dirty="0"/>
          </a:p>
        </p:txBody>
      </p:sp>
      <p:sp>
        <p:nvSpPr>
          <p:cNvPr id="73" name="Text 27"/>
          <p:cNvSpPr/>
          <p:nvPr/>
        </p:nvSpPr>
        <p:spPr>
          <a:xfrm>
            <a:off x="6199632" y="4992624"/>
            <a:ext cx="528523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用柠檬酸或碳酸钾调节；基础 pH 为 6.60。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水分 / pH 试验及模型的储温为 25 ± 1℃。</a:t>
            </a:r>
            <a:endParaRPr lang="en-US" sz="1600" dirty="0"/>
          </a:p>
        </p:txBody>
      </p:sp>
      <p:sp>
        <p:nvSpPr>
          <p:cNvPr id="74" name="Shape 28"/>
          <p:cNvSpPr/>
          <p:nvPr/>
        </p:nvSpPr>
        <p:spPr>
          <a:xfrm>
            <a:off x="548640" y="5952744"/>
            <a:ext cx="11155680" cy="43891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75" name="Text 29"/>
          <p:cNvSpPr/>
          <p:nvPr/>
        </p:nvSpPr>
        <p:spPr>
          <a:xfrm>
            <a:off x="731520" y="598932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TPC 的培养条件为 37℃、48 ± 2 h；它是检验条件，需与产品实际贮藏温度区分。</a:t>
            </a:r>
            <a:endParaRPr lang="en-US" sz="1500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9496" y="15544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温度：菌数怎样加速增长</a:t>
            </a:r>
            <a:endParaRPr lang="en-US" sz="2900" dirty="0"/>
          </a:p>
        </p:txBody>
      </p:sp>
      <p:sp>
        <p:nvSpPr>
          <p:cNvPr id="47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 1｜时间曲线与前 24 h 的对数菌数增量</a:t>
            </a:r>
            <a:endParaRPr lang="en-US" sz="1300" dirty="0"/>
          </a:p>
        </p:txBody>
      </p:sp>
      <p:sp>
        <p:nvSpPr>
          <p:cNvPr id="48" name="Text 2"/>
          <p:cNvSpPr/>
          <p:nvPr/>
        </p:nvSpPr>
        <p:spPr>
          <a:xfrm>
            <a:off x="548640" y="6510528"/>
            <a:ext cx="1069848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来源：Li 等，所附 PDF（2016 在线版），图1，第 3 页；DOI：10.1111/jfpp.13173。</a:t>
            </a:r>
            <a:endParaRPr lang="en-US" sz="1000" dirty="0"/>
          </a:p>
        </p:txBody>
      </p:sp>
      <p:sp>
        <p:nvSpPr>
          <p:cNvPr id="49" name="Text 3"/>
          <p:cNvSpPr/>
          <p:nvPr/>
        </p:nvSpPr>
        <p:spPr>
          <a:xfrm>
            <a:off x="11430000" y="6510528"/>
            <a:ext cx="27432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00" dirty="0"/>
          </a:p>
        </p:txBody>
      </p:sp>
      <p:sp>
        <p:nvSpPr>
          <p:cNvPr id="50" name="Text 4"/>
          <p:cNvSpPr/>
          <p:nvPr/>
        </p:nvSpPr>
        <p:spPr>
          <a:xfrm>
            <a:off x="658368" y="1463040"/>
            <a:ext cx="7543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(a) 菌数随时间变化（天）　　(b) 前 24 h 菌数增量随储温变化</a:t>
            </a:r>
            <a:endParaRPr lang="en-US" sz="1700" dirty="0"/>
          </a:p>
        </p:txBody>
      </p:sp>
      <p:pic>
        <p:nvPicPr>
          <p:cNvPr id="51" name="Image 0" descr="/workspace/ppt-work/critical-conditions/figures/figure-1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94360" y="2317477"/>
            <a:ext cx="7699248" cy="2341918"/>
          </a:xfrm>
          <a:prstGeom prst="rect">
            <a:avLst/>
          </a:prstGeom>
        </p:spPr>
      </p:pic>
      <p:sp>
        <p:nvSpPr>
          <p:cNvPr id="52" name="Text 5"/>
          <p:cNvSpPr/>
          <p:nvPr/>
        </p:nvSpPr>
        <p:spPr>
          <a:xfrm>
            <a:off x="640080" y="516636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TPC：菌落总数；lg CFU/g：每克菌落数的十进对数。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(b) 表示前 24 h 的变化量，不是每小时生长速率。</a:t>
            </a:r>
            <a:endParaRPr lang="en-US" sz="1300" dirty="0"/>
          </a:p>
        </p:txBody>
      </p:sp>
      <p:sp>
        <p:nvSpPr>
          <p:cNvPr id="53" name="Shape 6"/>
          <p:cNvSpPr/>
          <p:nvPr/>
        </p:nvSpPr>
        <p:spPr>
          <a:xfrm>
            <a:off x="8449056" y="1463040"/>
            <a:ext cx="3209544" cy="138988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4" name="Text 7"/>
          <p:cNvSpPr/>
          <p:nvPr/>
        </p:nvSpPr>
        <p:spPr>
          <a:xfrm>
            <a:off x="8613648" y="15544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20–25℃：变化明显加快</a:t>
            </a:r>
            <a:endParaRPr lang="en-US" sz="1800" dirty="0"/>
          </a:p>
        </p:txBody>
      </p:sp>
      <p:sp>
        <p:nvSpPr>
          <p:cNvPr id="55" name="Text 8"/>
          <p:cNvSpPr/>
          <p:nvPr/>
        </p:nvSpPr>
        <p:spPr>
          <a:xfrm>
            <a:off x="8613648" y="2057400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作者认定为初始加速区间。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小幅升温可能显著增加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 24 h 的菌数增量。</a:t>
            </a:r>
            <a:endParaRPr lang="en-US" sz="1500" dirty="0"/>
          </a:p>
        </p:txBody>
      </p:sp>
      <p:sp>
        <p:nvSpPr>
          <p:cNvPr id="56" name="Shape 9"/>
          <p:cNvSpPr/>
          <p:nvPr/>
        </p:nvSpPr>
        <p:spPr>
          <a:xfrm>
            <a:off x="8449056" y="2907792"/>
            <a:ext cx="3209544" cy="138988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7" name="Text 10"/>
          <p:cNvSpPr/>
          <p:nvPr/>
        </p:nvSpPr>
        <p:spPr>
          <a:xfrm>
            <a:off x="8613648" y="299923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较高储温：早期增长较快</a:t>
            </a:r>
            <a:endParaRPr lang="en-US" sz="1800" dirty="0"/>
          </a:p>
        </p:txBody>
      </p:sp>
      <p:sp>
        <p:nvSpPr>
          <p:cNvPr id="58" name="Text 11"/>
          <p:cNvSpPr/>
          <p:nvPr/>
        </p:nvSpPr>
        <p:spPr>
          <a:xfrm>
            <a:off x="8613648" y="3502152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在测试的 ≥25℃ 条件下，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作者报告 24 h 内 TPC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超过 10⁶ CFU/g。</a:t>
            </a:r>
            <a:endParaRPr lang="en-US" sz="1500" dirty="0"/>
          </a:p>
        </p:txBody>
      </p:sp>
      <p:sp>
        <p:nvSpPr>
          <p:cNvPr id="59" name="Shape 12"/>
          <p:cNvSpPr/>
          <p:nvPr/>
        </p:nvSpPr>
        <p:spPr>
          <a:xfrm>
            <a:off x="8449056" y="4352544"/>
            <a:ext cx="3209544" cy="138988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0" name="Text 13"/>
          <p:cNvSpPr/>
          <p:nvPr/>
        </p:nvSpPr>
        <p:spPr>
          <a:xfrm>
            <a:off x="8613648" y="444398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4℃：抑制增长，仍需验证</a:t>
            </a:r>
            <a:endParaRPr lang="en-US" sz="1800" dirty="0"/>
          </a:p>
        </p:txBody>
      </p:sp>
      <p:sp>
        <p:nvSpPr>
          <p:cNvPr id="61" name="Text 14"/>
          <p:cNvSpPr/>
          <p:nvPr/>
        </p:nvSpPr>
        <p:spPr>
          <a:xfrm>
            <a:off x="8613648" y="4946904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该样品 20 d 时 TPC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仍低于 10⁶ CFU/g。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不能推定所有产品保质 20 d。</a:t>
            </a:r>
            <a:endParaRPr lang="en-US" sz="1500" dirty="0"/>
          </a:p>
        </p:txBody>
      </p:sp>
      <p:sp>
        <p:nvSpPr>
          <p:cNvPr id="62" name="Shape 15"/>
          <p:cNvSpPr/>
          <p:nvPr/>
        </p:nvSpPr>
        <p:spPr>
          <a:xfrm>
            <a:off x="548640" y="5952744"/>
            <a:ext cx="11155680" cy="43891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3" name="Text 16"/>
          <p:cNvSpPr/>
          <p:nvPr/>
        </p:nvSpPr>
        <p:spPr>
          <a:xfrm>
            <a:off x="731520" y="598932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关注实际储温与停留时间，尤其 20–25℃ 波动；文中菌数水平不是通用安全界限。</a:t>
            </a:r>
            <a:endParaRPr lang="en-US" sz="1500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9496" y="15544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温度：外观为什么变暗</a:t>
            </a:r>
            <a:endParaRPr lang="en-US" sz="2900" dirty="0"/>
          </a:p>
        </p:txBody>
      </p:sp>
      <p:sp>
        <p:nvSpPr>
          <p:cNvPr id="47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 2｜亮度 L* 的时间变化与前 24 h 下降量</a:t>
            </a:r>
            <a:endParaRPr lang="en-US" sz="1300" dirty="0"/>
          </a:p>
        </p:txBody>
      </p:sp>
      <p:sp>
        <p:nvSpPr>
          <p:cNvPr id="48" name="Text 2"/>
          <p:cNvSpPr/>
          <p:nvPr/>
        </p:nvSpPr>
        <p:spPr>
          <a:xfrm>
            <a:off x="548640" y="6510528"/>
            <a:ext cx="1069848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来源：Li 等，所附 PDF（2016 在线版），图2及机理讨论，第 4–5 页；DOI：10.1111/jfpp.13173。</a:t>
            </a:r>
            <a:endParaRPr lang="en-US" sz="1000" dirty="0"/>
          </a:p>
        </p:txBody>
      </p:sp>
      <p:sp>
        <p:nvSpPr>
          <p:cNvPr id="49" name="Text 3"/>
          <p:cNvSpPr/>
          <p:nvPr/>
        </p:nvSpPr>
        <p:spPr>
          <a:xfrm>
            <a:off x="11430000" y="6510528"/>
            <a:ext cx="27432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000" dirty="0"/>
          </a:p>
        </p:txBody>
      </p:sp>
      <p:sp>
        <p:nvSpPr>
          <p:cNvPr id="50" name="Text 4"/>
          <p:cNvSpPr/>
          <p:nvPr/>
        </p:nvSpPr>
        <p:spPr>
          <a:xfrm>
            <a:off x="658368" y="1463040"/>
            <a:ext cx="7543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(a) L* 越低，外观越暗　　(b) ΔL 越大，前 24 h 变暗越明显</a:t>
            </a:r>
            <a:endParaRPr lang="en-US" sz="1700" dirty="0"/>
          </a:p>
        </p:txBody>
      </p:sp>
      <p:pic>
        <p:nvPicPr>
          <p:cNvPr id="51" name="Image 0" descr="/workspace/ppt-work/critical-conditions/figures/figure-2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94360" y="2256250"/>
            <a:ext cx="7699248" cy="2464372"/>
          </a:xfrm>
          <a:prstGeom prst="rect">
            <a:avLst/>
          </a:prstGeom>
        </p:spPr>
      </p:pic>
      <p:sp>
        <p:nvSpPr>
          <p:cNvPr id="52" name="Text 5"/>
          <p:cNvSpPr/>
          <p:nvPr/>
        </p:nvSpPr>
        <p:spPr>
          <a:xfrm>
            <a:off x="640080" y="516636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ΔL = 初始 L* − 24 h 后 L*；原图保留温度符号图例。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测的是外观亮度变化，不是口感或总色差。</a:t>
            </a:r>
            <a:endParaRPr lang="en-US" sz="1300" dirty="0"/>
          </a:p>
        </p:txBody>
      </p:sp>
      <p:sp>
        <p:nvSpPr>
          <p:cNvPr id="53" name="Shape 6"/>
          <p:cNvSpPr/>
          <p:nvPr/>
        </p:nvSpPr>
        <p:spPr>
          <a:xfrm>
            <a:off x="8449056" y="1463040"/>
            <a:ext cx="3209544" cy="138988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4" name="Text 7"/>
          <p:cNvSpPr/>
          <p:nvPr/>
        </p:nvSpPr>
        <p:spPr>
          <a:xfrm>
            <a:off x="8613648" y="15544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 4 h：早期变暗明显</a:t>
            </a:r>
            <a:endParaRPr lang="en-US" sz="1800" dirty="0"/>
          </a:p>
        </p:txBody>
      </p:sp>
      <p:sp>
        <p:nvSpPr>
          <p:cNvPr id="55" name="Text 8"/>
          <p:cNvSpPr/>
          <p:nvPr/>
        </p:nvSpPr>
        <p:spPr>
          <a:xfrm>
            <a:off x="8613648" y="2057400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作者报告：变暗集中在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早期，尤其前 4 h；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此后变化逐渐放缓。</a:t>
            </a:r>
            <a:endParaRPr lang="en-US" sz="1500" dirty="0"/>
          </a:p>
        </p:txBody>
      </p:sp>
      <p:sp>
        <p:nvSpPr>
          <p:cNvPr id="56" name="Shape 9"/>
          <p:cNvSpPr/>
          <p:nvPr/>
        </p:nvSpPr>
        <p:spPr>
          <a:xfrm>
            <a:off x="8449056" y="2907792"/>
            <a:ext cx="3209544" cy="138988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7" name="Text 10"/>
          <p:cNvSpPr/>
          <p:nvPr/>
        </p:nvSpPr>
        <p:spPr>
          <a:xfrm>
            <a:off x="8613648" y="299923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20–25℃：色泽也更敏感</a:t>
            </a:r>
            <a:endParaRPr lang="en-US" sz="1800" dirty="0"/>
          </a:p>
        </p:txBody>
      </p:sp>
      <p:sp>
        <p:nvSpPr>
          <p:cNvPr id="58" name="Text 11"/>
          <p:cNvSpPr/>
          <p:nvPr/>
        </p:nvSpPr>
        <p:spPr>
          <a:xfrm>
            <a:off x="8613648" y="3502152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温度上升伴随变暗增强。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该区间 ΔL 的增幅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出现明显加快。</a:t>
            </a:r>
            <a:endParaRPr lang="en-US" sz="1500" dirty="0"/>
          </a:p>
        </p:txBody>
      </p:sp>
      <p:sp>
        <p:nvSpPr>
          <p:cNvPr id="59" name="Shape 12"/>
          <p:cNvSpPr/>
          <p:nvPr/>
        </p:nvSpPr>
        <p:spPr>
          <a:xfrm>
            <a:off x="8449056" y="4352544"/>
            <a:ext cx="3209544" cy="138988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0" name="Text 13"/>
          <p:cNvSpPr/>
          <p:nvPr/>
        </p:nvSpPr>
        <p:spPr>
          <a:xfrm>
            <a:off x="8613648" y="444398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中文解释：色泽与菌数分开</a:t>
            </a:r>
            <a:endParaRPr lang="en-US" sz="1800" dirty="0"/>
          </a:p>
        </p:txBody>
      </p:sp>
      <p:sp>
        <p:nvSpPr>
          <p:cNvPr id="61" name="Text 14"/>
          <p:cNvSpPr/>
          <p:nvPr/>
        </p:nvSpPr>
        <p:spPr>
          <a:xfrm>
            <a:off x="8613648" y="4946904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作者讨论酶促及非酶促变化。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亮度下降不能直接等同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微生物大量生长。</a:t>
            </a:r>
            <a:endParaRPr lang="en-US" sz="1500" dirty="0"/>
          </a:p>
        </p:txBody>
      </p:sp>
      <p:sp>
        <p:nvSpPr>
          <p:cNvPr id="62" name="Shape 15"/>
          <p:cNvSpPr/>
          <p:nvPr/>
        </p:nvSpPr>
        <p:spPr>
          <a:xfrm>
            <a:off x="548640" y="5952744"/>
            <a:ext cx="11155680" cy="43891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3" name="Text 16"/>
          <p:cNvSpPr/>
          <p:nvPr/>
        </p:nvSpPr>
        <p:spPr>
          <a:xfrm>
            <a:off x="731520" y="598932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外观变暗与微生物增长是两个评价维度；应分别记录 L* 与菌数，避免相互替代。</a:t>
            </a:r>
            <a:endParaRPr lang="en-US" sz="1500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9496" y="15544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含水量与 aw：怎样读双横轴</a:t>
            </a:r>
            <a:endParaRPr lang="en-US" sz="2900" dirty="0"/>
          </a:p>
        </p:txBody>
      </p:sp>
      <p:sp>
        <p:nvSpPr>
          <p:cNvPr id="47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 3｜25 ± 1℃ 下，水分梯度与菌数 / 色泽的关系</a:t>
            </a:r>
            <a:endParaRPr lang="en-US" sz="1300" dirty="0"/>
          </a:p>
        </p:txBody>
      </p:sp>
      <p:sp>
        <p:nvSpPr>
          <p:cNvPr id="48" name="Text 2"/>
          <p:cNvSpPr/>
          <p:nvPr/>
        </p:nvSpPr>
        <p:spPr>
          <a:xfrm>
            <a:off x="548640" y="6510528"/>
            <a:ext cx="1069848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来源：Li 等，所附 PDF（2016 在线版），图3，第 4–5 页；DOI：10.1111/jfpp.13173。</a:t>
            </a:r>
            <a:endParaRPr lang="en-US" sz="1000" dirty="0"/>
          </a:p>
        </p:txBody>
      </p:sp>
      <p:sp>
        <p:nvSpPr>
          <p:cNvPr id="49" name="Text 3"/>
          <p:cNvSpPr/>
          <p:nvPr/>
        </p:nvSpPr>
        <p:spPr>
          <a:xfrm>
            <a:off x="11430000" y="6510528"/>
            <a:ext cx="27432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000" dirty="0"/>
          </a:p>
        </p:txBody>
      </p:sp>
      <p:sp>
        <p:nvSpPr>
          <p:cNvPr id="50" name="Text 4"/>
          <p:cNvSpPr/>
          <p:nvPr/>
        </p:nvSpPr>
        <p:spPr>
          <a:xfrm>
            <a:off x="658368" y="1444752"/>
            <a:ext cx="7543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(a) 24 h 菌落总数　　(b) 前 24 h 变暗程度</a:t>
            </a:r>
            <a:endParaRPr lang="en-US" sz="1700" dirty="0"/>
          </a:p>
        </p:txBody>
      </p:sp>
      <p:pic>
        <p:nvPicPr>
          <p:cNvPr id="51" name="Image 0" descr="/workspace/ppt-work/critical-conditions/figures/figure-3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891362" y="1965960"/>
            <a:ext cx="7105244" cy="3392424"/>
          </a:xfrm>
          <a:prstGeom prst="rect">
            <a:avLst/>
          </a:prstGeom>
        </p:spPr>
      </p:pic>
      <p:sp>
        <p:nvSpPr>
          <p:cNvPr id="52" name="Text 5"/>
          <p:cNvSpPr/>
          <p:nvPr/>
        </p:nvSpPr>
        <p:spPr>
          <a:xfrm>
            <a:off x="640080" y="539496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◆ 对应下横轴：含水量（%）；△ 对应上横轴：aw。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两条曲线来自同一水分梯度，不能把含水量直接当作 aw。</a:t>
            </a:r>
            <a:endParaRPr lang="en-US" sz="1300" dirty="0"/>
          </a:p>
        </p:txBody>
      </p:sp>
      <p:sp>
        <p:nvSpPr>
          <p:cNvPr id="53" name="Shape 6"/>
          <p:cNvSpPr/>
          <p:nvPr/>
        </p:nvSpPr>
        <p:spPr>
          <a:xfrm>
            <a:off x="8449056" y="1463040"/>
            <a:ext cx="3209544" cy="138988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4" name="Text 7"/>
          <p:cNvSpPr/>
          <p:nvPr/>
        </p:nvSpPr>
        <p:spPr>
          <a:xfrm>
            <a:off x="8613648" y="15544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23–24%：本体系的转折</a:t>
            </a:r>
            <a:endParaRPr lang="en-US" sz="1800" dirty="0"/>
          </a:p>
        </p:txBody>
      </p:sp>
      <p:sp>
        <p:nvSpPr>
          <p:cNvPr id="55" name="Text 8"/>
          <p:cNvSpPr/>
          <p:nvPr/>
        </p:nvSpPr>
        <p:spPr>
          <a:xfrm>
            <a:off x="8613648" y="2057400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作者报告：超过该区间，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 h 菌数明显增加；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并非 23% 以下就安全。</a:t>
            </a:r>
            <a:endParaRPr lang="en-US" sz="1500" dirty="0"/>
          </a:p>
        </p:txBody>
      </p:sp>
      <p:sp>
        <p:nvSpPr>
          <p:cNvPr id="56" name="Shape 9"/>
          <p:cNvSpPr/>
          <p:nvPr/>
        </p:nvSpPr>
        <p:spPr>
          <a:xfrm>
            <a:off x="8449056" y="2907792"/>
            <a:ext cx="3209544" cy="138988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7" name="Text 10"/>
          <p:cNvSpPr/>
          <p:nvPr/>
        </p:nvSpPr>
        <p:spPr>
          <a:xfrm>
            <a:off x="8613648" y="299923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24–26%：变化较敏感</a:t>
            </a:r>
            <a:endParaRPr lang="en-US" sz="1800" dirty="0"/>
          </a:p>
        </p:txBody>
      </p:sp>
      <p:sp>
        <p:nvSpPr>
          <p:cNvPr id="58" name="Text 11"/>
          <p:cNvSpPr/>
          <p:nvPr/>
        </p:nvSpPr>
        <p:spPr>
          <a:xfrm>
            <a:off x="8613648" y="3502152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文中对应 aw 约 0.93–0.94。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少量水分变化可能伴随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较大的菌数或色泽差异。</a:t>
            </a:r>
            <a:endParaRPr lang="en-US" sz="1500" dirty="0"/>
          </a:p>
        </p:txBody>
      </p:sp>
      <p:sp>
        <p:nvSpPr>
          <p:cNvPr id="59" name="Shape 12"/>
          <p:cNvSpPr/>
          <p:nvPr/>
        </p:nvSpPr>
        <p:spPr>
          <a:xfrm>
            <a:off x="8449056" y="4352544"/>
            <a:ext cx="3209544" cy="138988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0" name="Text 13"/>
          <p:cNvSpPr/>
          <p:nvPr/>
        </p:nvSpPr>
        <p:spPr>
          <a:xfrm>
            <a:off x="8613648" y="444398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科学解释：不能通用换算</a:t>
            </a:r>
            <a:endParaRPr lang="en-US" sz="1800" dirty="0"/>
          </a:p>
        </p:txBody>
      </p:sp>
      <p:sp>
        <p:nvSpPr>
          <p:cNvPr id="61" name="Text 14"/>
          <p:cNvSpPr/>
          <p:nvPr/>
        </p:nvSpPr>
        <p:spPr>
          <a:xfrm>
            <a:off x="8613648" y="4946904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水分与 aw 同时被改变。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不同配方、面粉和加工过程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仍需分别实测水分与 aw。</a:t>
            </a:r>
            <a:endParaRPr lang="en-US" sz="1500" dirty="0"/>
          </a:p>
        </p:txBody>
      </p:sp>
      <p:sp>
        <p:nvSpPr>
          <p:cNvPr id="62" name="Shape 15"/>
          <p:cNvSpPr/>
          <p:nvPr/>
        </p:nvSpPr>
        <p:spPr>
          <a:xfrm>
            <a:off x="548640" y="5952744"/>
            <a:ext cx="11155680" cy="43891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3" name="Text 16"/>
          <p:cNvSpPr/>
          <p:nvPr/>
        </p:nvSpPr>
        <p:spPr>
          <a:xfrm>
            <a:off x="731520" y="598932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这解释了“平均水分相近，稳定性仍不同”的可能性；实际半干面须测逐包水分与 aw。</a:t>
            </a:r>
            <a:endParaRPr lang="en-US" sz="1500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9496" y="15544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pH：抑菌与色泽不一定同步</a:t>
            </a:r>
            <a:endParaRPr lang="en-US" sz="2900" dirty="0"/>
          </a:p>
        </p:txBody>
      </p:sp>
      <p:sp>
        <p:nvSpPr>
          <p:cNvPr id="47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 4｜初始 pH 对 24 h 菌数和变暗程度的影响</a:t>
            </a:r>
            <a:endParaRPr lang="en-US" sz="1300" dirty="0"/>
          </a:p>
        </p:txBody>
      </p:sp>
      <p:sp>
        <p:nvSpPr>
          <p:cNvPr id="48" name="Text 2"/>
          <p:cNvSpPr/>
          <p:nvPr/>
        </p:nvSpPr>
        <p:spPr>
          <a:xfrm>
            <a:off x="548640" y="6510528"/>
            <a:ext cx="1069848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来源：Li 等，所附 PDF（2016 在线版），图4，第 5 页；DOI：10.1111/jfpp.13173。</a:t>
            </a:r>
            <a:endParaRPr lang="en-US" sz="1000" dirty="0"/>
          </a:p>
        </p:txBody>
      </p:sp>
      <p:sp>
        <p:nvSpPr>
          <p:cNvPr id="49" name="Text 3"/>
          <p:cNvSpPr/>
          <p:nvPr/>
        </p:nvSpPr>
        <p:spPr>
          <a:xfrm>
            <a:off x="11430000" y="6510528"/>
            <a:ext cx="27432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000" dirty="0"/>
          </a:p>
        </p:txBody>
      </p:sp>
      <p:sp>
        <p:nvSpPr>
          <p:cNvPr id="50" name="Text 4"/>
          <p:cNvSpPr/>
          <p:nvPr/>
        </p:nvSpPr>
        <p:spPr>
          <a:xfrm>
            <a:off x="658368" y="1463040"/>
            <a:ext cx="7543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(a) 24 h 菌落总数　　(b) 前 24 h 亮度下降量</a:t>
            </a:r>
            <a:endParaRPr lang="en-US" sz="1700" dirty="0"/>
          </a:p>
        </p:txBody>
      </p:sp>
      <p:pic>
        <p:nvPicPr>
          <p:cNvPr id="51" name="Image 0" descr="/workspace/ppt-work/critical-conditions/figures/figure-4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94360" y="2181017"/>
            <a:ext cx="7699248" cy="2614839"/>
          </a:xfrm>
          <a:prstGeom prst="rect">
            <a:avLst/>
          </a:prstGeom>
        </p:spPr>
      </p:pic>
      <p:sp>
        <p:nvSpPr>
          <p:cNvPr id="52" name="Text 5"/>
          <p:cNvSpPr/>
          <p:nvPr/>
        </p:nvSpPr>
        <p:spPr>
          <a:xfrm>
            <a:off x="640080" y="516636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初始 pH 用柠檬酸或碳酸钾调节；测试储温 25 ± 1℃。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初始 pH 不能代表整个贮藏期间的 pH。</a:t>
            </a:r>
            <a:endParaRPr lang="en-US" sz="1300" dirty="0"/>
          </a:p>
        </p:txBody>
      </p:sp>
      <p:sp>
        <p:nvSpPr>
          <p:cNvPr id="53" name="Shape 6"/>
          <p:cNvSpPr/>
          <p:nvPr/>
        </p:nvSpPr>
        <p:spPr>
          <a:xfrm>
            <a:off x="8449056" y="1463040"/>
            <a:ext cx="3209544" cy="138988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4" name="Text 7"/>
          <p:cNvSpPr/>
          <p:nvPr/>
        </p:nvSpPr>
        <p:spPr>
          <a:xfrm>
            <a:off x="8613648" y="15544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菌数：酸性条件抑制更明显</a:t>
            </a:r>
            <a:endParaRPr lang="en-US" sz="1800" dirty="0"/>
          </a:p>
        </p:txBody>
      </p:sp>
      <p:sp>
        <p:nvSpPr>
          <p:cNvPr id="55" name="Text 8"/>
          <p:cNvSpPr/>
          <p:nvPr/>
        </p:nvSpPr>
        <p:spPr>
          <a:xfrm>
            <a:off x="8613648" y="2057400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作者报告：pH＜5 时受抑制；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初始 pH 6–10 仍有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较高的微生物增长。</a:t>
            </a:r>
            <a:endParaRPr lang="en-US" sz="1500" dirty="0"/>
          </a:p>
        </p:txBody>
      </p:sp>
      <p:sp>
        <p:nvSpPr>
          <p:cNvPr id="56" name="Shape 9"/>
          <p:cNvSpPr/>
          <p:nvPr/>
        </p:nvSpPr>
        <p:spPr>
          <a:xfrm>
            <a:off x="8449056" y="2907792"/>
            <a:ext cx="3209544" cy="138988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7" name="Text 10"/>
          <p:cNvSpPr/>
          <p:nvPr/>
        </p:nvSpPr>
        <p:spPr>
          <a:xfrm>
            <a:off x="8613648" y="299923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8–8.5：最易变暗</a:t>
            </a:r>
            <a:endParaRPr lang="en-US" sz="1800" dirty="0"/>
          </a:p>
        </p:txBody>
      </p:sp>
      <p:sp>
        <p:nvSpPr>
          <p:cNvPr id="58" name="Text 11"/>
          <p:cNvSpPr/>
          <p:nvPr/>
        </p:nvSpPr>
        <p:spPr>
          <a:xfrm>
            <a:off x="8613648" y="3502152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本体系出现近似钟形关系。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菌数变化与变暗程度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并不具有相同的 pH 响应。</a:t>
            </a:r>
            <a:endParaRPr lang="en-US" sz="1500" dirty="0"/>
          </a:p>
        </p:txBody>
      </p:sp>
      <p:sp>
        <p:nvSpPr>
          <p:cNvPr id="59" name="Shape 12"/>
          <p:cNvSpPr/>
          <p:nvPr/>
        </p:nvSpPr>
        <p:spPr>
          <a:xfrm>
            <a:off x="8449056" y="4352544"/>
            <a:ext cx="3209544" cy="138988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0" name="Text 13"/>
          <p:cNvSpPr/>
          <p:nvPr/>
        </p:nvSpPr>
        <p:spPr>
          <a:xfrm>
            <a:off x="8613648" y="444398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作者解释：储藏中 pH 可变</a:t>
            </a:r>
            <a:endParaRPr lang="en-US" sz="1800" dirty="0"/>
          </a:p>
        </p:txBody>
      </p:sp>
      <p:sp>
        <p:nvSpPr>
          <p:cNvPr id="61" name="Text 14"/>
          <p:cNvSpPr/>
          <p:nvPr/>
        </p:nvSpPr>
        <p:spPr>
          <a:xfrm>
            <a:off x="8613648" y="4946904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代谢可能使初始高 pH 下降。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需要记录 pH 随时间变化；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不能只看刚生产的 pH。</a:t>
            </a:r>
            <a:endParaRPr lang="en-US" sz="1500" dirty="0"/>
          </a:p>
        </p:txBody>
      </p:sp>
      <p:sp>
        <p:nvSpPr>
          <p:cNvPr id="62" name="Shape 15"/>
          <p:cNvSpPr/>
          <p:nvPr/>
        </p:nvSpPr>
        <p:spPr>
          <a:xfrm>
            <a:off x="548640" y="5952744"/>
            <a:ext cx="11155680" cy="43891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3" name="Text 16"/>
          <p:cNvSpPr/>
          <p:nvPr/>
        </p:nvSpPr>
        <p:spPr>
          <a:xfrm>
            <a:off x="731520" y="598932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控制同时影响微生物、色泽与配方；本研究结果不能直接替代半干面的配方验证。</a:t>
            </a:r>
            <a:endParaRPr lang="en-US" sz="1500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9496" y="15544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菌数模型：拟合怎样读</a:t>
            </a:r>
            <a:endParaRPr lang="en-US" sz="2900" dirty="0"/>
          </a:p>
        </p:txBody>
      </p:sp>
      <p:sp>
        <p:nvSpPr>
          <p:cNvPr id="47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 5｜25 ± 1℃ 下，Logistic 与 Gompertz 模型比较</a:t>
            </a:r>
            <a:endParaRPr lang="en-US" sz="1300" dirty="0"/>
          </a:p>
        </p:txBody>
      </p:sp>
      <p:sp>
        <p:nvSpPr>
          <p:cNvPr id="48" name="Text 2"/>
          <p:cNvSpPr/>
          <p:nvPr/>
        </p:nvSpPr>
        <p:spPr>
          <a:xfrm>
            <a:off x="548640" y="6510528"/>
            <a:ext cx="1069848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来源：Li 等，所附 PDF（2016 在线版），图5，第 6 页；DOI：10.1111/jfpp.13173。</a:t>
            </a:r>
            <a:endParaRPr lang="en-US" sz="1000" dirty="0"/>
          </a:p>
        </p:txBody>
      </p:sp>
      <p:sp>
        <p:nvSpPr>
          <p:cNvPr id="49" name="Text 3"/>
          <p:cNvSpPr/>
          <p:nvPr/>
        </p:nvSpPr>
        <p:spPr>
          <a:xfrm>
            <a:off x="11430000" y="6510528"/>
            <a:ext cx="27432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000" dirty="0"/>
          </a:p>
        </p:txBody>
      </p:sp>
      <p:sp>
        <p:nvSpPr>
          <p:cNvPr id="50" name="Text 4"/>
          <p:cNvSpPr/>
          <p:nvPr/>
        </p:nvSpPr>
        <p:spPr>
          <a:xfrm>
            <a:off x="658368" y="1463040"/>
            <a:ext cx="7543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(a) Logistic 拟合　　(b) Gompertz 拟合</a:t>
            </a:r>
            <a:endParaRPr lang="en-US" sz="1700" dirty="0"/>
          </a:p>
        </p:txBody>
      </p:sp>
      <p:pic>
        <p:nvPicPr>
          <p:cNvPr id="51" name="Image 0" descr="/workspace/ppt-work/critical-conditions/figures/figure-5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737877" y="1938528"/>
            <a:ext cx="7412214" cy="2916936"/>
          </a:xfrm>
          <a:prstGeom prst="rect">
            <a:avLst/>
          </a:prstGeom>
        </p:spPr>
      </p:pic>
      <p:sp>
        <p:nvSpPr>
          <p:cNvPr id="52" name="Shape 5"/>
          <p:cNvSpPr/>
          <p:nvPr/>
        </p:nvSpPr>
        <p:spPr>
          <a:xfrm>
            <a:off x="694944" y="4928616"/>
            <a:ext cx="3611880" cy="594360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3" name="Shape 6"/>
          <p:cNvSpPr/>
          <p:nvPr/>
        </p:nvSpPr>
        <p:spPr>
          <a:xfrm>
            <a:off x="4489704" y="4928616"/>
            <a:ext cx="3611880" cy="594360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4" name="Text 7"/>
          <p:cNvSpPr/>
          <p:nvPr/>
        </p:nvSpPr>
        <p:spPr>
          <a:xfrm>
            <a:off x="859536" y="5038344"/>
            <a:ext cx="328269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Logistic：R² = 0.96488</a:t>
            </a:r>
            <a:endParaRPr lang="en-US" sz="1800" dirty="0"/>
          </a:p>
        </p:txBody>
      </p:sp>
      <p:sp>
        <p:nvSpPr>
          <p:cNvPr id="55" name="Text 8"/>
          <p:cNvSpPr/>
          <p:nvPr/>
        </p:nvSpPr>
        <p:spPr>
          <a:xfrm>
            <a:off x="4654296" y="5038344"/>
            <a:ext cx="328269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Gompertz：R² = 0.98855</a:t>
            </a:r>
            <a:endParaRPr lang="en-US" sz="1800" dirty="0"/>
          </a:p>
        </p:txBody>
      </p:sp>
      <p:sp>
        <p:nvSpPr>
          <p:cNvPr id="56" name="Shape 9"/>
          <p:cNvSpPr/>
          <p:nvPr/>
        </p:nvSpPr>
        <p:spPr>
          <a:xfrm>
            <a:off x="8449056" y="1463040"/>
            <a:ext cx="3209544" cy="138988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7" name="Text 10"/>
          <p:cNvSpPr/>
          <p:nvPr/>
        </p:nvSpPr>
        <p:spPr>
          <a:xfrm>
            <a:off x="8613648" y="15544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纵轴：相对初始菌数的增长</a:t>
            </a:r>
            <a:endParaRPr lang="en-US" sz="1800" dirty="0"/>
          </a:p>
        </p:txBody>
      </p:sp>
      <p:sp>
        <p:nvSpPr>
          <p:cNvPr id="58" name="Text 11"/>
          <p:cNvSpPr/>
          <p:nvPr/>
        </p:nvSpPr>
        <p:spPr>
          <a:xfrm>
            <a:off x="8613648" y="2057400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lg(Nt / N0) 为对数比值。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Nt：t 时刻的菌数；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N0：初始菌数。</a:t>
            </a:r>
            <a:endParaRPr lang="en-US" sz="1500" dirty="0"/>
          </a:p>
        </p:txBody>
      </p:sp>
      <p:sp>
        <p:nvSpPr>
          <p:cNvPr id="59" name="Shape 12"/>
          <p:cNvSpPr/>
          <p:nvPr/>
        </p:nvSpPr>
        <p:spPr>
          <a:xfrm>
            <a:off x="8449056" y="2907792"/>
            <a:ext cx="3209544" cy="138988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0" name="Text 13"/>
          <p:cNvSpPr/>
          <p:nvPr/>
        </p:nvSpPr>
        <p:spPr>
          <a:xfrm>
            <a:off x="8613648" y="299923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曲线：增长有阶段变化</a:t>
            </a:r>
            <a:endParaRPr lang="en-US" sz="1800" dirty="0"/>
          </a:p>
        </p:txBody>
      </p:sp>
      <p:sp>
        <p:nvSpPr>
          <p:cNvPr id="61" name="Text 14"/>
          <p:cNvSpPr/>
          <p:nvPr/>
        </p:nvSpPr>
        <p:spPr>
          <a:xfrm>
            <a:off x="8613648" y="3502152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黑点为数据，红线为拟合。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 形描述增长逐渐加快，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随后接近平台的过程。</a:t>
            </a:r>
            <a:endParaRPr lang="en-US" sz="1500" dirty="0"/>
          </a:p>
        </p:txBody>
      </p:sp>
      <p:sp>
        <p:nvSpPr>
          <p:cNvPr id="62" name="Shape 15"/>
          <p:cNvSpPr/>
          <p:nvPr/>
        </p:nvSpPr>
        <p:spPr>
          <a:xfrm>
            <a:off x="8449056" y="4352544"/>
            <a:ext cx="3209544" cy="138988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3" name="Text 16"/>
          <p:cNvSpPr/>
          <p:nvPr/>
        </p:nvSpPr>
        <p:spPr>
          <a:xfrm>
            <a:off x="8613648" y="444398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R² 高：仍需独立验证</a:t>
            </a:r>
            <a:endParaRPr lang="en-US" sz="1800" dirty="0"/>
          </a:p>
        </p:txBody>
      </p:sp>
      <p:sp>
        <p:nvSpPr>
          <p:cNvPr id="64" name="Text 17"/>
          <p:cNvSpPr/>
          <p:nvPr/>
        </p:nvSpPr>
        <p:spPr>
          <a:xfrm>
            <a:off x="8613648" y="4946904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Gompertz 对本组数据更贴合。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仍需明确劣变终点，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并用独立批次检验预测。</a:t>
            </a:r>
            <a:endParaRPr lang="en-US" sz="1500" dirty="0"/>
          </a:p>
        </p:txBody>
      </p:sp>
      <p:sp>
        <p:nvSpPr>
          <p:cNvPr id="65" name="Shape 18"/>
          <p:cNvSpPr/>
          <p:nvPr/>
        </p:nvSpPr>
        <p:spPr>
          <a:xfrm>
            <a:off x="548640" y="5952744"/>
            <a:ext cx="11155680" cy="43891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6" name="Text 19"/>
          <p:cNvSpPr/>
          <p:nvPr/>
        </p:nvSpPr>
        <p:spPr>
          <a:xfrm>
            <a:off x="731520" y="598932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模型描述该温度与配方下的相对增长；不能直接据此预测半干面常温 4–6 个月。</a:t>
            </a:r>
            <a:endParaRPr lang="en-US" sz="1500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9496" y="15544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变暗模型：先看图，再核公式</a:t>
            </a:r>
            <a:endParaRPr lang="en-US" sz="2900" dirty="0"/>
          </a:p>
        </p:txBody>
      </p:sp>
      <p:sp>
        <p:nvSpPr>
          <p:cNvPr id="47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 6｜前 24 h 的 L* 变化及二次多项式拟合</a:t>
            </a:r>
            <a:endParaRPr lang="en-US" sz="1300" dirty="0"/>
          </a:p>
        </p:txBody>
      </p:sp>
      <p:sp>
        <p:nvSpPr>
          <p:cNvPr id="48" name="Text 2"/>
          <p:cNvSpPr/>
          <p:nvPr/>
        </p:nvSpPr>
        <p:spPr>
          <a:xfrm>
            <a:off x="548640" y="6510528"/>
            <a:ext cx="1069848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来源：Li 等，所附 PDF（2016 在线版），图6及正文公式，第 6 页；DOI：10.1111/jfpp.13173。</a:t>
            </a:r>
            <a:endParaRPr lang="en-US" sz="1000" dirty="0"/>
          </a:p>
        </p:txBody>
      </p:sp>
      <p:sp>
        <p:nvSpPr>
          <p:cNvPr id="49" name="Text 3"/>
          <p:cNvSpPr/>
          <p:nvPr/>
        </p:nvSpPr>
        <p:spPr>
          <a:xfrm>
            <a:off x="11430000" y="6510528"/>
            <a:ext cx="27432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000" dirty="0"/>
          </a:p>
        </p:txBody>
      </p:sp>
      <p:pic>
        <p:nvPicPr>
          <p:cNvPr id="50" name="Image 0" descr="/workspace/ppt-work/critical-conditions/figures/figure-6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109577" y="1499616"/>
            <a:ext cx="6668814" cy="4297680"/>
          </a:xfrm>
          <a:prstGeom prst="rect">
            <a:avLst/>
          </a:prstGeom>
        </p:spPr>
      </p:pic>
      <p:sp>
        <p:nvSpPr>
          <p:cNvPr id="51" name="Shape 4"/>
          <p:cNvSpPr/>
          <p:nvPr/>
        </p:nvSpPr>
        <p:spPr>
          <a:xfrm>
            <a:off x="8449056" y="1463040"/>
            <a:ext cx="3209544" cy="138988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2" name="Text 5"/>
          <p:cNvSpPr/>
          <p:nvPr/>
        </p:nvSpPr>
        <p:spPr>
          <a:xfrm>
            <a:off x="8613648" y="15544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实际纵轴：亮度 L*</a:t>
            </a:r>
            <a:endParaRPr lang="en-US" sz="1800" dirty="0"/>
          </a:p>
        </p:txBody>
      </p:sp>
      <p:sp>
        <p:nvSpPr>
          <p:cNvPr id="53" name="Text 6"/>
          <p:cNvSpPr/>
          <p:nvPr/>
        </p:nvSpPr>
        <p:spPr>
          <a:xfrm>
            <a:off x="8613648" y="2057400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L* 随时间下降：外观变暗。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本文图线表现为前期较快，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后期变化逐渐放缓。</a:t>
            </a:r>
            <a:endParaRPr lang="en-US" sz="1500" dirty="0"/>
          </a:p>
        </p:txBody>
      </p:sp>
      <p:sp>
        <p:nvSpPr>
          <p:cNvPr id="54" name="Shape 7"/>
          <p:cNvSpPr/>
          <p:nvPr/>
        </p:nvSpPr>
        <p:spPr>
          <a:xfrm>
            <a:off x="8449056" y="2907792"/>
            <a:ext cx="3209544" cy="138988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5" name="Text 8"/>
          <p:cNvSpPr/>
          <p:nvPr/>
        </p:nvSpPr>
        <p:spPr>
          <a:xfrm>
            <a:off x="8613648" y="299923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拟合指标：R² = 0.9814</a:t>
            </a:r>
            <a:endParaRPr lang="en-US" sz="1800" dirty="0"/>
          </a:p>
        </p:txBody>
      </p:sp>
      <p:sp>
        <p:nvSpPr>
          <p:cNvPr id="56" name="Text 9"/>
          <p:cNvSpPr/>
          <p:nvPr/>
        </p:nvSpPr>
        <p:spPr>
          <a:xfrm>
            <a:off x="8613648" y="3502152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横轴用分钟，观察约 24 h。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黑点为实测，红线为拟合。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模型只描述这一观测区间。</a:t>
            </a:r>
            <a:endParaRPr lang="en-US" sz="1500" dirty="0"/>
          </a:p>
        </p:txBody>
      </p:sp>
      <p:sp>
        <p:nvSpPr>
          <p:cNvPr id="57" name="Shape 10"/>
          <p:cNvSpPr/>
          <p:nvPr/>
        </p:nvSpPr>
        <p:spPr>
          <a:xfrm>
            <a:off x="8449056" y="4352544"/>
            <a:ext cx="3209544" cy="138988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8" name="Text 11"/>
          <p:cNvSpPr/>
          <p:nvPr/>
        </p:nvSpPr>
        <p:spPr>
          <a:xfrm>
            <a:off x="8613648" y="444398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原文公式：需要核对</a:t>
            </a:r>
            <a:endParaRPr lang="en-US" sz="1800" dirty="0"/>
          </a:p>
        </p:txBody>
      </p:sp>
      <p:sp>
        <p:nvSpPr>
          <p:cNvPr id="59" name="Text 12"/>
          <p:cNvSpPr/>
          <p:nvPr/>
        </p:nvSpPr>
        <p:spPr>
          <a:xfrm>
            <a:off x="8613648" y="4946904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正文二次项系数与图线不符。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本稿保留原图，未自行改式；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未据该公式计算保质期。</a:t>
            </a:r>
            <a:endParaRPr lang="en-US" sz="1500" dirty="0"/>
          </a:p>
        </p:txBody>
      </p:sp>
      <p:sp>
        <p:nvSpPr>
          <p:cNvPr id="60" name="Shape 13"/>
          <p:cNvSpPr/>
          <p:nvPr/>
        </p:nvSpPr>
        <p:spPr>
          <a:xfrm>
            <a:off x="548640" y="5952744"/>
            <a:ext cx="11155680" cy="43891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1" name="Text 14"/>
          <p:cNvSpPr/>
          <p:nvPr/>
        </p:nvSpPr>
        <p:spPr>
          <a:xfrm>
            <a:off x="731520" y="598932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中文解释依据原图与结果描述；正文公式存在疑点，核对原式后才能用于数值预测。</a:t>
            </a:r>
            <a:endParaRPr lang="en-US" sz="1500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9496" y="15544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对半干面生产的启示</a:t>
            </a:r>
            <a:endParaRPr lang="en-US" sz="2900" dirty="0"/>
          </a:p>
        </p:txBody>
      </p:sp>
      <p:sp>
        <p:nvSpPr>
          <p:cNvPr id="47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中文归纳｜将研究现象转为可核对的生产指标</a:t>
            </a:r>
            <a:endParaRPr lang="en-US" sz="1300" dirty="0"/>
          </a:p>
        </p:txBody>
      </p:sp>
      <p:sp>
        <p:nvSpPr>
          <p:cNvPr id="48" name="Text 2"/>
          <p:cNvSpPr/>
          <p:nvPr/>
        </p:nvSpPr>
        <p:spPr>
          <a:xfrm>
            <a:off x="548640" y="6510528"/>
            <a:ext cx="1069848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来源：Li 等，所附 PDF（2016 在线版），全文图1–6与讨论，第 2–6 页；DOI：10.1111/jfpp.13173。</a:t>
            </a:r>
            <a:endParaRPr lang="en-US" sz="1000" dirty="0"/>
          </a:p>
        </p:txBody>
      </p:sp>
      <p:sp>
        <p:nvSpPr>
          <p:cNvPr id="49" name="Text 3"/>
          <p:cNvSpPr/>
          <p:nvPr/>
        </p:nvSpPr>
        <p:spPr>
          <a:xfrm>
            <a:off x="11430000" y="6510528"/>
            <a:ext cx="27432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000" dirty="0"/>
          </a:p>
        </p:txBody>
      </p:sp>
      <p:sp>
        <p:nvSpPr>
          <p:cNvPr id="50" name="Shape 4"/>
          <p:cNvSpPr/>
          <p:nvPr/>
        </p:nvSpPr>
        <p:spPr>
          <a:xfrm>
            <a:off x="548640" y="1536192"/>
            <a:ext cx="5440680" cy="199339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1" name="Text 5"/>
          <p:cNvSpPr/>
          <p:nvPr/>
        </p:nvSpPr>
        <p:spPr>
          <a:xfrm>
            <a:off x="713232" y="1645920"/>
            <a:ext cx="5111496" cy="431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温度与时间</a:t>
            </a:r>
            <a:endParaRPr lang="en-US" sz="2100" dirty="0"/>
          </a:p>
        </p:txBody>
      </p:sp>
      <p:sp>
        <p:nvSpPr>
          <p:cNvPr id="52" name="Text 6"/>
          <p:cNvSpPr/>
          <p:nvPr/>
        </p:nvSpPr>
        <p:spPr>
          <a:xfrm>
            <a:off x="713232" y="2194560"/>
            <a:ext cx="5111496" cy="431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20–25℃：加速区间</a:t>
            </a:r>
            <a:endParaRPr lang="en-US" sz="2100" dirty="0"/>
          </a:p>
        </p:txBody>
      </p:sp>
      <p:sp>
        <p:nvSpPr>
          <p:cNvPr id="53" name="Text 7"/>
          <p:cNvSpPr/>
          <p:nvPr/>
        </p:nvSpPr>
        <p:spPr>
          <a:xfrm>
            <a:off x="713232" y="280720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记录实际储温与暴露时间；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它是贮藏温度，不是烘烤温度。</a:t>
            </a:r>
            <a:endParaRPr lang="en-US" sz="1500" dirty="0"/>
          </a:p>
        </p:txBody>
      </p:sp>
      <p:pic>
        <p:nvPicPr>
          <p:cNvPr id="54" name="Image 0" descr="/workspace/ppt-work/critical-conditions/figures/figure-1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4169664" y="2798800"/>
            <a:ext cx="1618488" cy="492304"/>
          </a:xfrm>
          <a:prstGeom prst="rect">
            <a:avLst/>
          </a:prstGeom>
        </p:spPr>
      </p:pic>
      <p:sp>
        <p:nvSpPr>
          <p:cNvPr id="55" name="Shape 8"/>
          <p:cNvSpPr/>
          <p:nvPr/>
        </p:nvSpPr>
        <p:spPr>
          <a:xfrm>
            <a:off x="6263640" y="1536192"/>
            <a:ext cx="5440680" cy="199339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6" name="Text 9"/>
          <p:cNvSpPr/>
          <p:nvPr/>
        </p:nvSpPr>
        <p:spPr>
          <a:xfrm>
            <a:off x="6428232" y="1645920"/>
            <a:ext cx="5111496" cy="431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水分与 aw</a:t>
            </a:r>
            <a:endParaRPr lang="en-US" sz="2100" dirty="0"/>
          </a:p>
        </p:txBody>
      </p:sp>
      <p:sp>
        <p:nvSpPr>
          <p:cNvPr id="57" name="Text 10"/>
          <p:cNvSpPr/>
          <p:nvPr/>
        </p:nvSpPr>
        <p:spPr>
          <a:xfrm>
            <a:off x="6428232" y="2194560"/>
            <a:ext cx="5111496" cy="431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23–24%：本体系转折</a:t>
            </a:r>
            <a:endParaRPr lang="en-US" sz="2100" dirty="0"/>
          </a:p>
        </p:txBody>
      </p:sp>
      <p:sp>
        <p:nvSpPr>
          <p:cNvPr id="58" name="Text 11"/>
          <p:cNvSpPr/>
          <p:nvPr/>
        </p:nvSpPr>
        <p:spPr>
          <a:xfrm>
            <a:off x="6428232" y="280720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逐包测水分与 aw，识别差异；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不能用平均水分保证稳定性。</a:t>
            </a:r>
            <a:endParaRPr lang="en-US" sz="1500" dirty="0"/>
          </a:p>
        </p:txBody>
      </p:sp>
      <p:pic>
        <p:nvPicPr>
          <p:cNvPr id="59" name="Image 1" descr="/workspace/ppt-work/critical-conditions/figures/figure-3.png">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10081057" y="2752344"/>
            <a:ext cx="1225702" cy="585216"/>
          </a:xfrm>
          <a:prstGeom prst="rect">
            <a:avLst/>
          </a:prstGeom>
        </p:spPr>
      </p:pic>
      <p:sp>
        <p:nvSpPr>
          <p:cNvPr id="60" name="Shape 12"/>
          <p:cNvSpPr/>
          <p:nvPr/>
        </p:nvSpPr>
        <p:spPr>
          <a:xfrm>
            <a:off x="548640" y="3675888"/>
            <a:ext cx="5440680" cy="199339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1" name="Text 13"/>
          <p:cNvSpPr/>
          <p:nvPr/>
        </p:nvSpPr>
        <p:spPr>
          <a:xfrm>
            <a:off x="713232" y="3785616"/>
            <a:ext cx="5111496" cy="431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与色泽</a:t>
            </a:r>
            <a:endParaRPr lang="en-US" sz="2100" dirty="0"/>
          </a:p>
        </p:txBody>
      </p:sp>
      <p:sp>
        <p:nvSpPr>
          <p:cNvPr id="62" name="Text 14"/>
          <p:cNvSpPr/>
          <p:nvPr/>
        </p:nvSpPr>
        <p:spPr>
          <a:xfrm>
            <a:off x="713232" y="4334256"/>
            <a:ext cx="5111496" cy="431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8.0–8.5：变暗较明显</a:t>
            </a:r>
            <a:endParaRPr lang="en-US" sz="2100" dirty="0"/>
          </a:p>
        </p:txBody>
      </p:sp>
      <p:sp>
        <p:nvSpPr>
          <p:cNvPr id="63" name="Text 15"/>
          <p:cNvSpPr/>
          <p:nvPr/>
        </p:nvSpPr>
        <p:spPr>
          <a:xfrm>
            <a:off x="713232" y="494690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跟踪 pH、菌数与 L* 的变化；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初始 pH 不能代表整个贮藏期。</a:t>
            </a:r>
            <a:endParaRPr lang="en-US" sz="1500" dirty="0"/>
          </a:p>
        </p:txBody>
      </p:sp>
      <p:pic>
        <p:nvPicPr>
          <p:cNvPr id="64" name="Image 2" descr="/workspace/ppt-work/critical-conditions/figures/figure-4.png">    </p:cNvPr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4169664" y="4909810"/>
            <a:ext cx="1618488" cy="549675"/>
          </a:xfrm>
          <a:prstGeom prst="rect">
            <a:avLst/>
          </a:prstGeom>
        </p:spPr>
      </p:pic>
      <p:sp>
        <p:nvSpPr>
          <p:cNvPr id="65" name="Shape 16"/>
          <p:cNvSpPr/>
          <p:nvPr/>
        </p:nvSpPr>
        <p:spPr>
          <a:xfrm>
            <a:off x="6263640" y="3675888"/>
            <a:ext cx="5440680" cy="199339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6" name="Text 17"/>
          <p:cNvSpPr/>
          <p:nvPr/>
        </p:nvSpPr>
        <p:spPr>
          <a:xfrm>
            <a:off x="6428232" y="3785616"/>
            <a:ext cx="5111496" cy="431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模型与验证</a:t>
            </a:r>
            <a:endParaRPr lang="en-US" sz="2100" dirty="0"/>
          </a:p>
        </p:txBody>
      </p:sp>
      <p:sp>
        <p:nvSpPr>
          <p:cNvPr id="67" name="Text 18"/>
          <p:cNvSpPr/>
          <p:nvPr/>
        </p:nvSpPr>
        <p:spPr>
          <a:xfrm>
            <a:off x="6428232" y="4334256"/>
            <a:ext cx="5111496" cy="431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拟合 ≠ 独立预测验证</a:t>
            </a:r>
            <a:endParaRPr lang="en-US" sz="2100" dirty="0"/>
          </a:p>
        </p:txBody>
      </p:sp>
      <p:sp>
        <p:nvSpPr>
          <p:cNvPr id="68" name="Text 19"/>
          <p:cNvSpPr/>
          <p:nvPr/>
        </p:nvSpPr>
        <p:spPr>
          <a:xfrm>
            <a:off x="6428232" y="494690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用实际产品的独立批次验证；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文献模型不能直接承诺 4–6 个月。</a:t>
            </a:r>
            <a:endParaRPr lang="en-US" sz="1500" dirty="0"/>
          </a:p>
        </p:txBody>
      </p:sp>
      <p:pic>
        <p:nvPicPr>
          <p:cNvPr id="69" name="Image 3" descr="/workspace/ppt-work/critical-conditions/figures/figure-5.png">    </p:cNvPr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9950363" y="4892040"/>
            <a:ext cx="1487090" cy="585216"/>
          </a:xfrm>
          <a:prstGeom prst="rect">
            <a:avLst/>
          </a:prstGeom>
        </p:spPr>
      </p:pic>
      <p:sp>
        <p:nvSpPr>
          <p:cNvPr id="70" name="Shape 20"/>
          <p:cNvSpPr/>
          <p:nvPr/>
        </p:nvSpPr>
        <p:spPr>
          <a:xfrm>
            <a:off x="548640" y="5952744"/>
            <a:ext cx="11155680" cy="43891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71" name="Text 21"/>
          <p:cNvSpPr/>
          <p:nvPr/>
        </p:nvSpPr>
        <p:spPr>
          <a:xfrm>
            <a:off x="731520" y="598932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菌数与色泽共同评价劣变；本文没有口感、显微结构或异常发酸的直接检测证据。</a:t>
            </a:r>
            <a:endParaRPr lang="en-US" sz="1500" dirty="0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4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1942</Words>
  <Application>WPS 演示</Application>
  <PresentationFormat>宽屏</PresentationFormat>
  <Paragraphs>125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汉仪大宋简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鲜面条劣变临界条件｜中文图解</dc:title>
  <dc:creator/>
  <cp:lastModifiedBy>zoaod</cp:lastModifiedBy>
  <cp:revision>157</cp:revision>
  <dcterms:created xsi:type="dcterms:W3CDTF">2019-06-19T02:08:00Z</dcterms:created>
  <dcterms:modified xsi:type="dcterms:W3CDTF">2026-10-12T16:03:52Z</dcterms:modified>
  <dc:subject>Li et al., DOI 10.1111/jfpp.13173；9页原图中文解读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9E3FEA8E12F641009FBA9BFB943C0E01_11</vt:lpwstr>
  </property>
</Properties>
</file>