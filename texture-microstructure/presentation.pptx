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4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文献：赵恬田，《半干面的货架期延长与品质保持研究》，江南大学，2022 年 6 月。</a:t>
            </a:r>
          </a:p>
          <a:p/>
          <a:p>
            <a:r>
              <a:t>阅读与数据核对说明：</a:t>
            </a:r>
          </a:p>
          <a:p>
            <a:r>
              <a:t>来源方法：2.3.3、2.3.10、2.3.16，论文第10、12–15页。样品水分22.0±0.5%，面条宽2.0mm、厚0.9mm。质构为煮后至最佳蒸煮时间、冷水20s、煮后10min内完成；每样至少10次。SEM观察生面固定脱水冻干后横截面，1200倍；CLSM观察熟面20μm薄片，FITC标记淀粉绿色、罗丹明B标记蛋白红色，Angio Tool拟合。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来源：赵恬田，江南大学硕士学位论文（2022），表 3-5；论文第 24 页 / PDF 第 34 页。</a:t>
            </a:r>
          </a:p>
          <a:p/>
          <a:p>
            <a:r>
              <a:t>阅读与数据核对说明：</a:t>
            </a:r>
          </a:p>
          <a:p>
            <a:r>
              <a:t>四种磷酸盐按小麦粉质量0.1%–0.4%加入。全文结果概括存在跨剂量简化，本页数字直接取0.4%行，显著性以原表同列字母为准。硬度单位g、拉伸力单位g沿原表，不替换为N。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来源：赵恬田，江南大学硕士学位论文（2022），图 3-8；论文第 32 页 / PDF 第 42 页。</a:t>
            </a:r>
          </a:p>
          <a:p/>
          <a:p>
            <a:r>
              <a:t>阅读与数据核对说明：</a:t>
            </a:r>
          </a:p>
          <a:p>
            <a:r>
              <a:t>所有添加量0.4%，SEM方法为固定、梯度乙醇脱水、冻干、喷金，3kV，1200×。原图底部比例尺40μm。红箭头为论文原有标注。观察对象为生面；二维固定脱水后的视野不能直接量化活态结构或证明杀菌、货架期。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来源：赵恬田，江南大学硕士学位论文（2022），图 3-9；论文第 33 页 / PDF 第 43 页。</a:t>
            </a:r>
          </a:p>
          <a:p/>
          <a:p>
            <a:r>
              <a:t>阅读与数据核对说明：</a:t>
            </a:r>
          </a:p>
          <a:p>
            <a:r>
              <a:t>所有磷酸盐0.4%。上行原始CLSM红色蛋白图像，比例尺20μm；下行Angio Tool拟合图。组别b1空白b2SHMPb3STPPb4TSPPb5MSP。拟合为同一原始视野图像处理，不是第二个独立实验。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来源：赵恬田，江南大学硕士学位论文（2022），图 3-10；论文第 34 页 / PDF 第 44 页。</a:t>
            </a:r>
          </a:p>
          <a:p/>
          <a:p>
            <a:r>
              <a:t>阅读与数据核对说明：</a:t>
            </a:r>
          </a:p>
          <a:p>
            <a:r>
              <a:t>网络形成与发展程度为作者综合排序STPP&gt;SHMP&gt;MSP&gt;control&gt;TSPP。孔隙度沿用原文名称；英文lacunarity是图像空隙/不均匀性指标，不等同三维体积孔隙率。未凭柱高读取或补造数值。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来源：赵恬田，江南大学硕士学位论文（2022），图 3-7；论文第 31 页 / PDF 第 41 页。</a:t>
            </a:r>
          </a:p>
          <a:p/>
          <a:p>
            <a:r>
              <a:t>阅读与数据核对说明：</a:t>
            </a:r>
          </a:p>
          <a:p>
            <a:r>
              <a:t>所有磷酸盐0.4%。MRI为质子密度伪彩，保留原图色标0–250但不标百分含水。原文认为SHMP/STPP/MSP组中心低水分区与较好的面筋网络有关；TSPP表层高度水合圆圈与水分快速进入内部有关。这是作者解释，并非MRI单独确证机理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来源：赵恬田，江南大学硕士学位论文（2022），表 3-12；论文第 40 页 / PDF 第 50 页。</a:t>
            </a:r>
          </a:p>
          <a:p/>
          <a:p>
            <a:r>
              <a:t>阅读与数据核对说明：</a:t>
            </a:r>
          </a:p>
          <a:p>
            <a:r>
              <a:t>pH试验在0.2%SHMP+0.4%STPP基础上以富马酸一钠和Na2CO3/K2CO3调节。pH6为此试验未加酸碱调节剂对照，不等于磷酸盐试验空白组。pH8硬度3467.08&gt;pH9 3366.60，因此不写逐级严格递增；pH4–5拉伸力15.98和15.43也非严格递增。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来源：赵恬田，江南大学硕士学位论文（2022），图 3-15；论文第 47 页 / PDF 第 57 页。</a:t>
            </a:r>
          </a:p>
          <a:p/>
          <a:p>
            <a:r>
              <a:t>阅读与数据核对说明：</a:t>
            </a:r>
          </a:p>
          <a:p>
            <a:r>
              <a:t>图3-15同一组原始CLSM与拟合图成对截取重排，保持原始尺度与比例尺20μm，未修改荧光色彩。a–g对应pH4–10。酸性组更松散多孔、pH9最连续致密为作者观察，pH10并非进一步优于9。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来源：赵恬田，江南大学硕士学位论文（2022），图 3-16；论文第 48 页 / PDF 第 58 页。</a:t>
            </a:r>
          </a:p>
          <a:p/>
          <a:p>
            <a:r>
              <a:t>阅读与数据核对说明：</a:t>
            </a:r>
          </a:p>
          <a:p>
            <a:r>
              <a:t>作者综合排序pH9&gt;pH10&gt;pH8=pH7&gt;pH6=pH5&gt;pH4，是综合网络形成发展程度；并非所有单指标均严格相同排序。蛋白面积pH9/10共享a字母，注意单指标统计差异。不读取估算柱高。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来源：赵恬田（2022），表 3-13、3-14；论文第 41–42 页 / PDF 第 51–52 页。</a:t>
            </a:r>
          </a:p>
          <a:p/>
          <a:p>
            <a:r>
              <a:t>阅读与数据核对说明：</a:t>
            </a:r>
          </a:p>
          <a:p>
            <a:r>
              <a:t>pH6–8未测20天，原表/为缺测。本页按表中原始显著性字母解读：pH9硬度10d ab、20d b共享b，不显著下降，拉伸力10d a、20d c显著下降。原文0–5d各pH硬度均显著增加的概括与pH8 0d/5d共享b不符，不在本页重复。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来源：赵恬田，江南大学硕士学位论文（2022），表 3-20；论文第 53 页 / PDF 第 63 页。</a:t>
            </a:r>
          </a:p>
          <a:p/>
          <a:p>
            <a:r>
              <a:t>阅读与数据核对说明：</a:t>
            </a:r>
          </a:p>
          <a:p>
            <a:r>
              <a:t>包装实验在pH9配方基础上比较PE/PET、PA/CPP、PA/PE、铝箔，贮藏25℃。表3-20均值用于本页相对变化计算，百分比不另检验显著性。铝箔0–10d:(3685.25/3356.90-1)*100=9.79%；PA/PE=19.42%；铝箔10–20d:(3513.17/3685.25-1)*100=-4.67%；PA/PE=-15.49%。因果机理为作者解释，未测透氧量，不能凭包材名泛化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来源：赵恬田，江南大学硕士学位论文（2022），表 3-21、3-22；论文第 54 页 / PDF 第 64 页。</a:t>
            </a:r>
          </a:p>
          <a:p/>
          <a:p>
            <a:r>
              <a:t>阅读与数据核对说明：</a:t>
            </a:r>
          </a:p>
          <a:p>
            <a:r>
              <a:t>表3-21咀嚼性均值直接引用：铝箔0d2079.98,10d2210.89,20d2119.57。表3-22原文正文称各材料弹性均无显著变化，但铝箔0d、5d标b，10d标a，20d标ab，0d与10d未共享字母。正文还有p&lt;0.05用于无显著表述的错误。本页保留表证据并说明不能全部概括为不变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引用：赵恬田，《半干面的货架期延长与品质保持研究》[D]，江南大学，2022；质构与微观相关章节。</a:t>
            </a:r>
          </a:p>
          <a:p/>
          <a:p>
            <a:r>
              <a:t>阅读与数据核对说明：</a:t>
            </a:r>
          </a:p>
          <a:p>
            <a:r>
              <a:t>图像清单：图3-7/8/9/10/15/16。表清单：表3-5/12/13/14/20/21/22。微观图为研究视野，不能单独证明食品安全或通用保质期。机理示意基于作者解释，不新增实验数据。保鲜配方范围是论文试验条件，不直接作为生产用量/货架期承诺。本稿不是益生菌活性或食用健康效果证据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Relationship Id="rId100" Type="http://schemas.openxmlformats.org/officeDocument/2006/relationships/image" Target="../media/research_1_image-1-1.png"/><Relationship Id="rId101" Type="http://schemas.openxmlformats.org/officeDocument/2006/relationships/image" Target="../media/research_1_image-1-2.png"/><Relationship Id="rId102" Type="http://schemas.openxmlformats.org/officeDocument/2006/relationships/image" Target="../media/research_1_image-1-3.pn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Relationship Id="rId100" Type="http://schemas.openxmlformats.org/officeDocument/2006/relationships/image" Target="../media/research_2_image-2-1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Relationship Id="rId100" Type="http://schemas.openxmlformats.org/officeDocument/2006/relationships/image" Target="../media/research_3_image-3-1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Relationship Id="rId100" Type="http://schemas.openxmlformats.org/officeDocument/2006/relationships/image" Target="../media/research_4_image-4-1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Relationship Id="rId100" Type="http://schemas.openxmlformats.org/officeDocument/2006/relationships/image" Target="../media/research_5_image-5-1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Relationship Id="rId100" Type="http://schemas.openxmlformats.org/officeDocument/2006/relationships/image" Target="../media/research_6_image-6-1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Relationship Id="rId100" Type="http://schemas.openxmlformats.org/officeDocument/2006/relationships/image" Target="../media/research_7_image-7-1.pn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Relationship Id="rId100" Type="http://schemas.openxmlformats.org/officeDocument/2006/relationships/image" Target="../media/research_8_image-8-1.png"/><Relationship Id="rId101" Type="http://schemas.openxmlformats.org/officeDocument/2006/relationships/image" Target="../media/research_8_image-8-2.png"/><Relationship Id="rId102" Type="http://schemas.openxmlformats.org/officeDocument/2006/relationships/image" Target="../media/research_8_image-8-3.png"/><Relationship Id="rId103" Type="http://schemas.openxmlformats.org/officeDocument/2006/relationships/image" Target="../media/research_8_image-8-4.png"/><Relationship Id="rId104" Type="http://schemas.openxmlformats.org/officeDocument/2006/relationships/image" Target="../media/research_8_image-8-5.png"/><Relationship Id="rId105" Type="http://schemas.openxmlformats.org/officeDocument/2006/relationships/image" Target="../media/research_8_image-8-6.png"/><Relationship Id="rId106" Type="http://schemas.openxmlformats.org/officeDocument/2006/relationships/image" Target="../media/research_8_image-8-7.pn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Relationship Id="rId100" Type="http://schemas.openxmlformats.org/officeDocument/2006/relationships/image" Target="../media/research_9_image-9-1.pn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Relationship Id="rId100" Type="http://schemas.openxmlformats.org/officeDocument/2006/relationships/image" Target="../media/research_10_image-10-1.png"/><Relationship Id="rId101" Type="http://schemas.openxmlformats.org/officeDocument/2006/relationships/image" Target="../media/research_10_image-10-2.pn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Relationship Id="rId100" Type="http://schemas.openxmlformats.org/officeDocument/2006/relationships/image" Target="../media/research_11_image-11-1.pn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Relationship Id="rId100" Type="http://schemas.openxmlformats.org/officeDocument/2006/relationships/image" Target="../media/research_12_image-12-1.png"/><Relationship Id="rId101" Type="http://schemas.openxmlformats.org/officeDocument/2006/relationships/image" Target="../media/research_12_image-12-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3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半干面：质构与微观结构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文献图像整理｜磷酸盐 · pH · 贮藏与包装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文献：赵恬田，《半干面的货架期延长与品质保持研究》，江南大学，2022 年 6 月。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用原文证据连接“口感变化”与“结构变化”</a:t>
            </a:r>
            <a:endParaRPr lang="en-US" sz="2600" dirty="0"/>
          </a:p>
        </p:txBody>
      </p:sp>
      <p:sp>
        <p:nvSpPr>
          <p:cNvPr id="51" name="Shape 5"/>
          <p:cNvSpPr/>
          <p:nvPr/>
        </p:nvSpPr>
        <p:spPr>
          <a:xfrm>
            <a:off x="548640" y="2423160"/>
            <a:ext cx="3621024" cy="2468880"/>
          </a:xfrm>
          <a:prstGeom prst="roundRect">
            <a:avLst>
              <a:gd name="adj" fmla="val 4444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6"/>
          <p:cNvSpPr/>
          <p:nvPr/>
        </p:nvSpPr>
        <p:spPr>
          <a:xfrm>
            <a:off x="713232" y="2532888"/>
            <a:ext cx="3291840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生面横截面</a:t>
            </a:r>
            <a:endParaRPr lang="en-US" sz="2100" dirty="0"/>
          </a:p>
        </p:txBody>
      </p:sp>
      <p:pic>
        <p:nvPicPr>
          <p:cNvPr id="53" name="Image 0" descr="/workspace/ppt-work/texture-microstructure/figures/figure-3-8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85800" y="3234508"/>
            <a:ext cx="3346704" cy="974200"/>
          </a:xfrm>
          <a:prstGeom prst="rect">
            <a:avLst/>
          </a:prstGeom>
        </p:spPr>
      </p:pic>
      <p:sp>
        <p:nvSpPr>
          <p:cNvPr id="54" name="Text 7"/>
          <p:cNvSpPr/>
          <p:nvPr/>
        </p:nvSpPr>
        <p:spPr>
          <a:xfrm>
            <a:off x="694944" y="4489704"/>
            <a:ext cx="3310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SEM：孔洞与包埋结构</a:t>
            </a:r>
            <a:endParaRPr lang="en-US" sz="1300" dirty="0"/>
          </a:p>
        </p:txBody>
      </p:sp>
      <p:sp>
        <p:nvSpPr>
          <p:cNvPr id="55" name="Shape 8"/>
          <p:cNvSpPr/>
          <p:nvPr/>
        </p:nvSpPr>
        <p:spPr>
          <a:xfrm>
            <a:off x="4315968" y="2423160"/>
            <a:ext cx="3621024" cy="2468880"/>
          </a:xfrm>
          <a:prstGeom prst="roundRect">
            <a:avLst>
              <a:gd name="adj" fmla="val 4444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6" name="Text 9"/>
          <p:cNvSpPr/>
          <p:nvPr/>
        </p:nvSpPr>
        <p:spPr>
          <a:xfrm>
            <a:off x="4480560" y="2532888"/>
            <a:ext cx="3291840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熟面面筋网络</a:t>
            </a:r>
            <a:endParaRPr lang="en-US" sz="2100" dirty="0"/>
          </a:p>
        </p:txBody>
      </p:sp>
      <p:pic>
        <p:nvPicPr>
          <p:cNvPr id="57" name="Image 1" descr="/workspace/ppt-work/texture-microstructure/figures/figure-3-9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453128" y="3080585"/>
            <a:ext cx="3346704" cy="1282045"/>
          </a:xfrm>
          <a:prstGeom prst="rect">
            <a:avLst/>
          </a:prstGeom>
        </p:spPr>
      </p:pic>
      <p:sp>
        <p:nvSpPr>
          <p:cNvPr id="58" name="Text 10"/>
          <p:cNvSpPr/>
          <p:nvPr/>
        </p:nvSpPr>
        <p:spPr>
          <a:xfrm>
            <a:off x="4462272" y="4489704"/>
            <a:ext cx="3310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CLSM：致密性与连续性</a:t>
            </a:r>
            <a:endParaRPr lang="en-US" sz="1300" dirty="0"/>
          </a:p>
        </p:txBody>
      </p:sp>
      <p:sp>
        <p:nvSpPr>
          <p:cNvPr id="59" name="Shape 11"/>
          <p:cNvSpPr/>
          <p:nvPr/>
        </p:nvSpPr>
        <p:spPr>
          <a:xfrm>
            <a:off x="8083296" y="2423160"/>
            <a:ext cx="3621024" cy="2468880"/>
          </a:xfrm>
          <a:prstGeom prst="roundRect">
            <a:avLst>
              <a:gd name="adj" fmla="val 4444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2"/>
          <p:cNvSpPr/>
          <p:nvPr/>
        </p:nvSpPr>
        <p:spPr>
          <a:xfrm>
            <a:off x="8247888" y="2532888"/>
            <a:ext cx="3291840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煮后水分分布</a:t>
            </a:r>
            <a:endParaRPr lang="en-US" sz="2100" dirty="0"/>
          </a:p>
        </p:txBody>
      </p:sp>
      <p:pic>
        <p:nvPicPr>
          <p:cNvPr id="61" name="Image 2" descr="/workspace/ppt-work/texture-microstructure/figures/figure-3-7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125018" y="2980944"/>
            <a:ext cx="1537581" cy="1481328"/>
          </a:xfrm>
          <a:prstGeom prst="rect">
            <a:avLst/>
          </a:prstGeom>
        </p:spPr>
      </p:pic>
      <p:sp>
        <p:nvSpPr>
          <p:cNvPr id="62" name="Text 13"/>
          <p:cNvSpPr/>
          <p:nvPr/>
        </p:nvSpPr>
        <p:spPr>
          <a:xfrm>
            <a:off x="8229600" y="4489704"/>
            <a:ext cx="3310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MRI：由表面到中心</a:t>
            </a:r>
            <a:endParaRPr lang="en-US" sz="1300" dirty="0"/>
          </a:p>
        </p:txBody>
      </p:sp>
      <p:sp>
        <p:nvSpPr>
          <p:cNvPr id="63" name="Text 14"/>
          <p:cNvSpPr/>
          <p:nvPr/>
        </p:nvSpPr>
        <p:spPr>
          <a:xfrm>
            <a:off x="548640" y="5184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阅读口径</a:t>
            </a:r>
            <a:endParaRPr lang="en-US" sz="1700" dirty="0"/>
          </a:p>
        </p:txBody>
      </p:sp>
      <p:sp>
        <p:nvSpPr>
          <p:cNvPr id="64" name="Text 15"/>
          <p:cNvSpPr/>
          <p:nvPr/>
        </p:nvSpPr>
        <p:spPr>
          <a:xfrm>
            <a:off x="1938528" y="5138928"/>
            <a:ext cx="9765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质构数据测的是煮后面条；SEM 为生面，CLSM / MRI 为熟面。样品初始水分为 22.0 ± 0.5%。</a:t>
            </a:r>
            <a:endParaRPr lang="en-US" sz="1600" dirty="0"/>
          </a:p>
        </p:txBody>
      </p:sp>
      <p:sp>
        <p:nvSpPr>
          <p:cNvPr id="65" name="Shape 16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17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本稿截取 6 幅图、7 张表；原始图片与数据标记均保留，解读文字可编辑。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磷酸盐：硬度与拉伸力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质构证据｜同一添加剂，不同指标可能方向相反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来源：赵恬田，江南大学硕士学位论文（2022），表 3-5；论文第 24 页 / PDF 第 34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pic>
        <p:nvPicPr>
          <p:cNvPr id="50" name="Image 0" descr="/workspace/ppt-work/texture-microstructure/figures/table-3-5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232795" y="1435608"/>
            <a:ext cx="4532105" cy="4361688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固定看 0.4% 剂量</a:t>
            </a:r>
            <a:endParaRPr lang="en-US" sz="1900" dirty="0"/>
          </a:p>
        </p:txBody>
      </p:sp>
      <p:sp>
        <p:nvSpPr>
          <p:cNvPr id="52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空白：硬度 3776.99 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 16.85 g。</a:t>
            </a:r>
            <a:endParaRPr lang="en-US" sz="1600" dirty="0"/>
          </a:p>
        </p:txBody>
      </p:sp>
      <p:sp>
        <p:nvSpPr>
          <p:cNvPr id="53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STPP：抗拉更强</a:t>
            </a:r>
            <a:endParaRPr lang="en-US" sz="1900" dirty="0"/>
          </a:p>
        </p:txBody>
      </p:sp>
      <p:sp>
        <p:nvSpPr>
          <p:cNvPr id="54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3645.59 g；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 20.41 g。</a:t>
            </a:r>
            <a:endParaRPr lang="en-US" sz="1600" dirty="0"/>
          </a:p>
        </p:txBody>
      </p:sp>
      <p:sp>
        <p:nvSpPr>
          <p:cNvPr id="55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MSP：更硬但易拉断</a:t>
            </a:r>
            <a:endParaRPr lang="en-US" sz="1900" dirty="0"/>
          </a:p>
        </p:txBody>
      </p:sp>
      <p:sp>
        <p:nvSpPr>
          <p:cNvPr id="56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4332.37 g；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 13.19 g。</a:t>
            </a:r>
            <a:endParaRPr lang="en-US" sz="1600" dirty="0"/>
          </a:p>
        </p:txBody>
      </p:sp>
      <p:sp>
        <p:nvSpPr>
          <p:cNvPr id="57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硬度与抗拉能力要同时评价；显著性需按原表同列字母核对，不能跨剂量概括。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生面 SEM：孔隙与结构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微观证据｜空白、TSPP 与 MSP 的横截面对比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来源：赵恬田，江南大学硕士学位论文（2022），图 3-8；论文第 32 页 / PDF 第 42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pic>
        <p:nvPicPr>
          <p:cNvPr id="50" name="Image 0" descr="/workspace/ppt-work/texture-microstructure/figures/figure-3-8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94360" y="1926460"/>
            <a:ext cx="11045952" cy="3215391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612648" y="1463040"/>
            <a:ext cx="354787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(a1) 空白：无添加剂</a:t>
            </a:r>
            <a:endParaRPr lang="en-US" sz="1800" dirty="0"/>
          </a:p>
        </p:txBody>
      </p:sp>
      <p:sp>
        <p:nvSpPr>
          <p:cNvPr id="52" name="Text 5"/>
          <p:cNvSpPr/>
          <p:nvPr/>
        </p:nvSpPr>
        <p:spPr>
          <a:xfrm>
            <a:off x="4325112" y="1463040"/>
            <a:ext cx="354787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(a2) TSPP：焦磷酸钠</a:t>
            </a:r>
            <a:endParaRPr lang="en-US" sz="1800" dirty="0"/>
          </a:p>
        </p:txBody>
      </p:sp>
      <p:sp>
        <p:nvSpPr>
          <p:cNvPr id="53" name="Text 6"/>
          <p:cNvSpPr/>
          <p:nvPr/>
        </p:nvSpPr>
        <p:spPr>
          <a:xfrm>
            <a:off x="8037576" y="1463040"/>
            <a:ext cx="354787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(a3) MSP：磷酸二氢钠</a:t>
            </a:r>
            <a:endParaRPr lang="en-US" sz="1800" dirty="0"/>
          </a:p>
        </p:txBody>
      </p:sp>
      <p:sp>
        <p:nvSpPr>
          <p:cNvPr id="54" name="Text 7"/>
          <p:cNvSpPr/>
          <p:nvPr/>
        </p:nvSpPr>
        <p:spPr>
          <a:xfrm>
            <a:off x="731520" y="5230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原文观察：TSPP 组呈蜘蛛网状网络并伴小孔；MSP 组较紧密、连续、孔隙较少。</a:t>
            </a:r>
            <a:endParaRPr lang="en-US" sz="1800" dirty="0"/>
          </a:p>
        </p:txBody>
      </p:sp>
      <p:sp>
        <p:nvSpPr>
          <p:cNvPr id="55" name="Shape 8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6" name="Text 9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 支持形态差异；红箭头为原文标注，不能单凭一个视野推定品质或货架期。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熟面 CLSM：面筋网络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微观证据｜原始图与 Angio Tool 拟合图成对展示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来源：赵恬田，江南大学硕士学位论文（2022），图 3-9；论文第 33 页 / PDF 第 43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58368" y="1481328"/>
            <a:ext cx="2066544" cy="392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空白</a:t>
            </a:r>
            <a:endParaRPr lang="en-US" sz="1900" dirty="0"/>
          </a:p>
        </p:txBody>
      </p:sp>
      <p:sp>
        <p:nvSpPr>
          <p:cNvPr id="51" name="Text 5"/>
          <p:cNvSpPr/>
          <p:nvPr/>
        </p:nvSpPr>
        <p:spPr>
          <a:xfrm>
            <a:off x="2880360" y="1481328"/>
            <a:ext cx="2066544" cy="392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SHMP</a:t>
            </a:r>
            <a:endParaRPr lang="en-US" sz="1900" dirty="0"/>
          </a:p>
        </p:txBody>
      </p:sp>
      <p:sp>
        <p:nvSpPr>
          <p:cNvPr id="52" name="Text 6"/>
          <p:cNvSpPr/>
          <p:nvPr/>
        </p:nvSpPr>
        <p:spPr>
          <a:xfrm>
            <a:off x="5102352" y="1481328"/>
            <a:ext cx="2066544" cy="392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</a:t>
            </a:r>
            <a:endParaRPr lang="en-US" sz="1900" dirty="0"/>
          </a:p>
        </p:txBody>
      </p:sp>
      <p:sp>
        <p:nvSpPr>
          <p:cNvPr id="53" name="Text 7"/>
          <p:cNvSpPr/>
          <p:nvPr/>
        </p:nvSpPr>
        <p:spPr>
          <a:xfrm>
            <a:off x="7324344" y="1481328"/>
            <a:ext cx="2066544" cy="392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</a:t>
            </a:r>
            <a:endParaRPr lang="en-US" sz="1900" dirty="0"/>
          </a:p>
        </p:txBody>
      </p:sp>
      <p:sp>
        <p:nvSpPr>
          <p:cNvPr id="54" name="Text 8"/>
          <p:cNvSpPr/>
          <p:nvPr/>
        </p:nvSpPr>
        <p:spPr>
          <a:xfrm>
            <a:off x="9546336" y="1481328"/>
            <a:ext cx="2066544" cy="392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</a:t>
            </a:r>
            <a:endParaRPr lang="en-US" sz="1900" dirty="0"/>
          </a:p>
        </p:txBody>
      </p:sp>
      <p:pic>
        <p:nvPicPr>
          <p:cNvPr id="55" name="Image 0" descr="/workspace/ppt-work/texture-microstructure/figures/figure-3-9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64336" y="1929384"/>
            <a:ext cx="9906000" cy="3794760"/>
          </a:xfrm>
          <a:prstGeom prst="rect">
            <a:avLst/>
          </a:prstGeom>
        </p:spPr>
      </p:pic>
      <p:sp>
        <p:nvSpPr>
          <p:cNvPr id="56" name="Shape 9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上行为蛋白红色荧光原图（20 μm）；下行为拟合网络。原文指出 TSPP 组较松散、多孔。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磷酸盐：网络定量分析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图像量化｜从形态观察到面积、结点、长度与孔隙度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来源：赵恬田，江南大学硕士学位论文（2022），图 3-10；论文第 34 页 / PDF 第 44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pic>
        <p:nvPicPr>
          <p:cNvPr id="50" name="Image 0" descr="/workspace/ppt-work/texture-microstructure/figures/figure-3-10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57664" y="1463040"/>
            <a:ext cx="5000071" cy="4315968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 组</a:t>
            </a:r>
            <a:endParaRPr lang="en-US" sz="1900" dirty="0"/>
          </a:p>
        </p:txBody>
      </p:sp>
      <p:sp>
        <p:nvSpPr>
          <p:cNvPr id="52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蛋白面积、结点数量和网络总长度较高。</a:t>
            </a:r>
            <a:endParaRPr lang="en-US" sz="1600" dirty="0"/>
          </a:p>
        </p:txBody>
      </p:sp>
      <p:sp>
        <p:nvSpPr>
          <p:cNvPr id="53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 组</a:t>
            </a:r>
            <a:endParaRPr lang="en-US" sz="1900" dirty="0"/>
          </a:p>
        </p:txBody>
      </p:sp>
      <p:sp>
        <p:nvSpPr>
          <p:cNvPr id="54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孔隙度最高；面积与连续性指标较低。</a:t>
            </a:r>
            <a:endParaRPr lang="en-US" sz="1600" dirty="0"/>
          </a:p>
        </p:txBody>
      </p:sp>
      <p:sp>
        <p:nvSpPr>
          <p:cNvPr id="55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四个指标一起看</a:t>
            </a:r>
            <a:endParaRPr lang="en-US" sz="1900" dirty="0"/>
          </a:p>
        </p:txBody>
      </p:sp>
      <p:sp>
        <p:nvSpPr>
          <p:cNvPr id="56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面积 / 孔隙度看致密性；结点 / 长度看连续性。</a:t>
            </a:r>
            <a:endParaRPr lang="en-US" sz="1600" dirty="0"/>
          </a:p>
        </p:txBody>
      </p:sp>
      <p:sp>
        <p:nvSpPr>
          <p:cNvPr id="57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作者综合排序：STPP ＞ SHMP ＞ MSP ＞ 空白 ＞ TSPP；网络更致密不必然意味着硬度更高。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MRI：熟面水分分布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水分证据｜观察水进入中心的程度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来源：赵恬田，江南大学硕士学位论文（2022），图 3-7；论文第 31 页 / PDF 第 41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pic>
        <p:nvPicPr>
          <p:cNvPr id="50" name="Image 0" descr="/workspace/ppt-work/texture-microstructure/figures/figure-3-7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41537" y="1408176"/>
            <a:ext cx="4584269" cy="4416552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8165592" y="1554480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组别与剂量</a:t>
            </a:r>
            <a:endParaRPr lang="en-US" sz="1900" dirty="0"/>
          </a:p>
        </p:txBody>
      </p:sp>
      <p:sp>
        <p:nvSpPr>
          <p:cNvPr id="52" name="Text 5"/>
          <p:cNvSpPr/>
          <p:nvPr/>
        </p:nvSpPr>
        <p:spPr>
          <a:xfrm>
            <a:off x="8165592" y="2002536"/>
            <a:ext cx="3429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空白；b SHMP；c STPP；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TSPP；e MSP。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各添加组均为 0.4%。</a:t>
            </a:r>
            <a:endParaRPr lang="en-US" sz="1600" dirty="0"/>
          </a:p>
        </p:txBody>
      </p:sp>
      <p:sp>
        <p:nvSpPr>
          <p:cNvPr id="53" name="Text 6"/>
          <p:cNvSpPr/>
          <p:nvPr/>
        </p:nvSpPr>
        <p:spPr>
          <a:xfrm>
            <a:off x="8165592" y="2990088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颜色的含义</a:t>
            </a:r>
            <a:endParaRPr lang="en-US" sz="1900" dirty="0"/>
          </a:p>
        </p:txBody>
      </p:sp>
      <p:sp>
        <p:nvSpPr>
          <p:cNvPr id="54" name="Text 7"/>
          <p:cNvSpPr/>
          <p:nvPr/>
        </p:nvSpPr>
        <p:spPr>
          <a:xfrm>
            <a:off x="8165592" y="3438144"/>
            <a:ext cx="3429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红 / 黄：质子密度较高；蓝：较低。色标不是含水率百分比。</a:t>
            </a:r>
            <a:endParaRPr lang="en-US" sz="1600" dirty="0"/>
          </a:p>
        </p:txBody>
      </p:sp>
      <p:sp>
        <p:nvSpPr>
          <p:cNvPr id="55" name="Text 8"/>
          <p:cNvSpPr/>
          <p:nvPr/>
        </p:nvSpPr>
        <p:spPr>
          <a:xfrm>
            <a:off x="8165592" y="4425696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作者解释</a:t>
            </a:r>
            <a:endParaRPr lang="en-US" sz="1900" dirty="0"/>
          </a:p>
        </p:txBody>
      </p:sp>
      <p:sp>
        <p:nvSpPr>
          <p:cNvPr id="56" name="Text 9"/>
          <p:cNvSpPr/>
          <p:nvPr/>
        </p:nvSpPr>
        <p:spPr>
          <a:xfrm>
            <a:off x="8165592" y="4873752"/>
            <a:ext cx="3429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SHMP、STPP、MSP 组中心保留低水分区，与面筋网络限制水进入有关。</a:t>
            </a:r>
            <a:endParaRPr lang="en-US" sz="1600" dirty="0"/>
          </a:p>
        </p:txBody>
      </p:sp>
      <p:sp>
        <p:nvSpPr>
          <p:cNvPr id="57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水分分布为质构与显微结构提供补充证据；不能把伪彩色直接换算成水分含量。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pH：初始质构与蒸煮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配方变量｜比较硬度、拉伸力，也观察蒸煮损失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来源：赵恬田，江南大学硕士学位论文（2022），表 3-12；论文第 40 页 / PDF 第 50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pic>
        <p:nvPicPr>
          <p:cNvPr id="50" name="Image 0" descr="/workspace/ppt-work/texture-microstructure/figures/table-3-12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248500" y="1837944"/>
            <a:ext cx="6720152" cy="3410712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较强碱性组</a:t>
            </a:r>
            <a:endParaRPr lang="en-US" sz="1900" dirty="0"/>
          </a:p>
        </p:txBody>
      </p:sp>
      <p:sp>
        <p:nvSpPr>
          <p:cNvPr id="52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10：硬度 3772.93 g，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 24.69 g。</a:t>
            </a:r>
            <a:endParaRPr lang="en-US" sz="1600" dirty="0"/>
          </a:p>
        </p:txBody>
      </p:sp>
      <p:sp>
        <p:nvSpPr>
          <p:cNvPr id="53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蒸煮表现需兼顾</a:t>
            </a:r>
            <a:endParaRPr lang="en-US" sz="1900" dirty="0"/>
          </a:p>
        </p:txBody>
      </p:sp>
      <p:sp>
        <p:nvSpPr>
          <p:cNvPr id="54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6 蒸煮损失 4.41%；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10 为 11.76%。</a:t>
            </a:r>
            <a:endParaRPr lang="en-US" sz="1600" dirty="0"/>
          </a:p>
        </p:txBody>
      </p:sp>
      <p:sp>
        <p:nvSpPr>
          <p:cNvPr id="55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并非逐级递增</a:t>
            </a:r>
            <a:endParaRPr lang="en-US" sz="1900" dirty="0"/>
          </a:p>
        </p:txBody>
      </p:sp>
      <p:sp>
        <p:nvSpPr>
          <p:cNvPr id="56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8 硬度 3467.08 g；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 为 3366.60 g。</a:t>
            </a:r>
            <a:endParaRPr lang="en-US" sz="1600" dirty="0"/>
          </a:p>
        </p:txBody>
      </p:sp>
      <p:sp>
        <p:nvSpPr>
          <p:cNvPr id="57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试验基于 0.2% SHMP＋0.4% STPP；“更硬、更抗拉”需要与蒸煮损失一同权衡。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pH：熟面网络横向比较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微观证据｜图 3-15 各组原始 / 拟合图配对重排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来源：赵恬田，江南大学硕士学位论文（2022），图 3-15；论文第 47 页 / PDF 第 57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50" name="Shape 4"/>
          <p:cNvSpPr/>
          <p:nvPr/>
        </p:nvSpPr>
        <p:spPr>
          <a:xfrm>
            <a:off x="5577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1" name="Text 5"/>
          <p:cNvSpPr/>
          <p:nvPr/>
        </p:nvSpPr>
        <p:spPr>
          <a:xfrm>
            <a:off x="5943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4</a:t>
            </a:r>
            <a:endParaRPr lang="en-US" sz="1800" dirty="0"/>
          </a:p>
        </p:txBody>
      </p:sp>
      <p:pic>
        <p:nvPicPr>
          <p:cNvPr id="52" name="Image 0" descr="/workspace/ppt-work/texture-microstructure/figures/figure-3-15-pH4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0936" y="2134816"/>
            <a:ext cx="1316736" cy="2954128"/>
          </a:xfrm>
          <a:prstGeom prst="rect">
            <a:avLst/>
          </a:prstGeom>
        </p:spPr>
      </p:pic>
      <p:sp>
        <p:nvSpPr>
          <p:cNvPr id="53" name="Shape 6"/>
          <p:cNvSpPr/>
          <p:nvPr/>
        </p:nvSpPr>
        <p:spPr>
          <a:xfrm>
            <a:off x="21579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21945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</a:t>
            </a:r>
            <a:endParaRPr lang="en-US" sz="1800" dirty="0"/>
          </a:p>
        </p:txBody>
      </p:sp>
      <p:pic>
        <p:nvPicPr>
          <p:cNvPr id="55" name="Image 1" descr="/workspace/ppt-work/texture-microstructure/figures/figure-3-15-pH5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231136" y="2149965"/>
            <a:ext cx="1316736" cy="2923829"/>
          </a:xfrm>
          <a:prstGeom prst="rect">
            <a:avLst/>
          </a:prstGeom>
        </p:spPr>
      </p:pic>
      <p:sp>
        <p:nvSpPr>
          <p:cNvPr id="56" name="Shape 8"/>
          <p:cNvSpPr/>
          <p:nvPr/>
        </p:nvSpPr>
        <p:spPr>
          <a:xfrm>
            <a:off x="37581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9"/>
          <p:cNvSpPr/>
          <p:nvPr/>
        </p:nvSpPr>
        <p:spPr>
          <a:xfrm>
            <a:off x="37947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6</a:t>
            </a:r>
            <a:endParaRPr lang="en-US" sz="1800" dirty="0"/>
          </a:p>
        </p:txBody>
      </p:sp>
      <p:pic>
        <p:nvPicPr>
          <p:cNvPr id="58" name="Image 2" descr="/workspace/ppt-work/texture-microstructure/figures/figure-3-15-pH6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831336" y="2149965"/>
            <a:ext cx="1316736" cy="2923829"/>
          </a:xfrm>
          <a:prstGeom prst="rect">
            <a:avLst/>
          </a:prstGeom>
        </p:spPr>
      </p:pic>
      <p:sp>
        <p:nvSpPr>
          <p:cNvPr id="59" name="Shape 10"/>
          <p:cNvSpPr/>
          <p:nvPr/>
        </p:nvSpPr>
        <p:spPr>
          <a:xfrm>
            <a:off x="53583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0" name="Text 11"/>
          <p:cNvSpPr/>
          <p:nvPr/>
        </p:nvSpPr>
        <p:spPr>
          <a:xfrm>
            <a:off x="53949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7</a:t>
            </a:r>
            <a:endParaRPr lang="en-US" sz="1800" dirty="0"/>
          </a:p>
        </p:txBody>
      </p:sp>
      <p:pic>
        <p:nvPicPr>
          <p:cNvPr id="61" name="Image 3" descr="/workspace/ppt-work/texture-microstructure/figures/figure-3-15-pH7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431536" y="2157424"/>
            <a:ext cx="1316736" cy="2908912"/>
          </a:xfrm>
          <a:prstGeom prst="rect">
            <a:avLst/>
          </a:prstGeom>
        </p:spPr>
      </p:pic>
      <p:sp>
        <p:nvSpPr>
          <p:cNvPr id="62" name="Shape 12"/>
          <p:cNvSpPr/>
          <p:nvPr/>
        </p:nvSpPr>
        <p:spPr>
          <a:xfrm>
            <a:off x="69585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3"/>
          <p:cNvSpPr/>
          <p:nvPr/>
        </p:nvSpPr>
        <p:spPr>
          <a:xfrm>
            <a:off x="69951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8</a:t>
            </a:r>
            <a:endParaRPr lang="en-US" sz="1800" dirty="0"/>
          </a:p>
        </p:txBody>
      </p:sp>
      <p:pic>
        <p:nvPicPr>
          <p:cNvPr id="64" name="Image 4" descr="/workspace/ppt-work/texture-microstructure/figures/figure-3-15-pH8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7031736" y="2148461"/>
            <a:ext cx="1316736" cy="2926838"/>
          </a:xfrm>
          <a:prstGeom prst="rect">
            <a:avLst/>
          </a:prstGeom>
        </p:spPr>
      </p:pic>
      <p:sp>
        <p:nvSpPr>
          <p:cNvPr id="65" name="Shape 14"/>
          <p:cNvSpPr/>
          <p:nvPr/>
        </p:nvSpPr>
        <p:spPr>
          <a:xfrm>
            <a:off x="85587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15"/>
          <p:cNvSpPr/>
          <p:nvPr/>
        </p:nvSpPr>
        <p:spPr>
          <a:xfrm>
            <a:off x="85953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</a:t>
            </a:r>
            <a:endParaRPr lang="en-US" sz="1800" dirty="0"/>
          </a:p>
        </p:txBody>
      </p:sp>
      <p:pic>
        <p:nvPicPr>
          <p:cNvPr id="67" name="Image 5" descr="/workspace/ppt-work/texture-microstructure/figures/figure-3-15-pH9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631936" y="2163470"/>
            <a:ext cx="1316736" cy="2896819"/>
          </a:xfrm>
          <a:prstGeom prst="rect">
            <a:avLst/>
          </a:prstGeom>
        </p:spPr>
      </p:pic>
      <p:sp>
        <p:nvSpPr>
          <p:cNvPr id="68" name="Shape 16"/>
          <p:cNvSpPr/>
          <p:nvPr/>
        </p:nvSpPr>
        <p:spPr>
          <a:xfrm>
            <a:off x="10158984" y="1508760"/>
            <a:ext cx="1463040" cy="3840480"/>
          </a:xfrm>
          <a:prstGeom prst="roundRect">
            <a:avLst>
              <a:gd name="adj" fmla="val 75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9" name="Text 17"/>
          <p:cNvSpPr/>
          <p:nvPr/>
        </p:nvSpPr>
        <p:spPr>
          <a:xfrm>
            <a:off x="10195560" y="1600200"/>
            <a:ext cx="138988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10</a:t>
            </a:r>
            <a:endParaRPr lang="en-US" sz="1800" dirty="0"/>
          </a:p>
        </p:txBody>
      </p:sp>
      <p:pic>
        <p:nvPicPr>
          <p:cNvPr id="70" name="Image 6" descr="/workspace/ppt-work/texture-microstructure/figures/figure-3-15-pH10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0232136" y="2163470"/>
            <a:ext cx="1316736" cy="2896819"/>
          </a:xfrm>
          <a:prstGeom prst="rect">
            <a:avLst/>
          </a:prstGeom>
        </p:spPr>
      </p:pic>
      <p:sp>
        <p:nvSpPr>
          <p:cNvPr id="71" name="Text 18"/>
          <p:cNvSpPr/>
          <p:nvPr/>
        </p:nvSpPr>
        <p:spPr>
          <a:xfrm>
            <a:off x="594360" y="5513832"/>
            <a:ext cx="11064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每列上方：CLSM 原图（20 μm）　下方：Angio Tool 拟合图　｜　原图面板 (a)–(g) 依次对应 pH 4–10</a:t>
            </a:r>
            <a:endParaRPr lang="en-US" sz="1300" dirty="0"/>
          </a:p>
        </p:txBody>
      </p:sp>
      <p:sp>
        <p:nvSpPr>
          <p:cNvPr id="72" name="Shape 19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3" name="Text 20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作者观察：酸性组更松散、多孔；pH 9 组最连续、致密，pH 10 并未进一步优于 pH 9。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pH：网络变化的量化证据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图像量化｜用四项指标检验显微观察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来源：赵恬田，江南大学硕士学位论文（2022），图 3-16；论文第 48 页 / PDF 第 58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pic>
        <p:nvPicPr>
          <p:cNvPr id="50" name="Image 0" descr="/workspace/ppt-work/texture-microstructure/figures/figure-3-16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61251" y="1463040"/>
            <a:ext cx="4947177" cy="4297680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4 组</a:t>
            </a:r>
            <a:endParaRPr lang="en-US" sz="1900" dirty="0"/>
          </a:p>
        </p:txBody>
      </p:sp>
      <p:sp>
        <p:nvSpPr>
          <p:cNvPr id="52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蛋白面积、结点和总长度较低；孔隙度较高。</a:t>
            </a:r>
            <a:endParaRPr lang="en-US" sz="1600" dirty="0"/>
          </a:p>
        </p:txBody>
      </p:sp>
      <p:sp>
        <p:nvSpPr>
          <p:cNvPr id="53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 组</a:t>
            </a:r>
            <a:endParaRPr lang="en-US" sz="1900" dirty="0"/>
          </a:p>
        </p:txBody>
      </p:sp>
      <p:sp>
        <p:nvSpPr>
          <p:cNvPr id="54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结点和总长度较高；孔隙度较低。</a:t>
            </a:r>
            <a:endParaRPr lang="en-US" sz="1600" dirty="0"/>
          </a:p>
        </p:txBody>
      </p:sp>
      <p:sp>
        <p:nvSpPr>
          <p:cNvPr id="55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不要替代实测质构</a:t>
            </a:r>
            <a:endParaRPr lang="en-US" sz="1900" dirty="0"/>
          </a:p>
        </p:txBody>
      </p:sp>
      <p:sp>
        <p:nvSpPr>
          <p:cNvPr id="56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结构指标是图像分析结果；仍须与硬度、拉伸和蒸煮损失对应。</a:t>
            </a:r>
            <a:endParaRPr lang="en-US" sz="1600" dirty="0"/>
          </a:p>
        </p:txBody>
      </p:sp>
      <p:sp>
        <p:nvSpPr>
          <p:cNvPr id="57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原文综合网络排序：pH 9 ＞ 10 ＞ 8＝7 ＞ 6＝5 ＞ 4；统计差异仍以各子图字母为准。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贮藏：硬度与抗拉的分化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质构变化｜pH 组的硬度和拉伸力需分开判断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来源：赵恬田（2022），表 3-13、3-14；论文第 41–42 页 / PDF 第 51–52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pic>
        <p:nvPicPr>
          <p:cNvPr id="50" name="Image 0" descr="/workspace/ppt-work/texture-microstructure/figures/table-3-13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018271" y="1417320"/>
            <a:ext cx="5217187" cy="2395728"/>
          </a:xfrm>
          <a:prstGeom prst="rect">
            <a:avLst/>
          </a:prstGeom>
        </p:spPr>
      </p:pic>
      <p:pic>
        <p:nvPicPr>
          <p:cNvPr id="51" name="Image 1" descr="/workspace/ppt-work/texture-microstructure/figures/table-3-14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117324" y="3986784"/>
            <a:ext cx="5019079" cy="1746504"/>
          </a:xfrm>
          <a:prstGeom prst="rect">
            <a:avLst/>
          </a:prstGeom>
        </p:spPr>
      </p:pic>
      <p:sp>
        <p:nvSpPr>
          <p:cNvPr id="52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9：10 → 20 d</a:t>
            </a:r>
            <a:endParaRPr lang="en-US" sz="1900" dirty="0"/>
          </a:p>
        </p:txBody>
      </p:sp>
      <p:sp>
        <p:nvSpPr>
          <p:cNvPr id="53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硬度：3843.54 → 3778.48 g，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原表字母共享 b。</a:t>
            </a:r>
            <a:endParaRPr lang="en-US" sz="1600" dirty="0"/>
          </a:p>
        </p:txBody>
      </p:sp>
      <p:sp>
        <p:nvSpPr>
          <p:cNvPr id="54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抗拉却明显下降</a:t>
            </a:r>
            <a:endParaRPr lang="en-US" sz="1900" dirty="0"/>
          </a:p>
        </p:txBody>
      </p:sp>
      <p:sp>
        <p:nvSpPr>
          <p:cNvPr id="55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拉伸力：24.74 → 19.32 g；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原表字母 a → c。</a:t>
            </a:r>
            <a:endParaRPr lang="en-US" sz="1600" dirty="0"/>
          </a:p>
        </p:txBody>
      </p:sp>
      <p:sp>
        <p:nvSpPr>
          <p:cNvPr id="56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观察窗口不同</a:t>
            </a:r>
            <a:endParaRPr lang="en-US" sz="1900" dirty="0"/>
          </a:p>
        </p:txBody>
      </p:sp>
      <p:sp>
        <p:nvSpPr>
          <p:cNvPr id="57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6–8 只测至 10 d；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d 的“/”代表未测。</a:t>
            </a:r>
            <a:endParaRPr lang="en-US" sz="1600" dirty="0"/>
          </a:p>
        </p:txBody>
      </p:sp>
      <p:sp>
        <p:nvSpPr>
          <p:cNvPr id="58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9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煮后硬度保持，不能代表抗拉性能也保持；先核对同一指标、同一组别与同一时间段。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包装：贮藏硬度的变化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包装比较｜0–10 d 变硬，10–20 d 回落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来源：赵恬田，江南大学硕士学位论文（2022），表 3-20；论文第 53 页 / PDF 第 63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pic>
        <p:nvPicPr>
          <p:cNvPr id="50" name="Image 0" descr="/workspace/ppt-work/texture-microstructure/figures/table-3-20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900054" y="2066544"/>
            <a:ext cx="7407900" cy="2926080"/>
          </a:xfrm>
          <a:prstGeom prst="rect">
            <a:avLst/>
          </a:prstGeom>
        </p:spPr>
      </p:pic>
      <p:sp>
        <p:nvSpPr>
          <p:cNvPr id="51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→ 10 d 增幅</a:t>
            </a:r>
            <a:endParaRPr lang="en-US" sz="1900" dirty="0"/>
          </a:p>
        </p:txBody>
      </p:sp>
      <p:sp>
        <p:nvSpPr>
          <p:cNvPr id="52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铝箔：约 +9.8%；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PA/PE：约 +19.4%。</a:t>
            </a:r>
            <a:endParaRPr lang="en-US" sz="1600" dirty="0"/>
          </a:p>
        </p:txBody>
      </p:sp>
      <p:sp>
        <p:nvSpPr>
          <p:cNvPr id="53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→ 20 d 降幅</a:t>
            </a:r>
            <a:endParaRPr lang="en-US" sz="1900" dirty="0"/>
          </a:p>
        </p:txBody>
      </p:sp>
      <p:sp>
        <p:nvSpPr>
          <p:cNvPr id="54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铝箔：约 −4.7%；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PA/PE：约 −15.5%。</a:t>
            </a:r>
            <a:endParaRPr lang="en-US" sz="1600" dirty="0"/>
          </a:p>
        </p:txBody>
      </p:sp>
      <p:sp>
        <p:nvSpPr>
          <p:cNvPr id="55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比较依据</a:t>
            </a:r>
            <a:endParaRPr lang="en-US" sz="1900" dirty="0"/>
          </a:p>
        </p:txBody>
      </p:sp>
      <p:sp>
        <p:nvSpPr>
          <p:cNvPr id="56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百分比按表中均值计算；原文认为铝箔组的品质波动较小。</a:t>
            </a:r>
            <a:endParaRPr lang="en-US" sz="1600" dirty="0"/>
          </a:p>
        </p:txBody>
      </p:sp>
      <p:sp>
        <p:nvSpPr>
          <p:cNvPr id="57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同一配方下，包材会改变质构变化幅度；作者将其与阻湿性及微生物生长差异联系。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包装：咀嚼性与弹性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多指标评价｜保留原表，也指出正文概括的差异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来源：赵恬田，江南大学硕士学位论文（2022），表 3-21、3-22；论文第 54 页 / PDF 第 64 页。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pic>
        <p:nvPicPr>
          <p:cNvPr id="50" name="Image 0" descr="/workspace/ppt-work/texture-microstructure/figures/table-3-21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92398" y="1463040"/>
            <a:ext cx="5977493" cy="2039112"/>
          </a:xfrm>
          <a:prstGeom prst="rect">
            <a:avLst/>
          </a:prstGeom>
        </p:spPr>
      </p:pic>
      <p:pic>
        <p:nvPicPr>
          <p:cNvPr id="51" name="Image 1" descr="/workspace/ppt-work/texture-microstructure/figures/table-3-22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617585" y="3675888"/>
            <a:ext cx="5927118" cy="2057400"/>
          </a:xfrm>
          <a:prstGeom prst="rect">
            <a:avLst/>
          </a:prstGeom>
        </p:spPr>
      </p:pic>
      <p:sp>
        <p:nvSpPr>
          <p:cNvPr id="52" name="Text 4"/>
          <p:cNvSpPr/>
          <p:nvPr/>
        </p:nvSpPr>
        <p:spPr>
          <a:xfrm>
            <a:off x="8778240" y="1554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咀嚼性：铝箔组</a:t>
            </a:r>
            <a:endParaRPr lang="en-US" sz="1900" dirty="0"/>
          </a:p>
        </p:txBody>
      </p:sp>
      <p:sp>
        <p:nvSpPr>
          <p:cNvPr id="53" name="Text 5"/>
          <p:cNvSpPr/>
          <p:nvPr/>
        </p:nvSpPr>
        <p:spPr>
          <a:xfrm>
            <a:off x="8778240" y="2002536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d：2079.98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d：2210.89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d：2119.57</a:t>
            </a:r>
            <a:endParaRPr lang="en-US" sz="1600" dirty="0"/>
          </a:p>
        </p:txBody>
      </p:sp>
      <p:sp>
        <p:nvSpPr>
          <p:cNvPr id="54" name="Text 6"/>
          <p:cNvSpPr/>
          <p:nvPr/>
        </p:nvSpPr>
        <p:spPr>
          <a:xfrm>
            <a:off x="8778240" y="2990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弹性不能一概不变</a:t>
            </a:r>
            <a:endParaRPr lang="en-US" sz="1900" dirty="0"/>
          </a:p>
        </p:txBody>
      </p:sp>
      <p:sp>
        <p:nvSpPr>
          <p:cNvPr id="55" name="Text 7"/>
          <p:cNvSpPr/>
          <p:nvPr/>
        </p:nvSpPr>
        <p:spPr>
          <a:xfrm>
            <a:off x="8778240" y="3438144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铝箔组 0 d / 5 d 标 b；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d 标 a，20 d 标 ab。</a:t>
            </a:r>
            <a:endParaRPr lang="en-US" sz="1600" dirty="0"/>
          </a:p>
        </p:txBody>
      </p:sp>
      <p:sp>
        <p:nvSpPr>
          <p:cNvPr id="56" name="Text 8"/>
          <p:cNvSpPr/>
          <p:nvPr/>
        </p:nvSpPr>
        <p:spPr>
          <a:xfrm>
            <a:off x="8778240" y="44256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原文内部有差异</a:t>
            </a:r>
            <a:endParaRPr lang="en-US" sz="1900" dirty="0"/>
          </a:p>
        </p:txBody>
      </p:sp>
      <p:sp>
        <p:nvSpPr>
          <p:cNvPr id="57" name="Text 9"/>
          <p:cNvSpPr/>
          <p:nvPr/>
        </p:nvSpPr>
        <p:spPr>
          <a:xfrm>
            <a:off x="8778240" y="48737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正文概括“无显著变化”，与铝箔组字母标记不完全一致。</a:t>
            </a:r>
            <a:endParaRPr lang="en-US" sz="1600" dirty="0"/>
          </a:p>
        </p:txBody>
      </p:sp>
      <p:sp>
        <p:nvSpPr>
          <p:cNvPr id="58" name="Shape 10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9" name="Text 11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质构品质至少同时看硬度、拉伸力、咀嚼性与弹性；遇到文字与表格差异，保留原表核对。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从结构证据到品质判断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阅读结论｜把质构、微观结构与贮藏结果放在同一框架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69848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引用：赵恬田，《半干面的货架期延长与品质保持研究》[D]，江南大学，2022；质构与微观相关章节。</a:t>
            </a:r>
            <a:endParaRPr lang="en-US" sz="100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50" name="Shape 4"/>
          <p:cNvSpPr/>
          <p:nvPr/>
        </p:nvSpPr>
        <p:spPr>
          <a:xfrm>
            <a:off x="548640" y="1700784"/>
            <a:ext cx="3611880" cy="2368296"/>
          </a:xfrm>
          <a:prstGeom prst="roundRect">
            <a:avLst>
              <a:gd name="adj" fmla="val 4633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1" name="Text 5"/>
          <p:cNvSpPr/>
          <p:nvPr/>
        </p:nvSpPr>
        <p:spPr>
          <a:xfrm>
            <a:off x="731520" y="1865376"/>
            <a:ext cx="324612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质构实测</a:t>
            </a:r>
            <a:endParaRPr lang="en-US" sz="2400" dirty="0"/>
          </a:p>
        </p:txBody>
      </p:sp>
      <p:sp>
        <p:nvSpPr>
          <p:cNvPr id="52" name="Text 6"/>
          <p:cNvSpPr/>
          <p:nvPr/>
        </p:nvSpPr>
        <p:spPr>
          <a:xfrm>
            <a:off x="768096" y="2660904"/>
            <a:ext cx="3172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· 拉伸力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咀嚼性 · 弹性</a:t>
            </a:r>
            <a:endParaRPr lang="en-US" sz="1900" dirty="0"/>
          </a:p>
        </p:txBody>
      </p:sp>
      <p:sp>
        <p:nvSpPr>
          <p:cNvPr id="53" name="Text 7"/>
          <p:cNvSpPr/>
          <p:nvPr/>
        </p:nvSpPr>
        <p:spPr>
          <a:xfrm>
            <a:off x="731520" y="3666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回答“口感怎样变”</a:t>
            </a:r>
            <a:endParaRPr lang="en-US" sz="1300" dirty="0"/>
          </a:p>
        </p:txBody>
      </p:sp>
      <p:sp>
        <p:nvSpPr>
          <p:cNvPr id="54" name="Shape 8"/>
          <p:cNvSpPr/>
          <p:nvPr/>
        </p:nvSpPr>
        <p:spPr>
          <a:xfrm>
            <a:off x="4325112" y="1700784"/>
            <a:ext cx="3611880" cy="2368296"/>
          </a:xfrm>
          <a:prstGeom prst="roundRect">
            <a:avLst>
              <a:gd name="adj" fmla="val 4633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9"/>
          <p:cNvSpPr/>
          <p:nvPr/>
        </p:nvSpPr>
        <p:spPr>
          <a:xfrm>
            <a:off x="4507992" y="1865376"/>
            <a:ext cx="324612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结构观察</a:t>
            </a:r>
            <a:endParaRPr lang="en-US" sz="2400" dirty="0"/>
          </a:p>
        </p:txBody>
      </p:sp>
      <p:sp>
        <p:nvSpPr>
          <p:cNvPr id="56" name="Text 10"/>
          <p:cNvSpPr/>
          <p:nvPr/>
        </p:nvSpPr>
        <p:spPr>
          <a:xfrm>
            <a:off x="4544568" y="2660904"/>
            <a:ext cx="3172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 · CLSM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网络面积 / 结点 / 长度</a:t>
            </a:r>
            <a:endParaRPr lang="en-US" sz="1900" dirty="0"/>
          </a:p>
        </p:txBody>
      </p:sp>
      <p:sp>
        <p:nvSpPr>
          <p:cNvPr id="57" name="Text 11"/>
          <p:cNvSpPr/>
          <p:nvPr/>
        </p:nvSpPr>
        <p:spPr>
          <a:xfrm>
            <a:off x="4507992" y="3666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回答“结构有何差异”</a:t>
            </a:r>
            <a:endParaRPr lang="en-US" sz="1300" dirty="0"/>
          </a:p>
        </p:txBody>
      </p:sp>
      <p:sp>
        <p:nvSpPr>
          <p:cNvPr id="58" name="Shape 12"/>
          <p:cNvSpPr/>
          <p:nvPr/>
        </p:nvSpPr>
        <p:spPr>
          <a:xfrm>
            <a:off x="8101584" y="1700784"/>
            <a:ext cx="3611880" cy="2368296"/>
          </a:xfrm>
          <a:prstGeom prst="roundRect">
            <a:avLst>
              <a:gd name="adj" fmla="val 4633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9" name="Text 13"/>
          <p:cNvSpPr/>
          <p:nvPr/>
        </p:nvSpPr>
        <p:spPr>
          <a:xfrm>
            <a:off x="8284464" y="1865376"/>
            <a:ext cx="324612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水分与贮藏</a:t>
            </a:r>
            <a:endParaRPr lang="en-US" sz="2400" dirty="0"/>
          </a:p>
        </p:txBody>
      </p:sp>
      <p:sp>
        <p:nvSpPr>
          <p:cNvPr id="60" name="Text 14"/>
          <p:cNvSpPr/>
          <p:nvPr/>
        </p:nvSpPr>
        <p:spPr>
          <a:xfrm>
            <a:off x="8321040" y="2660904"/>
            <a:ext cx="3172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MRI 水分分布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· 包材 · 时间</a:t>
            </a:r>
            <a:endParaRPr lang="en-US" sz="1900" dirty="0"/>
          </a:p>
        </p:txBody>
      </p:sp>
      <p:sp>
        <p:nvSpPr>
          <p:cNvPr id="61" name="Text 15"/>
          <p:cNvSpPr/>
          <p:nvPr/>
        </p:nvSpPr>
        <p:spPr>
          <a:xfrm>
            <a:off x="8284464" y="3666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解释“变化可能相关于什么”</a:t>
            </a:r>
            <a:endParaRPr lang="en-US" sz="1300" dirty="0"/>
          </a:p>
        </p:txBody>
      </p:sp>
      <p:sp>
        <p:nvSpPr>
          <p:cNvPr id="62" name="Text 16"/>
          <p:cNvSpPr/>
          <p:nvPr/>
        </p:nvSpPr>
        <p:spPr>
          <a:xfrm>
            <a:off x="548640" y="4471416"/>
            <a:ext cx="1645920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三个要点</a:t>
            </a:r>
            <a:endParaRPr lang="en-US" sz="2000" dirty="0"/>
          </a:p>
        </p:txBody>
      </p:sp>
      <p:sp>
        <p:nvSpPr>
          <p:cNvPr id="63" name="Text 17"/>
          <p:cNvSpPr/>
          <p:nvPr/>
        </p:nvSpPr>
        <p:spPr>
          <a:xfrm>
            <a:off x="2066544" y="4352544"/>
            <a:ext cx="9509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网络致密与硬度并非一一对应，淀粉糊化也参与影响。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贮藏中硬度与抗拉可能分化，需要多个指标交叉验证。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图片支持结构差异；品质、微生物与货架期须分别用实测结果判断。</a:t>
            </a:r>
            <a:endParaRPr lang="en-US" sz="1800" dirty="0"/>
          </a:p>
        </p:txBody>
      </p:sp>
      <p:sp>
        <p:nvSpPr>
          <p:cNvPr id="64" name="Shape 18"/>
          <p:cNvSpPr/>
          <p:nvPr/>
        </p:nvSpPr>
        <p:spPr>
          <a:xfrm>
            <a:off x="548640" y="5943600"/>
            <a:ext cx="11155680" cy="438912"/>
          </a:xfrm>
          <a:prstGeom prst="roundRect">
            <a:avLst>
              <a:gd name="adj" fmla="val 25000"/>
            </a:avLst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所有图片均截取自用户提供的论文；图号、论文页码与 PDF 页码已标注，原图另附。</a:t>
            </a:r>
            <a:endParaRPr lang="en-US" sz="15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1942</Words>
  <Application>WPS 演示</Application>
  <PresentationFormat>宽屏</PresentationFormat>
  <Paragraphs>125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汉仪大宋简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半干面：质构与微观结构｜论文原图整理</dc:title>
  <dc:creator/>
  <cp:lastModifiedBy>zoaod</cp:lastModifiedBy>
  <cp:revision>157</cp:revision>
  <dcterms:created xsi:type="dcterms:W3CDTF">2019-06-19T02:08:00Z</dcterms:created>
  <dcterms:modified xsi:type="dcterms:W3CDTF">2026-10-12T16:03:52Z</dcterms:modified>
  <dc:subject>赵恬田，江南大学，2022年硕士论文；13页图表与证据解读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9E3FEA8E12F641009FBA9BFB943C0E01_11</vt:lpwstr>
  </property>
</Properties>
</file>