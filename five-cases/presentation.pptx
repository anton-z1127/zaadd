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5"/>
    <p:sldId id="258" r:id="rId6"/>
    <p:sldId id="259" r:id="rId7"/>
    <p:sldId id="260" r:id="rId8"/>
  </p:sldIdLst>
  <p:sldSz cx="12193588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  <Relationship Id="rId5" Type="http://schemas.openxmlformats.org/officeDocument/2006/relationships/slide" Target="slides/slide2.xml"/>
  <Relationship Id="rId6" Type="http://schemas.openxmlformats.org/officeDocument/2006/relationships/slide" Target="slides/slide3.xml"/>
  <Relationship Id="rId7" Type="http://schemas.openxmlformats.org/officeDocument/2006/relationships/slide" Target="slides/slide4.xml"/>
  <Relationship Id="rId8" Type="http://schemas.openxmlformats.org/officeDocument/2006/relationships/slide" Target="slides/slide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B2E08B-AD2C-4D1A-8069-18B1AC00D4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7680" y="607320"/>
            <a:ext cx="10969920" cy="706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600" b="0" u="none" strike="noStrike">
                <a:solidFill>
                  <a:srgbClr val="262626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262626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7680" y="1490040"/>
            <a:ext cx="10969920" cy="4759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Wingdings" charset="2"/>
              <a:buChar char="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595959"/>
              </a:solidFill>
              <a:effectLst/>
              <a:uFillTx/>
              <a:latin typeface="Arial"/>
            </a:endParaRPr>
          </a:p>
          <a:p>
            <a:pPr marL="914400" lvl="1" indent="-457200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595959"/>
              </a:solidFill>
              <a:effectLst/>
              <a:uFillTx/>
              <a:latin typeface="Arial"/>
            </a:endParaRPr>
          </a:p>
          <a:p>
            <a:pPr marL="914400" lvl="2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595959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Wingdings" charset="2"/>
              <a:buChar char="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595959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595959"/>
              </a:solidFill>
              <a:effectLst/>
              <a:uFillTx/>
              <a:latin typeface="Arial"/>
            </a:endParaRPr>
          </a:p>
          <a:p>
            <a:pPr marL="2057400" lvl="5" indent="-228600" algn="l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595959"/>
              </a:solidFill>
              <a:effectLst/>
              <a:uFillTx/>
              <a:latin typeface="Arial"/>
            </a:endParaRPr>
          </a:p>
          <a:p>
            <a:pPr marL="2057400" lvl="6" indent="-228600" algn="l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595959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12720" y="6314760"/>
            <a:ext cx="2698560" cy="316080"/>
          </a:xfrm>
          <a:prstGeom prst="rect">
            <a:avLst/>
          </a:prstGeom>
          <a:noFill/>
          <a:ln w="3816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1000" b="0" u="none" strike="noStrike">
                <a:solidFill>
                  <a:srgbClr val="898989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E0026DC-15E2-45B6-B516-5D920DF69354}" type="datetime">
              <a:rPr lang="zh-CN" sz="1000" b="0" u="none" strike="noStrike">
                <a:solidFill>
                  <a:srgbClr val="898989"/>
                </a:solidFill>
                <a:effectLst/>
                <a:uFillTx/>
                <a:latin typeface="Arial"/>
              </a:rPr>
              <a:t>26/10/12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116240" y="6314760"/>
            <a:ext cx="3959280" cy="316080"/>
          </a:xfrm>
          <a:prstGeom prst="rect">
            <a:avLst/>
          </a:prstGeom>
          <a:noFill/>
          <a:ln w="3816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876880" y="6314760"/>
            <a:ext cx="2700360" cy="316080"/>
          </a:xfrm>
          <a:prstGeom prst="rect">
            <a:avLst/>
          </a:prstGeom>
          <a:noFill/>
          <a:ln w="3816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1000" b="0" u="none" strike="noStrike">
                <a:solidFill>
                  <a:srgbClr val="898989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F2D307C-22CC-44D2-901A-49E1341A3829}" type="slidenum">
              <a:rPr lang="zh-CN" sz="1000" b="0" u="none" strike="noStrike">
                <a:solidFill>
                  <a:srgbClr val="898989"/>
                </a:solidFill>
                <a:effectLst/>
                <a:uFillTx/>
                <a:latin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33"/>
          <p:cNvSpPr/>
          <p:nvPr/>
        </p:nvSpPr>
        <p:spPr>
          <a:xfrm>
            <a:off x="253800" y="179280"/>
            <a:ext cx="165240" cy="441360"/>
          </a:xfrm>
          <a:prstGeom prst="rect">
            <a:avLst/>
          </a:prstGeom>
          <a:gradFill rotWithShape="0">
            <a:gsLst>
              <a:gs pos="0">
                <a:srgbClr val="56AD3C"/>
              </a:gs>
              <a:gs pos="100000">
                <a:srgbClr val="51B534"/>
              </a:gs>
            </a:gsLst>
            <a:lin ang="10800000"/>
          </a:gra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矩形 34"/>
          <p:cNvSpPr/>
          <p:nvPr/>
        </p:nvSpPr>
        <p:spPr>
          <a:xfrm>
            <a:off x="125280" y="174600"/>
            <a:ext cx="76320" cy="446040"/>
          </a:xfrm>
          <a:prstGeom prst="rect">
            <a:avLst/>
          </a:prstGeom>
          <a:gradFill rotWithShape="0">
            <a:gsLst>
              <a:gs pos="0">
                <a:srgbClr val="56AD3C"/>
              </a:gs>
              <a:gs pos="100000">
                <a:srgbClr val="51B534"/>
              </a:gs>
            </a:gsLst>
            <a:lin ang="10800000"/>
          </a:gra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图片 44"/>
          <p:cNvPicPr/>
          <p:nvPr/>
        </p:nvPicPr>
        <p:blipFill>
          <a:blip r:embed="rId1"/>
          <a:stretch/>
        </p:blipFill>
        <p:spPr>
          <a:xfrm>
            <a:off x="7764120" y="114120"/>
            <a:ext cx="1860840" cy="652320"/>
          </a:xfrm>
          <a:prstGeom prst="rect">
            <a:avLst/>
          </a:prstGeom>
          <a:noFill/>
          <a:ln w="38160">
            <a:noFill/>
          </a:ln>
        </p:spPr>
      </p:pic>
      <p:grpSp>
        <p:nvGrpSpPr>
          <p:cNvPr id="10" name="组合 38"/>
          <p:cNvGrpSpPr/>
          <p:nvPr/>
        </p:nvGrpSpPr>
        <p:grpSpPr>
          <a:xfrm>
            <a:off x="9721800" y="129960"/>
            <a:ext cx="2435040" cy="601560"/>
            <a:chOff x="9721800" y="129960"/>
            <a:chExt cx="2435040" cy="601560"/>
          </a:xfrm>
        </p:grpSpPr>
        <p:pic>
          <p:nvPicPr>
            <p:cNvPr id="11" name="图片 39"/>
            <p:cNvPicPr/>
            <p:nvPr/>
          </p:nvPicPr>
          <p:blipFill>
            <a:blip r:embed="rId2"/>
            <a:stretch/>
          </p:blipFill>
          <p:spPr>
            <a:xfrm>
              <a:off x="9721800" y="129960"/>
              <a:ext cx="838080" cy="601560"/>
            </a:xfrm>
            <a:prstGeom prst="rect">
              <a:avLst/>
            </a:prstGeom>
            <a:noFill/>
            <a:ln w="38160">
              <a:noFill/>
            </a:ln>
          </p:spPr>
        </p:pic>
        <p:pic>
          <p:nvPicPr>
            <p:cNvPr id="12" name="图片 40"/>
            <p:cNvPicPr/>
            <p:nvPr/>
          </p:nvPicPr>
          <p:blipFill>
            <a:blip r:embed="rId3"/>
            <a:srcRect l="3302" t="0" r="0" b="-95"/>
            <a:stretch/>
          </p:blipFill>
          <p:spPr>
            <a:xfrm>
              <a:off x="10550880" y="129960"/>
              <a:ext cx="1605960" cy="601560"/>
            </a:xfrm>
            <a:prstGeom prst="rect">
              <a:avLst/>
            </a:prstGeom>
            <a:noFill/>
            <a:ln w="38160">
              <a:noFill/>
            </a:ln>
          </p:spPr>
        </p:pic>
      </p:grpSp>
      <p:sp>
        <p:nvSpPr>
          <p:cNvPr id="13" name="Text 0"/>
          <p:cNvSpPr/>
          <p:nvPr/>
        </p:nvSpPr>
        <p:spPr>
          <a:xfrm>
            <a:off x="521208" y="182880"/>
            <a:ext cx="6931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302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案例1｜同批产品局部发酸</a:t>
            </a:r>
            <a:endParaRPr lang="en-US" sz="2800" dirty="0"/>
          </a:p>
        </p:txBody>
      </p:sp>
      <p:sp>
        <p:nvSpPr>
          <p:cNvPr id="14" name="Shape 1"/>
          <p:cNvSpPr/>
          <p:nvPr/>
        </p:nvSpPr>
        <p:spPr>
          <a:xfrm>
            <a:off x="594360" y="1161288"/>
            <a:ext cx="11009376" cy="685800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15" name="Text 2"/>
          <p:cNvSpPr/>
          <p:nvPr/>
        </p:nvSpPr>
        <p:spPr>
          <a:xfrm>
            <a:off x="795528" y="136245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</a:t>
            </a:r>
            <a:endParaRPr lang="en-US" sz="1600" dirty="0"/>
          </a:p>
        </p:txBody>
      </p:sp>
      <p:sp>
        <p:nvSpPr>
          <p:cNvPr id="16" name="Text 3"/>
          <p:cNvSpPr/>
          <p:nvPr/>
        </p:nvSpPr>
        <p:spPr>
          <a:xfrm>
            <a:off x="1719072" y="1298448"/>
            <a:ext cx="9564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同批平均水分 24%，少数包两个月后发酸，最简单怎么比？</a:t>
            </a:r>
            <a:endParaRPr lang="en-US" sz="2000" dirty="0"/>
          </a:p>
        </p:txBody>
      </p:sp>
      <p:sp>
        <p:nvSpPr>
          <p:cNvPr id="17" name="Text 4"/>
          <p:cNvSpPr/>
          <p:nvPr/>
        </p:nvSpPr>
        <p:spPr>
          <a:xfrm>
            <a:off x="630936" y="2057400"/>
            <a:ext cx="1095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先比较同批、同龄、同储藏条件下的异常包与正常包。</a:t>
            </a:r>
            <a:endParaRPr lang="en-US" sz="2400" dirty="0"/>
          </a:p>
        </p:txBody>
      </p:sp>
      <p:sp>
        <p:nvSpPr>
          <p:cNvPr id="18" name="Text 5"/>
          <p:cNvSpPr/>
          <p:nvPr/>
        </p:nvSpPr>
        <p:spPr>
          <a:xfrm>
            <a:off x="594360" y="64556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半干面质量与卫生控制  /  案例讨论</a:t>
            </a:r>
            <a:endParaRPr lang="en-US" sz="900" dirty="0"/>
          </a:p>
        </p:txBody>
      </p:sp>
      <p:sp>
        <p:nvSpPr>
          <p:cNvPr id="19" name="Text 6"/>
          <p:cNvSpPr/>
          <p:nvPr/>
        </p:nvSpPr>
        <p:spPr>
          <a:xfrm>
            <a:off x="10972800" y="6419088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20" name="Shape 7"/>
          <p:cNvSpPr/>
          <p:nvPr/>
        </p:nvSpPr>
        <p:spPr>
          <a:xfrm>
            <a:off x="603504" y="2889504"/>
            <a:ext cx="3465576" cy="2194560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21" name="Text 8"/>
          <p:cNvSpPr/>
          <p:nvPr/>
        </p:nvSpPr>
        <p:spPr>
          <a:xfrm>
            <a:off x="804672" y="3063240"/>
            <a:ext cx="3063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怎么取样</a:t>
            </a:r>
            <a:endParaRPr lang="en-US" sz="2200" dirty="0"/>
          </a:p>
        </p:txBody>
      </p:sp>
      <p:sp>
        <p:nvSpPr>
          <p:cNvPr id="22" name="Text 9"/>
          <p:cNvSpPr/>
          <p:nvPr/>
        </p:nvSpPr>
        <p:spPr>
          <a:xfrm>
            <a:off x="804672" y="3621024"/>
            <a:ext cx="306324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异常包与正常包各 3–5 包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有条件时加入同日留样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逐包编号、逐包检测，不混样</a:t>
            </a:r>
            <a:endParaRPr lang="en-US" sz="1800" dirty="0"/>
          </a:p>
        </p:txBody>
      </p:sp>
      <p:sp>
        <p:nvSpPr>
          <p:cNvPr id="23" name="Shape 10"/>
          <p:cNvSpPr/>
          <p:nvPr/>
        </p:nvSpPr>
        <p:spPr>
          <a:xfrm>
            <a:off x="4370832" y="2889504"/>
            <a:ext cx="3465576" cy="2194560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24" name="Text 11"/>
          <p:cNvSpPr/>
          <p:nvPr/>
        </p:nvSpPr>
        <p:spPr>
          <a:xfrm>
            <a:off x="4572000" y="3063240"/>
            <a:ext cx="3063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最少测什么</a:t>
            </a:r>
            <a:endParaRPr lang="en-US" sz="2200" dirty="0"/>
          </a:p>
        </p:txBody>
      </p:sp>
      <p:sp>
        <p:nvSpPr>
          <p:cNvPr id="25" name="Text 12"/>
          <p:cNvSpPr/>
          <p:nvPr/>
        </p:nvSpPr>
        <p:spPr>
          <a:xfrm>
            <a:off x="4572000" y="3621024"/>
            <a:ext cx="306324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水分与水分活度 aw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与滴定酸度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按目标检测产酸菌、酵母等</a:t>
            </a:r>
            <a:endParaRPr lang="en-US" sz="1800" dirty="0"/>
          </a:p>
        </p:txBody>
      </p:sp>
      <p:sp>
        <p:nvSpPr>
          <p:cNvPr id="26" name="Shape 13"/>
          <p:cNvSpPr/>
          <p:nvPr/>
        </p:nvSpPr>
        <p:spPr>
          <a:xfrm>
            <a:off x="8138160" y="2889504"/>
            <a:ext cx="3465576" cy="2194560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27" name="Text 14"/>
          <p:cNvSpPr/>
          <p:nvPr/>
        </p:nvSpPr>
        <p:spPr>
          <a:xfrm>
            <a:off x="8339328" y="3063240"/>
            <a:ext cx="3063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保持哪些一致</a:t>
            </a:r>
            <a:endParaRPr lang="en-US" sz="2200" dirty="0"/>
          </a:p>
        </p:txBody>
      </p:sp>
      <p:sp>
        <p:nvSpPr>
          <p:cNvPr id="28" name="Text 15"/>
          <p:cNvSpPr/>
          <p:nvPr/>
        </p:nvSpPr>
        <p:spPr>
          <a:xfrm>
            <a:off x="8339328" y="3621024"/>
            <a:ext cx="306324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储藏时间与温度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封口完整性、包装位置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取样方法；先无菌取微生物样</a:t>
            </a:r>
            <a:endParaRPr lang="en-US" sz="1800" dirty="0"/>
          </a:p>
        </p:txBody>
      </p:sp>
      <p:sp>
        <p:nvSpPr>
          <p:cNvPr id="29" name="Text 16"/>
          <p:cNvSpPr/>
          <p:nvPr/>
        </p:nvSpPr>
        <p:spPr>
          <a:xfrm>
            <a:off x="640080" y="5449824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怎么判断</a:t>
            </a:r>
            <a:endParaRPr lang="en-US" sz="2000" dirty="0"/>
          </a:p>
        </p:txBody>
      </p:sp>
      <p:sp>
        <p:nvSpPr>
          <p:cNvPr id="30" name="Text 17"/>
          <p:cNvSpPr/>
          <p:nvPr/>
        </p:nvSpPr>
        <p:spPr>
          <a:xfrm>
            <a:off x="2432304" y="5385816"/>
            <a:ext cx="90891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降低、酸度升高并伴产酸菌增加 → 支持微生物产酸。</a:t>
            </a:r>
            <a:endParaRPr lang="en-US" sz="18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若异常包 aw 偏高或封口异常 → 进一步查局部干燥、包装与储藏。</a:t>
            </a:r>
            <a:endParaRPr lang="en-US" sz="1800" dirty="0"/>
          </a:p>
        </p:txBody>
      </p:sp>
      <p:sp>
        <p:nvSpPr>
          <p:cNvPr id="31" name="Text 18"/>
          <p:cNvSpPr/>
          <p:nvPr/>
        </p:nvSpPr>
        <p:spPr>
          <a:xfrm>
            <a:off x="630936" y="6254496"/>
            <a:ext cx="10908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8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平均水分会掩盖单包差异，水分含量也不等于 aw；3–5 包仅用于初筛，不能作为整批放行依据。</a:t>
            </a:r>
            <a:endParaRPr lang="en-US" sz="1000" dirty="0"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33"/>
          <p:cNvSpPr/>
          <p:nvPr/>
        </p:nvSpPr>
        <p:spPr>
          <a:xfrm>
            <a:off x="253800" y="179280"/>
            <a:ext cx="165240" cy="441360"/>
          </a:xfrm>
          <a:prstGeom prst="rect">
            <a:avLst/>
          </a:prstGeom>
          <a:gradFill rotWithShape="0">
            <a:gsLst>
              <a:gs pos="0">
                <a:srgbClr val="56AD3C"/>
              </a:gs>
              <a:gs pos="100000">
                <a:srgbClr val="51B534"/>
              </a:gs>
            </a:gsLst>
            <a:lin ang="10800000"/>
          </a:gra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矩形 34"/>
          <p:cNvSpPr/>
          <p:nvPr/>
        </p:nvSpPr>
        <p:spPr>
          <a:xfrm>
            <a:off x="125280" y="174600"/>
            <a:ext cx="76320" cy="446040"/>
          </a:xfrm>
          <a:prstGeom prst="rect">
            <a:avLst/>
          </a:prstGeom>
          <a:gradFill rotWithShape="0">
            <a:gsLst>
              <a:gs pos="0">
                <a:srgbClr val="56AD3C"/>
              </a:gs>
              <a:gs pos="100000">
                <a:srgbClr val="51B534"/>
              </a:gs>
            </a:gsLst>
            <a:lin ang="10800000"/>
          </a:gra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图片 44"/>
          <p:cNvPicPr/>
          <p:nvPr/>
        </p:nvPicPr>
        <p:blipFill>
          <a:blip r:embed="rId1"/>
          <a:stretch/>
        </p:blipFill>
        <p:spPr>
          <a:xfrm>
            <a:off x="7764120" y="114120"/>
            <a:ext cx="1860840" cy="652320"/>
          </a:xfrm>
          <a:prstGeom prst="rect">
            <a:avLst/>
          </a:prstGeom>
          <a:noFill/>
          <a:ln w="38160">
            <a:noFill/>
          </a:ln>
        </p:spPr>
      </p:pic>
      <p:grpSp>
        <p:nvGrpSpPr>
          <p:cNvPr id="10" name="组合 38"/>
          <p:cNvGrpSpPr/>
          <p:nvPr/>
        </p:nvGrpSpPr>
        <p:grpSpPr>
          <a:xfrm>
            <a:off x="9721800" y="129960"/>
            <a:ext cx="2435040" cy="601560"/>
            <a:chOff x="9721800" y="129960"/>
            <a:chExt cx="2435040" cy="601560"/>
          </a:xfrm>
        </p:grpSpPr>
        <p:pic>
          <p:nvPicPr>
            <p:cNvPr id="11" name="图片 39"/>
            <p:cNvPicPr/>
            <p:nvPr/>
          </p:nvPicPr>
          <p:blipFill>
            <a:blip r:embed="rId2"/>
            <a:stretch/>
          </p:blipFill>
          <p:spPr>
            <a:xfrm>
              <a:off x="9721800" y="129960"/>
              <a:ext cx="838080" cy="601560"/>
            </a:xfrm>
            <a:prstGeom prst="rect">
              <a:avLst/>
            </a:prstGeom>
            <a:noFill/>
            <a:ln w="38160">
              <a:noFill/>
            </a:ln>
          </p:spPr>
        </p:pic>
        <p:pic>
          <p:nvPicPr>
            <p:cNvPr id="12" name="图片 40"/>
            <p:cNvPicPr/>
            <p:nvPr/>
          </p:nvPicPr>
          <p:blipFill>
            <a:blip r:embed="rId3"/>
            <a:srcRect l="3302" t="0" r="0" b="-95"/>
            <a:stretch/>
          </p:blipFill>
          <p:spPr>
            <a:xfrm>
              <a:off x="10550880" y="129960"/>
              <a:ext cx="1605960" cy="601560"/>
            </a:xfrm>
            <a:prstGeom prst="rect">
              <a:avLst/>
            </a:prstGeom>
            <a:noFill/>
            <a:ln w="38160">
              <a:noFill/>
            </a:ln>
          </p:spPr>
        </p:pic>
      </p:grpSp>
      <p:sp>
        <p:nvSpPr>
          <p:cNvPr id="13" name="Text 0"/>
          <p:cNvSpPr/>
          <p:nvPr/>
        </p:nvSpPr>
        <p:spPr>
          <a:xfrm>
            <a:off x="521208" y="182880"/>
            <a:ext cx="6931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302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案例2｜同配方，两批表现不同</a:t>
            </a:r>
            <a:endParaRPr lang="en-US" sz="2800" dirty="0"/>
          </a:p>
        </p:txBody>
      </p:sp>
      <p:sp>
        <p:nvSpPr>
          <p:cNvPr id="14" name="Shape 1"/>
          <p:cNvSpPr/>
          <p:nvPr/>
        </p:nvSpPr>
        <p:spPr>
          <a:xfrm>
            <a:off x="594360" y="1161288"/>
            <a:ext cx="11009376" cy="685800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15" name="Text 2"/>
          <p:cNvSpPr/>
          <p:nvPr/>
        </p:nvSpPr>
        <p:spPr>
          <a:xfrm>
            <a:off x="795528" y="136245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</a:t>
            </a:r>
            <a:endParaRPr lang="en-US" sz="1600" dirty="0"/>
          </a:p>
        </p:txBody>
      </p:sp>
      <p:sp>
        <p:nvSpPr>
          <p:cNvPr id="16" name="Text 3"/>
          <p:cNvSpPr/>
          <p:nvPr/>
        </p:nvSpPr>
        <p:spPr>
          <a:xfrm>
            <a:off x="1719072" y="1298448"/>
            <a:ext cx="9564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同配方、同包装，一批正常一批发酸，先查记录还是取样？</a:t>
            </a:r>
            <a:endParaRPr lang="en-US" sz="2000" dirty="0"/>
          </a:p>
        </p:txBody>
      </p:sp>
      <p:sp>
        <p:nvSpPr>
          <p:cNvPr id="17" name="Text 4"/>
          <p:cNvSpPr/>
          <p:nvPr/>
        </p:nvSpPr>
        <p:spPr>
          <a:xfrm>
            <a:off x="630936" y="2057400"/>
            <a:ext cx="1095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先沿生产时间线比记录，再用同阶段对照样定位异常环节。</a:t>
            </a:r>
            <a:endParaRPr lang="en-US" sz="2400" dirty="0"/>
          </a:p>
        </p:txBody>
      </p:sp>
      <p:sp>
        <p:nvSpPr>
          <p:cNvPr id="18" name="Text 5"/>
          <p:cNvSpPr/>
          <p:nvPr/>
        </p:nvSpPr>
        <p:spPr>
          <a:xfrm>
            <a:off x="594360" y="64556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半干面质量与卫生控制  /  案例讨论</a:t>
            </a:r>
            <a:endParaRPr lang="en-US" sz="900" dirty="0"/>
          </a:p>
        </p:txBody>
      </p:sp>
      <p:sp>
        <p:nvSpPr>
          <p:cNvPr id="19" name="Text 6"/>
          <p:cNvSpPr/>
          <p:nvPr/>
        </p:nvSpPr>
        <p:spPr>
          <a:xfrm>
            <a:off x="10972800" y="6419088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Shape 7"/>
          <p:cNvSpPr/>
          <p:nvPr/>
        </p:nvSpPr>
        <p:spPr>
          <a:xfrm>
            <a:off x="603504" y="2871216"/>
            <a:ext cx="5294376" cy="2569464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21" name="Text 8"/>
          <p:cNvSpPr/>
          <p:nvPr/>
        </p:nvSpPr>
        <p:spPr>
          <a:xfrm>
            <a:off x="822960" y="3054096"/>
            <a:ext cx="4855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优先看五类生产记录</a:t>
            </a:r>
            <a:endParaRPr lang="en-US" sz="2200" dirty="0"/>
          </a:p>
        </p:txBody>
      </p:sp>
      <p:sp>
        <p:nvSpPr>
          <p:cNvPr id="22" name="Text 9"/>
          <p:cNvSpPr/>
          <p:nvPr/>
        </p:nvSpPr>
        <p:spPr>
          <a:xfrm>
            <a:off x="850392" y="365760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原料 / 投料</a:t>
            </a:r>
            <a:endParaRPr lang="en-US" sz="1400" dirty="0"/>
          </a:p>
        </p:txBody>
      </p:sp>
      <p:sp>
        <p:nvSpPr>
          <p:cNvPr id="23" name="Text 10"/>
          <p:cNvSpPr/>
          <p:nvPr/>
        </p:nvSpPr>
        <p:spPr>
          <a:xfrm>
            <a:off x="2221992" y="3657600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原料批号、加水、配料与返工</a:t>
            </a:r>
            <a:endParaRPr lang="en-US" sz="1500" dirty="0"/>
          </a:p>
        </p:txBody>
      </p:sp>
      <p:sp>
        <p:nvSpPr>
          <p:cNvPr id="24" name="Text 11"/>
          <p:cNvSpPr/>
          <p:nvPr/>
        </p:nvSpPr>
        <p:spPr>
          <a:xfrm>
            <a:off x="850392" y="3968496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等待时间</a:t>
            </a:r>
            <a:endParaRPr lang="en-US" sz="1400" dirty="0"/>
          </a:p>
        </p:txBody>
      </p:sp>
      <p:sp>
        <p:nvSpPr>
          <p:cNvPr id="25" name="Text 12"/>
          <p:cNvSpPr/>
          <p:nvPr/>
        </p:nvSpPr>
        <p:spPr>
          <a:xfrm>
            <a:off x="2221992" y="396849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成型、烘烤、冷却、包装间隔</a:t>
            </a:r>
            <a:endParaRPr lang="en-US" sz="1500" dirty="0"/>
          </a:p>
        </p:txBody>
      </p:sp>
      <p:sp>
        <p:nvSpPr>
          <p:cNvPr id="26" name="Text 13"/>
          <p:cNvSpPr/>
          <p:nvPr/>
        </p:nvSpPr>
        <p:spPr>
          <a:xfrm>
            <a:off x="850392" y="427939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受热 / 干燥</a:t>
            </a:r>
            <a:endParaRPr lang="en-US" sz="1400" dirty="0"/>
          </a:p>
        </p:txBody>
      </p:sp>
      <p:sp>
        <p:nvSpPr>
          <p:cNvPr id="27" name="Text 14"/>
          <p:cNvSpPr/>
          <p:nvPr/>
        </p:nvSpPr>
        <p:spPr>
          <a:xfrm>
            <a:off x="2221992" y="4279392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实测温度—时间、终点水分与 aw</a:t>
            </a:r>
            <a:endParaRPr lang="en-US" sz="1500" dirty="0"/>
          </a:p>
        </p:txBody>
      </p:sp>
      <p:sp>
        <p:nvSpPr>
          <p:cNvPr id="28" name="Text 15"/>
          <p:cNvSpPr/>
          <p:nvPr/>
        </p:nvSpPr>
        <p:spPr>
          <a:xfrm>
            <a:off x="850392" y="459028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冷却 / 包装</a:t>
            </a:r>
            <a:endParaRPr lang="en-US" sz="1400" dirty="0"/>
          </a:p>
        </p:txBody>
      </p:sp>
      <p:sp>
        <p:nvSpPr>
          <p:cNvPr id="29" name="Text 16"/>
          <p:cNvSpPr/>
          <p:nvPr/>
        </p:nvSpPr>
        <p:spPr>
          <a:xfrm>
            <a:off x="2221992" y="4590288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暴露时间、产品温度、封口完整性</a:t>
            </a:r>
            <a:endParaRPr lang="en-US" sz="1500" dirty="0"/>
          </a:p>
        </p:txBody>
      </p:sp>
      <p:sp>
        <p:nvSpPr>
          <p:cNvPr id="30" name="Text 17"/>
          <p:cNvSpPr/>
          <p:nvPr/>
        </p:nvSpPr>
        <p:spPr>
          <a:xfrm>
            <a:off x="850392" y="490118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卫生 / 仓储</a:t>
            </a:r>
            <a:endParaRPr lang="en-US" sz="1400" dirty="0"/>
          </a:p>
        </p:txBody>
      </p:sp>
      <p:sp>
        <p:nvSpPr>
          <p:cNvPr id="31" name="Text 18"/>
          <p:cNvSpPr/>
          <p:nvPr/>
        </p:nvSpPr>
        <p:spPr>
          <a:xfrm>
            <a:off x="2221992" y="4901184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清洁异常、停机变更、温湿度</a:t>
            </a:r>
            <a:endParaRPr lang="en-US" sz="1500" dirty="0"/>
          </a:p>
        </p:txBody>
      </p:sp>
      <p:sp>
        <p:nvSpPr>
          <p:cNvPr id="32" name="Text 19"/>
          <p:cNvSpPr/>
          <p:nvPr/>
        </p:nvSpPr>
        <p:spPr>
          <a:xfrm>
            <a:off x="6428232" y="3054096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优先取哪些对照样</a:t>
            </a:r>
            <a:endParaRPr lang="en-US" sz="2200" dirty="0"/>
          </a:p>
        </p:txBody>
      </p:sp>
      <p:sp>
        <p:nvSpPr>
          <p:cNvPr id="33" name="Shape 20"/>
          <p:cNvSpPr/>
          <p:nvPr/>
        </p:nvSpPr>
        <p:spPr>
          <a:xfrm>
            <a:off x="6428232" y="3648456"/>
            <a:ext cx="347472" cy="347472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34" name="Text 21"/>
          <p:cNvSpPr/>
          <p:nvPr/>
        </p:nvSpPr>
        <p:spPr>
          <a:xfrm>
            <a:off x="6428232" y="36850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22"/>
          <p:cNvSpPr/>
          <p:nvPr/>
        </p:nvSpPr>
        <p:spPr>
          <a:xfrm>
            <a:off x="7095744" y="3694176"/>
            <a:ext cx="4270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原料或成型前</a:t>
            </a:r>
            <a:endParaRPr lang="en-US" sz="1800" dirty="0"/>
          </a:p>
        </p:txBody>
      </p:sp>
      <p:sp>
        <p:nvSpPr>
          <p:cNvPr id="36" name="Shape 23"/>
          <p:cNvSpPr/>
          <p:nvPr/>
        </p:nvSpPr>
        <p:spPr>
          <a:xfrm>
            <a:off x="6428232" y="4078224"/>
            <a:ext cx="347472" cy="347472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37" name="Text 24"/>
          <p:cNvSpPr/>
          <p:nvPr/>
        </p:nvSpPr>
        <p:spPr>
          <a:xfrm>
            <a:off x="6428232" y="41148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25"/>
          <p:cNvSpPr/>
          <p:nvPr/>
        </p:nvSpPr>
        <p:spPr>
          <a:xfrm>
            <a:off x="7095744" y="4123944"/>
            <a:ext cx="4270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烘烤前 / 烘烤后</a:t>
            </a:r>
            <a:endParaRPr lang="en-US" sz="1800" dirty="0"/>
          </a:p>
        </p:txBody>
      </p:sp>
      <p:sp>
        <p:nvSpPr>
          <p:cNvPr id="39" name="Shape 26"/>
          <p:cNvSpPr/>
          <p:nvPr/>
        </p:nvSpPr>
        <p:spPr>
          <a:xfrm>
            <a:off x="6428232" y="4507992"/>
            <a:ext cx="347472" cy="347472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40" name="Text 27"/>
          <p:cNvSpPr/>
          <p:nvPr/>
        </p:nvSpPr>
        <p:spPr>
          <a:xfrm>
            <a:off x="6428232" y="454456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7095744" y="4553712"/>
            <a:ext cx="4270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冷却后 / 包装前</a:t>
            </a:r>
            <a:endParaRPr lang="en-US" sz="1800" dirty="0"/>
          </a:p>
        </p:txBody>
      </p:sp>
      <p:sp>
        <p:nvSpPr>
          <p:cNvPr id="42" name="Shape 29"/>
          <p:cNvSpPr/>
          <p:nvPr/>
        </p:nvSpPr>
        <p:spPr>
          <a:xfrm>
            <a:off x="6428232" y="4937760"/>
            <a:ext cx="347472" cy="347472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43" name="Text 30"/>
          <p:cNvSpPr/>
          <p:nvPr/>
        </p:nvSpPr>
        <p:spPr>
          <a:xfrm>
            <a:off x="6428232" y="497433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Text 31"/>
          <p:cNvSpPr/>
          <p:nvPr/>
        </p:nvSpPr>
        <p:spPr>
          <a:xfrm>
            <a:off x="7095744" y="4983480"/>
            <a:ext cx="4270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成品及同龄留样</a:t>
            </a:r>
            <a:endParaRPr lang="en-US" sz="1800" dirty="0"/>
          </a:p>
        </p:txBody>
      </p:sp>
      <p:sp>
        <p:nvSpPr>
          <p:cNvPr id="45" name="Shape 32"/>
          <p:cNvSpPr/>
          <p:nvPr/>
        </p:nvSpPr>
        <p:spPr>
          <a:xfrm>
            <a:off x="603504" y="5632704"/>
            <a:ext cx="11000232" cy="576072"/>
          </a:xfrm>
          <a:prstGeom prst="roundRect">
            <a:avLst/>
          </a:prstGeom>
          <a:solidFill>
            <a:srgbClr val="FBF4EB"/>
          </a:solidFill>
          <a:ln w="12700">
            <a:solidFill>
              <a:srgbClr val="FBF4EB"/>
            </a:solidFill>
            <a:prstDash val="solid"/>
          </a:ln>
        </p:spPr>
      </p:sp>
      <p:sp>
        <p:nvSpPr>
          <p:cNvPr id="46" name="Text 33"/>
          <p:cNvSpPr/>
          <p:nvPr/>
        </p:nvSpPr>
        <p:spPr>
          <a:xfrm>
            <a:off x="832104" y="5815584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67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定位逻辑</a:t>
            </a:r>
            <a:endParaRPr lang="en-US" sz="1600" dirty="0"/>
          </a:p>
        </p:txBody>
      </p:sp>
      <p:sp>
        <p:nvSpPr>
          <p:cNvPr id="47" name="Text 34"/>
          <p:cNvSpPr/>
          <p:nvPr/>
        </p:nvSpPr>
        <p:spPr>
          <a:xfrm>
            <a:off x="2450592" y="576072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烘烤后菌数偏高 → 查原料与热处理；冷却后菌数升高 → 查再污染；成品变化 → 查包装储藏。</a:t>
            </a:r>
            <a:endParaRPr lang="en-US" sz="1500" dirty="0"/>
          </a:p>
        </p:txBody>
      </p:sp>
      <p:sp>
        <p:nvSpPr>
          <p:cNvPr id="48" name="Text 35"/>
          <p:cNvSpPr/>
          <p:nvPr/>
        </p:nvSpPr>
        <p:spPr>
          <a:xfrm>
            <a:off x="630936" y="6254496"/>
            <a:ext cx="10927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先调已有过程留样；无留样时在下一次生产布点。正常批对照须同龄、同条件，当前擦拭结果不能还原两个月前的卫生状态。</a:t>
            </a:r>
            <a:endParaRPr lang="en-US" sz="950" dirty="0"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33"/>
          <p:cNvSpPr/>
          <p:nvPr/>
        </p:nvSpPr>
        <p:spPr>
          <a:xfrm>
            <a:off x="253800" y="179280"/>
            <a:ext cx="165240" cy="441360"/>
          </a:xfrm>
          <a:prstGeom prst="rect">
            <a:avLst/>
          </a:prstGeom>
          <a:gradFill rotWithShape="0">
            <a:gsLst>
              <a:gs pos="0">
                <a:srgbClr val="56AD3C"/>
              </a:gs>
              <a:gs pos="100000">
                <a:srgbClr val="51B534"/>
              </a:gs>
            </a:gsLst>
            <a:lin ang="10800000"/>
          </a:gra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矩形 34"/>
          <p:cNvSpPr/>
          <p:nvPr/>
        </p:nvSpPr>
        <p:spPr>
          <a:xfrm>
            <a:off x="125280" y="174600"/>
            <a:ext cx="76320" cy="446040"/>
          </a:xfrm>
          <a:prstGeom prst="rect">
            <a:avLst/>
          </a:prstGeom>
          <a:gradFill rotWithShape="0">
            <a:gsLst>
              <a:gs pos="0">
                <a:srgbClr val="56AD3C"/>
              </a:gs>
              <a:gs pos="100000">
                <a:srgbClr val="51B534"/>
              </a:gs>
            </a:gsLst>
            <a:lin ang="10800000"/>
          </a:gra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图片 44"/>
          <p:cNvPicPr/>
          <p:nvPr/>
        </p:nvPicPr>
        <p:blipFill>
          <a:blip r:embed="rId1"/>
          <a:stretch/>
        </p:blipFill>
        <p:spPr>
          <a:xfrm>
            <a:off x="7764120" y="114120"/>
            <a:ext cx="1860840" cy="652320"/>
          </a:xfrm>
          <a:prstGeom prst="rect">
            <a:avLst/>
          </a:prstGeom>
          <a:noFill/>
          <a:ln w="38160">
            <a:noFill/>
          </a:ln>
        </p:spPr>
      </p:pic>
      <p:grpSp>
        <p:nvGrpSpPr>
          <p:cNvPr id="10" name="组合 38"/>
          <p:cNvGrpSpPr/>
          <p:nvPr/>
        </p:nvGrpSpPr>
        <p:grpSpPr>
          <a:xfrm>
            <a:off x="9721800" y="129960"/>
            <a:ext cx="2435040" cy="601560"/>
            <a:chOff x="9721800" y="129960"/>
            <a:chExt cx="2435040" cy="601560"/>
          </a:xfrm>
        </p:grpSpPr>
        <p:pic>
          <p:nvPicPr>
            <p:cNvPr id="11" name="图片 39"/>
            <p:cNvPicPr/>
            <p:nvPr/>
          </p:nvPicPr>
          <p:blipFill>
            <a:blip r:embed="rId2"/>
            <a:stretch/>
          </p:blipFill>
          <p:spPr>
            <a:xfrm>
              <a:off x="9721800" y="129960"/>
              <a:ext cx="838080" cy="601560"/>
            </a:xfrm>
            <a:prstGeom prst="rect">
              <a:avLst/>
            </a:prstGeom>
            <a:noFill/>
            <a:ln w="38160">
              <a:noFill/>
            </a:ln>
          </p:spPr>
        </p:pic>
        <p:pic>
          <p:nvPicPr>
            <p:cNvPr id="12" name="图片 40"/>
            <p:cNvPicPr/>
            <p:nvPr/>
          </p:nvPicPr>
          <p:blipFill>
            <a:blip r:embed="rId3"/>
            <a:srcRect l="3302" t="0" r="0" b="-95"/>
            <a:stretch/>
          </p:blipFill>
          <p:spPr>
            <a:xfrm>
              <a:off x="10550880" y="129960"/>
              <a:ext cx="1605960" cy="601560"/>
            </a:xfrm>
            <a:prstGeom prst="rect">
              <a:avLst/>
            </a:prstGeom>
            <a:noFill/>
            <a:ln w="38160">
              <a:noFill/>
            </a:ln>
          </p:spPr>
        </p:pic>
      </p:grpSp>
      <p:sp>
        <p:nvSpPr>
          <p:cNvPr id="13" name="Text 0"/>
          <p:cNvSpPr/>
          <p:nvPr/>
        </p:nvSpPr>
        <p:spPr>
          <a:xfrm>
            <a:off x="521208" y="182880"/>
            <a:ext cx="6931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302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案例3｜白布清洗消毒后验证</a:t>
            </a:r>
            <a:endParaRPr lang="en-US" sz="2800" dirty="0"/>
          </a:p>
        </p:txBody>
      </p:sp>
      <p:sp>
        <p:nvSpPr>
          <p:cNvPr id="14" name="Shape 1"/>
          <p:cNvSpPr/>
          <p:nvPr/>
        </p:nvSpPr>
        <p:spPr>
          <a:xfrm>
            <a:off x="594360" y="1161288"/>
            <a:ext cx="11009376" cy="685800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15" name="Text 2"/>
          <p:cNvSpPr/>
          <p:nvPr/>
        </p:nvSpPr>
        <p:spPr>
          <a:xfrm>
            <a:off x="795528" y="136245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</a:t>
            </a:r>
            <a:endParaRPr lang="en-US" sz="1600" dirty="0"/>
          </a:p>
        </p:txBody>
      </p:sp>
      <p:sp>
        <p:nvSpPr>
          <p:cNvPr id="16" name="Text 3"/>
          <p:cNvSpPr/>
          <p:nvPr/>
        </p:nvSpPr>
        <p:spPr>
          <a:xfrm>
            <a:off x="1719072" y="1298448"/>
            <a:ext cx="9564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白布清洗消毒并晒干后，用 ATP 还是微生物擦拭判断有效？</a:t>
            </a:r>
            <a:endParaRPr lang="en-US" sz="2000" dirty="0"/>
          </a:p>
        </p:txBody>
      </p:sp>
      <p:sp>
        <p:nvSpPr>
          <p:cNvPr id="17" name="Text 4"/>
          <p:cNvSpPr/>
          <p:nvPr/>
        </p:nvSpPr>
        <p:spPr>
          <a:xfrm>
            <a:off x="630936" y="2057400"/>
            <a:ext cx="1095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ATP 适合清洁快检；微生物检测用于卫生效果验证，两者互补。</a:t>
            </a:r>
            <a:endParaRPr lang="en-US" sz="2400" dirty="0"/>
          </a:p>
        </p:txBody>
      </p:sp>
      <p:sp>
        <p:nvSpPr>
          <p:cNvPr id="18" name="Text 5"/>
          <p:cNvSpPr/>
          <p:nvPr/>
        </p:nvSpPr>
        <p:spPr>
          <a:xfrm>
            <a:off x="594360" y="64556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半干面质量与卫生控制  /  案例讨论</a:t>
            </a:r>
            <a:endParaRPr lang="en-US" sz="900" dirty="0"/>
          </a:p>
        </p:txBody>
      </p:sp>
      <p:sp>
        <p:nvSpPr>
          <p:cNvPr id="19" name="Text 6"/>
          <p:cNvSpPr/>
          <p:nvPr/>
        </p:nvSpPr>
        <p:spPr>
          <a:xfrm>
            <a:off x="10972800" y="6419088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7"/>
          <p:cNvSpPr/>
          <p:nvPr/>
        </p:nvSpPr>
        <p:spPr>
          <a:xfrm>
            <a:off x="2249424" y="2852928"/>
            <a:ext cx="4617720" cy="429768"/>
          </a:xfrm>
          <a:prstGeom prst="roundRect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21" name="Shape 8"/>
          <p:cNvSpPr/>
          <p:nvPr/>
        </p:nvSpPr>
        <p:spPr>
          <a:xfrm>
            <a:off x="7031736" y="2852928"/>
            <a:ext cx="4535424" cy="429768"/>
          </a:xfrm>
          <a:prstGeom prst="roundRect">
            <a:avLst/>
          </a:prstGeom>
          <a:solidFill>
            <a:srgbClr val="235C29"/>
          </a:solidFill>
          <a:ln w="12700">
            <a:solidFill>
              <a:srgbClr val="235C29"/>
            </a:solidFill>
            <a:prstDash val="solid"/>
          </a:ln>
        </p:spPr>
      </p:sp>
      <p:sp>
        <p:nvSpPr>
          <p:cNvPr id="22" name="Text 9"/>
          <p:cNvSpPr/>
          <p:nvPr/>
        </p:nvSpPr>
        <p:spPr>
          <a:xfrm>
            <a:off x="2423160" y="294436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ATP 快检</a:t>
            </a:r>
            <a:endParaRPr lang="en-US" sz="1900" dirty="0"/>
          </a:p>
        </p:txBody>
      </p:sp>
      <p:sp>
        <p:nvSpPr>
          <p:cNvPr id="23" name="Text 10"/>
          <p:cNvSpPr/>
          <p:nvPr/>
        </p:nvSpPr>
        <p:spPr>
          <a:xfrm>
            <a:off x="7205472" y="2944368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微生物擦拭 / 洗脱</a:t>
            </a:r>
            <a:endParaRPr lang="en-US" sz="1900" dirty="0"/>
          </a:p>
        </p:txBody>
      </p:sp>
      <p:sp>
        <p:nvSpPr>
          <p:cNvPr id="24" name="Text 11"/>
          <p:cNvSpPr/>
          <p:nvPr/>
        </p:nvSpPr>
        <p:spPr>
          <a:xfrm>
            <a:off x="621792" y="3529584"/>
            <a:ext cx="1481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反映什么</a:t>
            </a:r>
            <a:endParaRPr lang="en-US" sz="1900" dirty="0"/>
          </a:p>
        </p:txBody>
      </p:sp>
      <p:sp>
        <p:nvSpPr>
          <p:cNvPr id="25" name="Shape 12"/>
          <p:cNvSpPr/>
          <p:nvPr/>
        </p:nvSpPr>
        <p:spPr>
          <a:xfrm>
            <a:off x="2249424" y="3429000"/>
            <a:ext cx="4617720" cy="585216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26" name="Text 13"/>
          <p:cNvSpPr/>
          <p:nvPr/>
        </p:nvSpPr>
        <p:spPr>
          <a:xfrm>
            <a:off x="2404872" y="3502152"/>
            <a:ext cx="43068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有机残留趋势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包括食品残留与微生物 ATP</a:t>
            </a:r>
            <a:endParaRPr lang="en-US" sz="1600" dirty="0"/>
          </a:p>
        </p:txBody>
      </p:sp>
      <p:sp>
        <p:nvSpPr>
          <p:cNvPr id="27" name="Shape 14"/>
          <p:cNvSpPr/>
          <p:nvPr/>
        </p:nvSpPr>
        <p:spPr>
          <a:xfrm>
            <a:off x="7031736" y="3429000"/>
            <a:ext cx="4535424" cy="585216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28" name="Text 15"/>
          <p:cNvSpPr/>
          <p:nvPr/>
        </p:nvSpPr>
        <p:spPr>
          <a:xfrm>
            <a:off x="7187184" y="3502152"/>
            <a:ext cx="42245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可培养微生物污染情况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不等于所有微生物都能被检出</a:t>
            </a:r>
            <a:endParaRPr lang="en-US" sz="1600" dirty="0"/>
          </a:p>
        </p:txBody>
      </p:sp>
      <p:sp>
        <p:nvSpPr>
          <p:cNvPr id="29" name="Text 16"/>
          <p:cNvSpPr/>
          <p:nvPr/>
        </p:nvSpPr>
        <p:spPr>
          <a:xfrm>
            <a:off x="621792" y="4224528"/>
            <a:ext cx="1481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主要用途</a:t>
            </a:r>
            <a:endParaRPr lang="en-US" sz="1900" dirty="0"/>
          </a:p>
        </p:txBody>
      </p:sp>
      <p:sp>
        <p:nvSpPr>
          <p:cNvPr id="30" name="Shape 17"/>
          <p:cNvSpPr/>
          <p:nvPr/>
        </p:nvSpPr>
        <p:spPr>
          <a:xfrm>
            <a:off x="2249424" y="4123944"/>
            <a:ext cx="461772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18"/>
          <p:cNvSpPr/>
          <p:nvPr/>
        </p:nvSpPr>
        <p:spPr>
          <a:xfrm>
            <a:off x="2404872" y="4197096"/>
            <a:ext cx="43068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即时反馈清洁是否到位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跟踪现场清洁趋势</a:t>
            </a:r>
            <a:endParaRPr lang="en-US" sz="1600" dirty="0"/>
          </a:p>
        </p:txBody>
      </p:sp>
      <p:sp>
        <p:nvSpPr>
          <p:cNvPr id="32" name="Shape 19"/>
          <p:cNvSpPr/>
          <p:nvPr/>
        </p:nvSpPr>
        <p:spPr>
          <a:xfrm>
            <a:off x="7031736" y="4123944"/>
            <a:ext cx="4535424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0"/>
          <p:cNvSpPr/>
          <p:nvPr/>
        </p:nvSpPr>
        <p:spPr>
          <a:xfrm>
            <a:off x="7187184" y="4197096"/>
            <a:ext cx="42245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验证清洗消毒效果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复核存放后、使用前的卫生</a:t>
            </a:r>
            <a:endParaRPr lang="en-US" sz="1600" dirty="0"/>
          </a:p>
        </p:txBody>
      </p:sp>
      <p:sp>
        <p:nvSpPr>
          <p:cNvPr id="34" name="Text 21"/>
          <p:cNvSpPr/>
          <p:nvPr/>
        </p:nvSpPr>
        <p:spPr>
          <a:xfrm>
            <a:off x="621792" y="4919472"/>
            <a:ext cx="1481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主要局限</a:t>
            </a:r>
            <a:endParaRPr lang="en-US" sz="1900" dirty="0"/>
          </a:p>
        </p:txBody>
      </p:sp>
      <p:sp>
        <p:nvSpPr>
          <p:cNvPr id="35" name="Shape 22"/>
          <p:cNvSpPr/>
          <p:nvPr/>
        </p:nvSpPr>
        <p:spPr>
          <a:xfrm>
            <a:off x="2249424" y="4818888"/>
            <a:ext cx="4617720" cy="585216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36" name="Text 23"/>
          <p:cNvSpPr/>
          <p:nvPr/>
        </p:nvSpPr>
        <p:spPr>
          <a:xfrm>
            <a:off x="2404872" y="4892040"/>
            <a:ext cx="43068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不能证明无致病菌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消毒剂可能干扰读数</a:t>
            </a:r>
            <a:endParaRPr lang="en-US" sz="1600" dirty="0"/>
          </a:p>
        </p:txBody>
      </p:sp>
      <p:sp>
        <p:nvSpPr>
          <p:cNvPr id="37" name="Shape 24"/>
          <p:cNvSpPr/>
          <p:nvPr/>
        </p:nvSpPr>
        <p:spPr>
          <a:xfrm>
            <a:off x="7031736" y="4818888"/>
            <a:ext cx="4535424" cy="585216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38" name="Text 25"/>
          <p:cNvSpPr/>
          <p:nvPr/>
        </p:nvSpPr>
        <p:spPr>
          <a:xfrm>
            <a:off x="7187184" y="4892040"/>
            <a:ext cx="42245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培养耗时、布面回收率有限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消毒剂残留可能导致假阴性</a:t>
            </a:r>
            <a:endParaRPr lang="en-US" sz="1600" dirty="0"/>
          </a:p>
        </p:txBody>
      </p:sp>
      <p:sp>
        <p:nvSpPr>
          <p:cNvPr id="39" name="Shape 26"/>
          <p:cNvSpPr/>
          <p:nvPr/>
        </p:nvSpPr>
        <p:spPr>
          <a:xfrm>
            <a:off x="630936" y="5678424"/>
            <a:ext cx="10917936" cy="502920"/>
          </a:xfrm>
          <a:prstGeom prst="roundRect">
            <a:avLst/>
          </a:prstGeom>
          <a:solidFill>
            <a:srgbClr val="FBF4EB"/>
          </a:solidFill>
          <a:ln w="12700">
            <a:solidFill>
              <a:srgbClr val="FBF4EB"/>
            </a:solidFill>
            <a:prstDash val="solid"/>
          </a:ln>
        </p:spPr>
      </p:sp>
      <p:sp>
        <p:nvSpPr>
          <p:cNvPr id="40" name="Text 27"/>
          <p:cNvSpPr/>
          <p:nvPr/>
        </p:nvSpPr>
        <p:spPr>
          <a:xfrm>
            <a:off x="822960" y="582472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67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最简验证</a:t>
            </a:r>
            <a:endParaRPr lang="en-US" sz="1600" dirty="0"/>
          </a:p>
        </p:txBody>
      </p:sp>
      <p:sp>
        <p:nvSpPr>
          <p:cNvPr id="41" name="Text 28"/>
          <p:cNvSpPr/>
          <p:nvPr/>
        </p:nvSpPr>
        <p:spPr>
          <a:xfrm>
            <a:off x="2414016" y="5788152"/>
            <a:ext cx="8897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使用后 → 清洗消毒并干燥后 → 存放至下次使用前；用匹配布样，固定面积与方法。</a:t>
            </a:r>
            <a:endParaRPr lang="en-US" sz="1500" dirty="0"/>
          </a:p>
        </p:txBody>
      </p:sp>
      <p:sp>
        <p:nvSpPr>
          <p:cNvPr id="42" name="Text 29"/>
          <p:cNvSpPr/>
          <p:nvPr/>
        </p:nvSpPr>
        <p:spPr>
          <a:xfrm>
            <a:off x="630936" y="6263640"/>
            <a:ext cx="10908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微生物采样须使用经验证的中和与回收方法；多孔布可考虑洗脱法。ATP 的 RLU 阈值由现场验证建立，不能通用套用。</a:t>
            </a:r>
            <a:endParaRPr lang="en-US" sz="950" dirty="0"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33"/>
          <p:cNvSpPr/>
          <p:nvPr/>
        </p:nvSpPr>
        <p:spPr>
          <a:xfrm>
            <a:off x="253800" y="179280"/>
            <a:ext cx="165240" cy="441360"/>
          </a:xfrm>
          <a:prstGeom prst="rect">
            <a:avLst/>
          </a:prstGeom>
          <a:gradFill rotWithShape="0">
            <a:gsLst>
              <a:gs pos="0">
                <a:srgbClr val="56AD3C"/>
              </a:gs>
              <a:gs pos="100000">
                <a:srgbClr val="51B534"/>
              </a:gs>
            </a:gsLst>
            <a:lin ang="10800000"/>
          </a:gra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矩形 34"/>
          <p:cNvSpPr/>
          <p:nvPr/>
        </p:nvSpPr>
        <p:spPr>
          <a:xfrm>
            <a:off x="125280" y="174600"/>
            <a:ext cx="76320" cy="446040"/>
          </a:xfrm>
          <a:prstGeom prst="rect">
            <a:avLst/>
          </a:prstGeom>
          <a:gradFill rotWithShape="0">
            <a:gsLst>
              <a:gs pos="0">
                <a:srgbClr val="56AD3C"/>
              </a:gs>
              <a:gs pos="100000">
                <a:srgbClr val="51B534"/>
              </a:gs>
            </a:gsLst>
            <a:lin ang="10800000"/>
          </a:gra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图片 44"/>
          <p:cNvPicPr/>
          <p:nvPr/>
        </p:nvPicPr>
        <p:blipFill>
          <a:blip r:embed="rId1"/>
          <a:stretch/>
        </p:blipFill>
        <p:spPr>
          <a:xfrm>
            <a:off x="7764120" y="114120"/>
            <a:ext cx="1860840" cy="652320"/>
          </a:xfrm>
          <a:prstGeom prst="rect">
            <a:avLst/>
          </a:prstGeom>
          <a:noFill/>
          <a:ln w="38160">
            <a:noFill/>
          </a:ln>
        </p:spPr>
      </p:pic>
      <p:grpSp>
        <p:nvGrpSpPr>
          <p:cNvPr id="10" name="组合 38"/>
          <p:cNvGrpSpPr/>
          <p:nvPr/>
        </p:nvGrpSpPr>
        <p:grpSpPr>
          <a:xfrm>
            <a:off x="9721800" y="129960"/>
            <a:ext cx="2435040" cy="601560"/>
            <a:chOff x="9721800" y="129960"/>
            <a:chExt cx="2435040" cy="601560"/>
          </a:xfrm>
        </p:grpSpPr>
        <p:pic>
          <p:nvPicPr>
            <p:cNvPr id="11" name="图片 39"/>
            <p:cNvPicPr/>
            <p:nvPr/>
          </p:nvPicPr>
          <p:blipFill>
            <a:blip r:embed="rId2"/>
            <a:stretch/>
          </p:blipFill>
          <p:spPr>
            <a:xfrm>
              <a:off x="9721800" y="129960"/>
              <a:ext cx="838080" cy="601560"/>
            </a:xfrm>
            <a:prstGeom prst="rect">
              <a:avLst/>
            </a:prstGeom>
            <a:noFill/>
            <a:ln w="38160">
              <a:noFill/>
            </a:ln>
          </p:spPr>
        </p:pic>
        <p:pic>
          <p:nvPicPr>
            <p:cNvPr id="12" name="图片 40"/>
            <p:cNvPicPr/>
            <p:nvPr/>
          </p:nvPicPr>
          <p:blipFill>
            <a:blip r:embed="rId3"/>
            <a:srcRect l="3302" t="0" r="0" b="-95"/>
            <a:stretch/>
          </p:blipFill>
          <p:spPr>
            <a:xfrm>
              <a:off x="10550880" y="129960"/>
              <a:ext cx="1605960" cy="601560"/>
            </a:xfrm>
            <a:prstGeom prst="rect">
              <a:avLst/>
            </a:prstGeom>
            <a:noFill/>
            <a:ln w="38160">
              <a:noFill/>
            </a:ln>
          </p:spPr>
        </p:pic>
      </p:grpSp>
      <p:sp>
        <p:nvSpPr>
          <p:cNvPr id="13" name="Text 0"/>
          <p:cNvSpPr/>
          <p:nvPr/>
        </p:nvSpPr>
        <p:spPr>
          <a:xfrm>
            <a:off x="521208" y="182880"/>
            <a:ext cx="6931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302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案例4｜温度达标等于降菌充分？</a:t>
            </a:r>
            <a:endParaRPr lang="en-US" sz="2800" dirty="0"/>
          </a:p>
        </p:txBody>
      </p:sp>
      <p:sp>
        <p:nvSpPr>
          <p:cNvPr id="14" name="Shape 1"/>
          <p:cNvSpPr/>
          <p:nvPr/>
        </p:nvSpPr>
        <p:spPr>
          <a:xfrm>
            <a:off x="594360" y="1161288"/>
            <a:ext cx="11009376" cy="685800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15" name="Text 2"/>
          <p:cNvSpPr/>
          <p:nvPr/>
        </p:nvSpPr>
        <p:spPr>
          <a:xfrm>
            <a:off x="795528" y="136245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</a:t>
            </a:r>
            <a:endParaRPr lang="en-US" sz="1600" dirty="0"/>
          </a:p>
        </p:txBody>
      </p:sp>
      <p:sp>
        <p:nvSpPr>
          <p:cNvPr id="16" name="Text 3"/>
          <p:cNvSpPr/>
          <p:nvPr/>
        </p:nvSpPr>
        <p:spPr>
          <a:xfrm>
            <a:off x="1719072" y="1298448"/>
            <a:ext cx="9564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烘烤温度记录达标，能否推定微生物被充分降低？</a:t>
            </a:r>
            <a:endParaRPr lang="en-US" sz="2000" dirty="0"/>
          </a:p>
        </p:txBody>
      </p:sp>
      <p:sp>
        <p:nvSpPr>
          <p:cNvPr id="17" name="Text 4"/>
          <p:cNvSpPr/>
          <p:nvPr/>
        </p:nvSpPr>
        <p:spPr>
          <a:xfrm>
            <a:off x="630936" y="2057400"/>
            <a:ext cx="1095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不能仅凭温度记录推定；要验证产品冷点的实际温度—时间。</a:t>
            </a:r>
            <a:endParaRPr lang="en-US" sz="2400" dirty="0"/>
          </a:p>
        </p:txBody>
      </p:sp>
      <p:sp>
        <p:nvSpPr>
          <p:cNvPr id="18" name="Text 5"/>
          <p:cNvSpPr/>
          <p:nvPr/>
        </p:nvSpPr>
        <p:spPr>
          <a:xfrm>
            <a:off x="594360" y="64556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半干面质量与卫生控制  /  案例讨论</a:t>
            </a:r>
            <a:endParaRPr lang="en-US" sz="900" dirty="0"/>
          </a:p>
        </p:txBody>
      </p:sp>
      <p:sp>
        <p:nvSpPr>
          <p:cNvPr id="19" name="Text 6"/>
          <p:cNvSpPr/>
          <p:nvPr/>
        </p:nvSpPr>
        <p:spPr>
          <a:xfrm>
            <a:off x="10972800" y="6419088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Shape 7"/>
          <p:cNvSpPr/>
          <p:nvPr/>
        </p:nvSpPr>
        <p:spPr>
          <a:xfrm>
            <a:off x="630936" y="2926080"/>
            <a:ext cx="2404872" cy="1197864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21" name="Text 8"/>
          <p:cNvSpPr/>
          <p:nvPr/>
        </p:nvSpPr>
        <p:spPr>
          <a:xfrm>
            <a:off x="768096" y="3163824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设备设定值</a:t>
            </a:r>
            <a:endParaRPr lang="en-US" sz="2000" dirty="0"/>
          </a:p>
        </p:txBody>
      </p:sp>
      <p:sp>
        <p:nvSpPr>
          <p:cNvPr id="22" name="Text 9"/>
          <p:cNvSpPr/>
          <p:nvPr/>
        </p:nvSpPr>
        <p:spPr>
          <a:xfrm>
            <a:off x="768096" y="367588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8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控制器目标</a:t>
            </a:r>
            <a:endParaRPr lang="en-US" sz="1400" dirty="0"/>
          </a:p>
        </p:txBody>
      </p:sp>
      <p:sp>
        <p:nvSpPr>
          <p:cNvPr id="23" name="Text 10"/>
          <p:cNvSpPr/>
          <p:nvPr/>
        </p:nvSpPr>
        <p:spPr>
          <a:xfrm>
            <a:off x="3118104" y="338328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≠</a:t>
            </a:r>
            <a:endParaRPr lang="en-US" sz="2400" dirty="0"/>
          </a:p>
        </p:txBody>
      </p:sp>
      <p:sp>
        <p:nvSpPr>
          <p:cNvPr id="24" name="Shape 11"/>
          <p:cNvSpPr/>
          <p:nvPr/>
        </p:nvSpPr>
        <p:spPr>
          <a:xfrm>
            <a:off x="3465576" y="2926080"/>
            <a:ext cx="2404872" cy="1197864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25" name="Text 12"/>
          <p:cNvSpPr/>
          <p:nvPr/>
        </p:nvSpPr>
        <p:spPr>
          <a:xfrm>
            <a:off x="3602736" y="3163824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箱体空气温度</a:t>
            </a:r>
            <a:endParaRPr lang="en-US" sz="2000" dirty="0"/>
          </a:p>
        </p:txBody>
      </p:sp>
      <p:sp>
        <p:nvSpPr>
          <p:cNvPr id="26" name="Text 13"/>
          <p:cNvSpPr/>
          <p:nvPr/>
        </p:nvSpPr>
        <p:spPr>
          <a:xfrm>
            <a:off x="3602736" y="367588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8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某位置测点</a:t>
            </a:r>
            <a:endParaRPr lang="en-US" sz="1400" dirty="0"/>
          </a:p>
        </p:txBody>
      </p:sp>
      <p:sp>
        <p:nvSpPr>
          <p:cNvPr id="27" name="Text 14"/>
          <p:cNvSpPr/>
          <p:nvPr/>
        </p:nvSpPr>
        <p:spPr>
          <a:xfrm>
            <a:off x="5952744" y="338328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≠</a:t>
            </a:r>
            <a:endParaRPr lang="en-US" sz="2400" dirty="0"/>
          </a:p>
        </p:txBody>
      </p:sp>
      <p:sp>
        <p:nvSpPr>
          <p:cNvPr id="28" name="Shape 15"/>
          <p:cNvSpPr/>
          <p:nvPr/>
        </p:nvSpPr>
        <p:spPr>
          <a:xfrm>
            <a:off x="6300216" y="2926080"/>
            <a:ext cx="2404872" cy="1197864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29" name="Text 16"/>
          <p:cNvSpPr/>
          <p:nvPr/>
        </p:nvSpPr>
        <p:spPr>
          <a:xfrm>
            <a:off x="6437376" y="3163824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产品表面温度</a:t>
            </a:r>
            <a:endParaRPr lang="en-US" sz="2000" dirty="0"/>
          </a:p>
        </p:txBody>
      </p:sp>
      <p:sp>
        <p:nvSpPr>
          <p:cNvPr id="30" name="Text 17"/>
          <p:cNvSpPr/>
          <p:nvPr/>
        </p:nvSpPr>
        <p:spPr>
          <a:xfrm>
            <a:off x="6437376" y="367588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8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不代表内部</a:t>
            </a:r>
            <a:endParaRPr lang="en-US" sz="1400" dirty="0"/>
          </a:p>
        </p:txBody>
      </p:sp>
      <p:sp>
        <p:nvSpPr>
          <p:cNvPr id="31" name="Text 18"/>
          <p:cNvSpPr/>
          <p:nvPr/>
        </p:nvSpPr>
        <p:spPr>
          <a:xfrm>
            <a:off x="8787384" y="338328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≠</a:t>
            </a:r>
            <a:endParaRPr lang="en-US" sz="2400" dirty="0"/>
          </a:p>
        </p:txBody>
      </p:sp>
      <p:sp>
        <p:nvSpPr>
          <p:cNvPr id="32" name="Shape 19"/>
          <p:cNvSpPr/>
          <p:nvPr/>
        </p:nvSpPr>
        <p:spPr>
          <a:xfrm>
            <a:off x="9134856" y="2926080"/>
            <a:ext cx="2404872" cy="1197864"/>
          </a:xfrm>
          <a:prstGeom prst="roundRect">
            <a:avLst/>
          </a:prstGeom>
          <a:solidFill>
            <a:srgbClr val="235C29"/>
          </a:solidFill>
          <a:ln w="12700">
            <a:solidFill>
              <a:srgbClr val="235C29"/>
            </a:solidFill>
            <a:prstDash val="solid"/>
          </a:ln>
        </p:spPr>
      </p:sp>
      <p:sp>
        <p:nvSpPr>
          <p:cNvPr id="33" name="Text 20"/>
          <p:cNvSpPr/>
          <p:nvPr/>
        </p:nvSpPr>
        <p:spPr>
          <a:xfrm>
            <a:off x="9272016" y="3163824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产品冷点温度</a:t>
            </a:r>
            <a:endParaRPr lang="en-US" sz="2000" dirty="0"/>
          </a:p>
        </p:txBody>
      </p:sp>
      <p:sp>
        <p:nvSpPr>
          <p:cNvPr id="34" name="Text 21"/>
          <p:cNvSpPr/>
          <p:nvPr/>
        </p:nvSpPr>
        <p:spPr>
          <a:xfrm>
            <a:off x="9272016" y="367588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E4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最慢受热点</a:t>
            </a:r>
            <a:endParaRPr lang="en-US" sz="1400" dirty="0"/>
          </a:p>
        </p:txBody>
      </p:sp>
      <p:sp>
        <p:nvSpPr>
          <p:cNvPr id="35" name="Shape 22"/>
          <p:cNvSpPr/>
          <p:nvPr/>
        </p:nvSpPr>
        <p:spPr>
          <a:xfrm>
            <a:off x="640080" y="4599432"/>
            <a:ext cx="420624" cy="420624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36" name="Text 23"/>
          <p:cNvSpPr/>
          <p:nvPr/>
        </p:nvSpPr>
        <p:spPr>
          <a:xfrm>
            <a:off x="640080" y="467258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24"/>
          <p:cNvSpPr/>
          <p:nvPr/>
        </p:nvSpPr>
        <p:spPr>
          <a:xfrm>
            <a:off x="1207008" y="4654296"/>
            <a:ext cx="2660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找冷点</a:t>
            </a:r>
            <a:endParaRPr lang="en-US" sz="2100" dirty="0"/>
          </a:p>
        </p:txBody>
      </p:sp>
      <p:sp>
        <p:nvSpPr>
          <p:cNvPr id="38" name="Text 25"/>
          <p:cNvSpPr/>
          <p:nvPr/>
        </p:nvSpPr>
        <p:spPr>
          <a:xfrm>
            <a:off x="658368" y="5221224"/>
            <a:ext cx="34564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覆盖最厚产品、最低初温、</a:t>
            </a:r>
            <a:endParaRPr lang="en-US" sz="18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最大装载等不利条件</a:t>
            </a:r>
            <a:endParaRPr lang="en-US" sz="1800" dirty="0"/>
          </a:p>
        </p:txBody>
      </p:sp>
      <p:sp>
        <p:nvSpPr>
          <p:cNvPr id="39" name="Shape 26"/>
          <p:cNvSpPr/>
          <p:nvPr/>
        </p:nvSpPr>
        <p:spPr>
          <a:xfrm>
            <a:off x="4398264" y="4599432"/>
            <a:ext cx="420624" cy="420624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40" name="Text 27"/>
          <p:cNvSpPr/>
          <p:nvPr/>
        </p:nvSpPr>
        <p:spPr>
          <a:xfrm>
            <a:off x="4398264" y="467258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28"/>
          <p:cNvSpPr/>
          <p:nvPr/>
        </p:nvSpPr>
        <p:spPr>
          <a:xfrm>
            <a:off x="4965192" y="4654296"/>
            <a:ext cx="2660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测曲线</a:t>
            </a:r>
            <a:endParaRPr lang="en-US" sz="2100" dirty="0"/>
          </a:p>
        </p:txBody>
      </p:sp>
      <p:sp>
        <p:nvSpPr>
          <p:cNvPr id="42" name="Text 29"/>
          <p:cNvSpPr/>
          <p:nvPr/>
        </p:nvSpPr>
        <p:spPr>
          <a:xfrm>
            <a:off x="4416552" y="5221224"/>
            <a:ext cx="34564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用校准探头记录实际</a:t>
            </a:r>
            <a:endParaRPr lang="en-US" sz="18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升温、保温与冷却过程</a:t>
            </a:r>
            <a:endParaRPr lang="en-US" sz="1800" dirty="0"/>
          </a:p>
        </p:txBody>
      </p:sp>
      <p:sp>
        <p:nvSpPr>
          <p:cNvPr id="43" name="Shape 30"/>
          <p:cNvSpPr/>
          <p:nvPr/>
        </p:nvSpPr>
        <p:spPr>
          <a:xfrm>
            <a:off x="8156448" y="4599432"/>
            <a:ext cx="420624" cy="420624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44" name="Text 31"/>
          <p:cNvSpPr/>
          <p:nvPr/>
        </p:nvSpPr>
        <p:spPr>
          <a:xfrm>
            <a:off x="8156448" y="467258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32"/>
          <p:cNvSpPr/>
          <p:nvPr/>
        </p:nvSpPr>
        <p:spPr>
          <a:xfrm>
            <a:off x="8723376" y="4654296"/>
            <a:ext cx="2660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做验证</a:t>
            </a:r>
            <a:endParaRPr lang="en-US" sz="2100" dirty="0"/>
          </a:p>
        </p:txBody>
      </p:sp>
      <p:sp>
        <p:nvSpPr>
          <p:cNvPr id="46" name="Text 33"/>
          <p:cNvSpPr/>
          <p:nvPr/>
        </p:nvSpPr>
        <p:spPr>
          <a:xfrm>
            <a:off x="8174736" y="5221224"/>
            <a:ext cx="34564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结合目标菌与食品基质，</a:t>
            </a:r>
            <a:endParaRPr lang="en-US" sz="18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验证工艺的降菌效果</a:t>
            </a:r>
            <a:endParaRPr lang="en-US" sz="1800" dirty="0"/>
          </a:p>
        </p:txBody>
      </p:sp>
      <p:sp>
        <p:nvSpPr>
          <p:cNvPr id="47" name="Text 34"/>
          <p:cNvSpPr/>
          <p:nvPr/>
        </p:nvSpPr>
        <p:spPr>
          <a:xfrm>
            <a:off x="649224" y="6071616"/>
            <a:ext cx="10899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67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菌株、受热时间、水分 / aw 与基质都会影响耐热性；相同设定温度不保证相同降菌效果。</a:t>
            </a:r>
            <a:endParaRPr lang="en-US" sz="1400" dirty="0"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33"/>
          <p:cNvSpPr/>
          <p:nvPr/>
        </p:nvSpPr>
        <p:spPr>
          <a:xfrm>
            <a:off x="253800" y="179280"/>
            <a:ext cx="165240" cy="441360"/>
          </a:xfrm>
          <a:prstGeom prst="rect">
            <a:avLst/>
          </a:prstGeom>
          <a:gradFill rotWithShape="0">
            <a:gsLst>
              <a:gs pos="0">
                <a:srgbClr val="56AD3C"/>
              </a:gs>
              <a:gs pos="100000">
                <a:srgbClr val="51B534"/>
              </a:gs>
            </a:gsLst>
            <a:lin ang="10800000"/>
          </a:gra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矩形 34"/>
          <p:cNvSpPr/>
          <p:nvPr/>
        </p:nvSpPr>
        <p:spPr>
          <a:xfrm>
            <a:off x="125280" y="174600"/>
            <a:ext cx="76320" cy="446040"/>
          </a:xfrm>
          <a:prstGeom prst="rect">
            <a:avLst/>
          </a:prstGeom>
          <a:gradFill rotWithShape="0">
            <a:gsLst>
              <a:gs pos="0">
                <a:srgbClr val="56AD3C"/>
              </a:gs>
              <a:gs pos="100000">
                <a:srgbClr val="51B534"/>
              </a:gs>
            </a:gsLst>
            <a:lin ang="10800000"/>
          </a:gra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图片 44"/>
          <p:cNvPicPr/>
          <p:nvPr/>
        </p:nvPicPr>
        <p:blipFill>
          <a:blip r:embed="rId1"/>
          <a:stretch/>
        </p:blipFill>
        <p:spPr>
          <a:xfrm>
            <a:off x="7764120" y="114120"/>
            <a:ext cx="1860840" cy="652320"/>
          </a:xfrm>
          <a:prstGeom prst="rect">
            <a:avLst/>
          </a:prstGeom>
          <a:noFill/>
          <a:ln w="38160">
            <a:noFill/>
          </a:ln>
        </p:spPr>
      </p:pic>
      <p:grpSp>
        <p:nvGrpSpPr>
          <p:cNvPr id="10" name="组合 38"/>
          <p:cNvGrpSpPr/>
          <p:nvPr/>
        </p:nvGrpSpPr>
        <p:grpSpPr>
          <a:xfrm>
            <a:off x="9721800" y="129960"/>
            <a:ext cx="2435040" cy="601560"/>
            <a:chOff x="9721800" y="129960"/>
            <a:chExt cx="2435040" cy="601560"/>
          </a:xfrm>
        </p:grpSpPr>
        <p:pic>
          <p:nvPicPr>
            <p:cNvPr id="11" name="图片 39"/>
            <p:cNvPicPr/>
            <p:nvPr/>
          </p:nvPicPr>
          <p:blipFill>
            <a:blip r:embed="rId2"/>
            <a:stretch/>
          </p:blipFill>
          <p:spPr>
            <a:xfrm>
              <a:off x="9721800" y="129960"/>
              <a:ext cx="838080" cy="601560"/>
            </a:xfrm>
            <a:prstGeom prst="rect">
              <a:avLst/>
            </a:prstGeom>
            <a:noFill/>
            <a:ln w="38160">
              <a:noFill/>
            </a:ln>
          </p:spPr>
        </p:pic>
        <p:pic>
          <p:nvPicPr>
            <p:cNvPr id="12" name="图片 40"/>
            <p:cNvPicPr/>
            <p:nvPr/>
          </p:nvPicPr>
          <p:blipFill>
            <a:blip r:embed="rId3"/>
            <a:srcRect l="3302" t="0" r="0" b="-95"/>
            <a:stretch/>
          </p:blipFill>
          <p:spPr>
            <a:xfrm>
              <a:off x="10550880" y="129960"/>
              <a:ext cx="1605960" cy="601560"/>
            </a:xfrm>
            <a:prstGeom prst="rect">
              <a:avLst/>
            </a:prstGeom>
            <a:noFill/>
            <a:ln w="38160">
              <a:noFill/>
            </a:ln>
          </p:spPr>
        </p:pic>
      </p:grpSp>
      <p:sp>
        <p:nvSpPr>
          <p:cNvPr id="13" name="Text 0"/>
          <p:cNvSpPr/>
          <p:nvPr/>
        </p:nvSpPr>
        <p:spPr>
          <a:xfrm>
            <a:off x="521208" y="182880"/>
            <a:ext cx="6931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302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案例5｜有酸味但未胀袋、发霉</a:t>
            </a:r>
            <a:endParaRPr lang="en-US" sz="2800" dirty="0"/>
          </a:p>
        </p:txBody>
      </p:sp>
      <p:sp>
        <p:nvSpPr>
          <p:cNvPr id="14" name="Shape 1"/>
          <p:cNvSpPr/>
          <p:nvPr/>
        </p:nvSpPr>
        <p:spPr>
          <a:xfrm>
            <a:off x="594360" y="1161288"/>
            <a:ext cx="11009376" cy="685800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15" name="Text 2"/>
          <p:cNvSpPr/>
          <p:nvPr/>
        </p:nvSpPr>
        <p:spPr>
          <a:xfrm>
            <a:off x="795528" y="136245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</a:t>
            </a:r>
            <a:endParaRPr lang="en-US" sz="1600" dirty="0"/>
          </a:p>
        </p:txBody>
      </p:sp>
      <p:sp>
        <p:nvSpPr>
          <p:cNvPr id="16" name="Text 3"/>
          <p:cNvSpPr/>
          <p:nvPr/>
        </p:nvSpPr>
        <p:spPr>
          <a:xfrm>
            <a:off x="1719072" y="1298448"/>
            <a:ext cx="9564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怎样区分乳酸、乙酸、配方气味及其他变化？</a:t>
            </a:r>
            <a:endParaRPr lang="en-US" sz="2000" dirty="0"/>
          </a:p>
        </p:txBody>
      </p:sp>
      <p:sp>
        <p:nvSpPr>
          <p:cNvPr id="17" name="Text 4"/>
          <p:cNvSpPr/>
          <p:nvPr/>
        </p:nvSpPr>
        <p:spPr>
          <a:xfrm>
            <a:off x="630936" y="2057400"/>
            <a:ext cx="1095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先做来源对照，再用酸度、有机酸与微生物证据联合判断。</a:t>
            </a:r>
            <a:endParaRPr lang="en-US" sz="2400" dirty="0"/>
          </a:p>
        </p:txBody>
      </p:sp>
      <p:sp>
        <p:nvSpPr>
          <p:cNvPr id="18" name="Text 5"/>
          <p:cNvSpPr/>
          <p:nvPr/>
        </p:nvSpPr>
        <p:spPr>
          <a:xfrm>
            <a:off x="594360" y="64556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半干面质量与卫生控制  /  案例讨论</a:t>
            </a:r>
            <a:endParaRPr lang="en-US" sz="900" dirty="0"/>
          </a:p>
        </p:txBody>
      </p:sp>
      <p:sp>
        <p:nvSpPr>
          <p:cNvPr id="19" name="Text 6"/>
          <p:cNvSpPr/>
          <p:nvPr/>
        </p:nvSpPr>
        <p:spPr>
          <a:xfrm>
            <a:off x="10972800" y="6419088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7"/>
          <p:cNvSpPr/>
          <p:nvPr/>
        </p:nvSpPr>
        <p:spPr>
          <a:xfrm>
            <a:off x="630936" y="2880360"/>
            <a:ext cx="2414016" cy="1435608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21" name="Text 8"/>
          <p:cNvSpPr/>
          <p:nvPr/>
        </p:nvSpPr>
        <p:spPr>
          <a:xfrm>
            <a:off x="768096" y="3081528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对照样</a:t>
            </a:r>
            <a:endParaRPr lang="en-US" sz="2200" dirty="0"/>
          </a:p>
        </p:txBody>
      </p:sp>
      <p:sp>
        <p:nvSpPr>
          <p:cNvPr id="22" name="Text 9"/>
          <p:cNvSpPr/>
          <p:nvPr/>
        </p:nvSpPr>
        <p:spPr>
          <a:xfrm>
            <a:off x="768096" y="3675888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异常样 / 同龄正常样</a:t>
            </a:r>
            <a:endParaRPr lang="en-US" sz="15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新鲜留样 / 相关原料</a:t>
            </a:r>
            <a:endParaRPr lang="en-US" sz="1500" dirty="0"/>
          </a:p>
        </p:txBody>
      </p:sp>
      <p:sp>
        <p:nvSpPr>
          <p:cNvPr id="23" name="Shape 10"/>
          <p:cNvSpPr/>
          <p:nvPr/>
        </p:nvSpPr>
        <p:spPr>
          <a:xfrm>
            <a:off x="3127248" y="3502152"/>
            <a:ext cx="210312" cy="237744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24" name="Shape 11"/>
          <p:cNvSpPr/>
          <p:nvPr/>
        </p:nvSpPr>
        <p:spPr>
          <a:xfrm>
            <a:off x="3465576" y="2880360"/>
            <a:ext cx="2414016" cy="1435608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25" name="Text 12"/>
          <p:cNvSpPr/>
          <p:nvPr/>
        </p:nvSpPr>
        <p:spPr>
          <a:xfrm>
            <a:off x="3602736" y="3081528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基础理化</a:t>
            </a:r>
            <a:endParaRPr lang="en-US" sz="2200" dirty="0"/>
          </a:p>
        </p:txBody>
      </p:sp>
      <p:sp>
        <p:nvSpPr>
          <p:cNvPr id="26" name="Text 13"/>
          <p:cNvSpPr/>
          <p:nvPr/>
        </p:nvSpPr>
        <p:spPr>
          <a:xfrm>
            <a:off x="3602736" y="3675888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与滴定酸度</a:t>
            </a:r>
            <a:endParaRPr lang="en-US" sz="15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判断是否发生酸积累</a:t>
            </a:r>
            <a:endParaRPr lang="en-US" sz="1500" dirty="0"/>
          </a:p>
        </p:txBody>
      </p:sp>
      <p:sp>
        <p:nvSpPr>
          <p:cNvPr id="27" name="Shape 14"/>
          <p:cNvSpPr/>
          <p:nvPr/>
        </p:nvSpPr>
        <p:spPr>
          <a:xfrm>
            <a:off x="5961888" y="3502152"/>
            <a:ext cx="210312" cy="237744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28" name="Shape 15"/>
          <p:cNvSpPr/>
          <p:nvPr/>
        </p:nvSpPr>
        <p:spPr>
          <a:xfrm>
            <a:off x="6300216" y="2880360"/>
            <a:ext cx="2414016" cy="1435608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29" name="Text 16"/>
          <p:cNvSpPr/>
          <p:nvPr/>
        </p:nvSpPr>
        <p:spPr>
          <a:xfrm>
            <a:off x="6437376" y="3081528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定性定量</a:t>
            </a:r>
            <a:endParaRPr lang="en-US" sz="2200" dirty="0"/>
          </a:p>
        </p:txBody>
      </p:sp>
      <p:sp>
        <p:nvSpPr>
          <p:cNvPr id="30" name="Text 17"/>
          <p:cNvSpPr/>
          <p:nvPr/>
        </p:nvSpPr>
        <p:spPr>
          <a:xfrm>
            <a:off x="6437376" y="3675888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HPLC 等检测有机酸</a:t>
            </a:r>
            <a:endParaRPr lang="en-US" sz="15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必要时做挥发物分析</a:t>
            </a:r>
            <a:endParaRPr lang="en-US" sz="1500" dirty="0"/>
          </a:p>
        </p:txBody>
      </p:sp>
      <p:sp>
        <p:nvSpPr>
          <p:cNvPr id="31" name="Shape 18"/>
          <p:cNvSpPr/>
          <p:nvPr/>
        </p:nvSpPr>
        <p:spPr>
          <a:xfrm>
            <a:off x="8796528" y="3502152"/>
            <a:ext cx="210312" cy="237744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32" name="Shape 19"/>
          <p:cNvSpPr/>
          <p:nvPr/>
        </p:nvSpPr>
        <p:spPr>
          <a:xfrm>
            <a:off x="9134856" y="2880360"/>
            <a:ext cx="2414016" cy="1435608"/>
          </a:xfrm>
          <a:prstGeom prst="roundRect">
            <a:avLst/>
          </a:prstGeom>
          <a:solidFill>
            <a:srgbClr val="F0F6EE"/>
          </a:solidFill>
          <a:ln w="12700">
            <a:solidFill>
              <a:srgbClr val="F0F6EE"/>
            </a:solidFill>
            <a:prstDash val="solid"/>
          </a:ln>
        </p:spPr>
      </p:sp>
      <p:sp>
        <p:nvSpPr>
          <p:cNvPr id="33" name="Text 20"/>
          <p:cNvSpPr/>
          <p:nvPr/>
        </p:nvSpPr>
        <p:spPr>
          <a:xfrm>
            <a:off x="9272016" y="3081528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微生物</a:t>
            </a:r>
            <a:endParaRPr lang="en-US" sz="2200" dirty="0"/>
          </a:p>
        </p:txBody>
      </p:sp>
      <p:sp>
        <p:nvSpPr>
          <p:cNvPr id="34" name="Text 21"/>
          <p:cNvSpPr/>
          <p:nvPr/>
        </p:nvSpPr>
        <p:spPr>
          <a:xfrm>
            <a:off x="9272016" y="3675888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按目标检测产酸菌等</a:t>
            </a:r>
            <a:endParaRPr lang="en-US" sz="15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与理化结果一起解释</a:t>
            </a:r>
            <a:endParaRPr lang="en-US" sz="1500" dirty="0"/>
          </a:p>
        </p:txBody>
      </p:sp>
      <p:sp>
        <p:nvSpPr>
          <p:cNvPr id="35" name="Text 22"/>
          <p:cNvSpPr/>
          <p:nvPr/>
        </p:nvSpPr>
        <p:spPr>
          <a:xfrm>
            <a:off x="640080" y="4663440"/>
            <a:ext cx="34838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乳酸 / 乙酸</a:t>
            </a:r>
            <a:endParaRPr lang="en-US" sz="2100" dirty="0"/>
          </a:p>
        </p:txBody>
      </p:sp>
      <p:sp>
        <p:nvSpPr>
          <p:cNvPr id="36" name="Text 23"/>
          <p:cNvSpPr/>
          <p:nvPr/>
        </p:nvSpPr>
        <p:spPr>
          <a:xfrm>
            <a:off x="640080" y="5266944"/>
            <a:ext cx="3483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乳酸挥发性弱；乙酸可呈醋样气味。</a:t>
            </a:r>
            <a:endParaRPr lang="en-US" sz="16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具体成分须经有机酸检测确认。</a:t>
            </a:r>
            <a:endParaRPr lang="en-US" sz="1600" dirty="0"/>
          </a:p>
        </p:txBody>
      </p:sp>
      <p:sp>
        <p:nvSpPr>
          <p:cNvPr id="37" name="Text 24"/>
          <p:cNvSpPr/>
          <p:nvPr/>
        </p:nvSpPr>
        <p:spPr>
          <a:xfrm>
            <a:off x="4398264" y="4663440"/>
            <a:ext cx="34838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配方 / 原料</a:t>
            </a:r>
            <a:endParaRPr lang="en-US" sz="2100" dirty="0"/>
          </a:p>
        </p:txBody>
      </p:sp>
      <p:sp>
        <p:nvSpPr>
          <p:cNvPr id="38" name="Text 25"/>
          <p:cNvSpPr/>
          <p:nvPr/>
        </p:nvSpPr>
        <p:spPr>
          <a:xfrm>
            <a:off x="4398264" y="5266944"/>
            <a:ext cx="3483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原料及新鲜留样已有同类气味</a:t>
            </a:r>
            <a:endParaRPr lang="en-US" sz="16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且储藏前后理化变化不明显，</a:t>
            </a:r>
            <a:endParaRPr lang="en-US" sz="16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支持配方或原料来源。</a:t>
            </a:r>
            <a:endParaRPr lang="en-US" sz="1600" dirty="0"/>
          </a:p>
        </p:txBody>
      </p:sp>
      <p:sp>
        <p:nvSpPr>
          <p:cNvPr id="39" name="Text 26"/>
          <p:cNvSpPr/>
          <p:nvPr/>
        </p:nvSpPr>
        <p:spPr>
          <a:xfrm>
            <a:off x="8156448" y="4663440"/>
            <a:ext cx="34838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其他变化</a:t>
            </a:r>
            <a:endParaRPr lang="en-US" sz="2100" dirty="0"/>
          </a:p>
        </p:txBody>
      </p:sp>
      <p:sp>
        <p:nvSpPr>
          <p:cNvPr id="40" name="Text 27"/>
          <p:cNvSpPr/>
          <p:nvPr/>
        </p:nvSpPr>
        <p:spPr>
          <a:xfrm>
            <a:off x="8156448" y="5266944"/>
            <a:ext cx="3483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酸度不明显升高但挥发物改变，</a:t>
            </a:r>
            <a:endParaRPr lang="en-US" sz="16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再查氧化、酶促反应或外源气味。</a:t>
            </a:r>
            <a:endParaRPr lang="en-US" sz="1600" dirty="0"/>
          </a:p>
        </p:txBody>
      </p:sp>
      <p:sp>
        <p:nvSpPr>
          <p:cNvPr id="41" name="Text 28"/>
          <p:cNvSpPr/>
          <p:nvPr/>
        </p:nvSpPr>
        <p:spPr>
          <a:xfrm>
            <a:off x="640080" y="6254496"/>
            <a:ext cx="109179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未胀袋、未见霉斑不能排除微生物产酸；pH 也不能区分乳酸与乙酸。异常样不试吃，检验阴性不能排除曾经发生的产酸。</a:t>
            </a:r>
            <a:endParaRPr lang="en-US" sz="950" dirty="0"/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LibreOfficeDev/26.8.0.0.alpha0$Linux_X86_64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2019-06-19T02:08:00Z</dcterms:created>
  <dc:creator/>
  <dc:description/>
  <dc:language>en-US</dc:language>
  <cp:lastModifiedBy>zoaod</cp:lastModifiedBy>
  <dcterms:modified xsi:type="dcterms:W3CDTF">2026-10-12T12:56:55Z</dcterms:modified>
  <cp:revision>157</cp:revision>
  <dc:subject/>
  <dc:title>空白演示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75C3D2BE65A4469C9C6188E57028B6E0_11</vt:lpwstr>
  </property>
  <property fmtid="{D5CDD505-2E9C-101B-9397-08002B2CF9AE}" pid="3" name="KSOProductBuildVer">
    <vt:lpwstr>2052-12.1.0.25225</vt:lpwstr>
  </property>
</Properties>
</file>