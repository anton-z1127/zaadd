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media/image5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3" r:id="rId6"/>
    <p:sldId id="259" r:id="rId7"/>
    <p:sldId id="260" r:id="rId8"/>
    <p:sldId id="262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webp"/><Relationship Id="rId2" Type="http://schemas.openxmlformats.org/officeDocument/2006/relationships/tags" Target="../tags/tag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webp"/><Relationship Id="rId7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tags" Target="../tags/tag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tags" Target="../tags/tag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tags" Target="../tags/tag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tags" Target="../tags/tag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tags" Target="../tags/tag3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tags" Target="../tags/tag3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01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993392"/>
            <a:ext cx="12191695" cy="27889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69748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4000" b="1">
                <a:solidFill>
                  <a:srgbClr val="25653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138928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刘书源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2026年10月13日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77240" y="365760"/>
            <a:ext cx="1280160" cy="1280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rcRect b="3975"/>
          <a:stretch>
            <a:fillRect/>
          </a:stretch>
        </p:blipFill>
        <p:spPr>
          <a:xfrm>
            <a:off x="9464040" y="4480560"/>
            <a:ext cx="13258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1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目录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Contents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" y="1691640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6384" y="178308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00200" y="1677924"/>
            <a:ext cx="97840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20372B"/>
                </a:solidFill>
                <a:latin typeface="Noto Sans CJK SC"/>
              </a:defRPr>
            </a:pPr>
            <a:r>
              <a:t>基础认知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211226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756B"/>
                </a:solidFill>
                <a:latin typeface="Noto Sans CJK SC"/>
              </a:defRPr>
            </a:pPr>
            <a:r>
              <a:t>微生物谱系 · 清洁/消毒/灭菌概念阶梯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2587752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" y="267919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0200" y="2574036"/>
            <a:ext cx="97840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20372B"/>
                </a:solidFill>
                <a:latin typeface="Noto Sans CJK SC"/>
              </a:defRPr>
            </a:pPr>
            <a:r>
              <a:t>消毒方法与消毒剂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00200" y="300837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756B"/>
                </a:solidFill>
                <a:latin typeface="Noto Sans CJK SC"/>
              </a:defRPr>
            </a:pPr>
            <a:r>
              <a:t>物理四法 · 化学六剂 · 选用与安全铁律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3483864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" y="357530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00200" y="3470148"/>
            <a:ext cx="97840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20372B"/>
                </a:solidFill>
                <a:latin typeface="Noto Sans CJK SC"/>
              </a:defRPr>
            </a:pPr>
            <a:r>
              <a:t>全流程消毒关键点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00200" y="390448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756B"/>
                </a:solidFill>
                <a:latin typeface="Noto Sans CJK SC"/>
              </a:defRPr>
            </a:pPr>
            <a:r>
              <a:t>对照工艺流程图：水、蛋、布、筐、包材逐点讲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4379976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" y="447141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00200" y="4366260"/>
            <a:ext cx="97840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20372B"/>
                </a:solidFill>
                <a:latin typeface="Noto Sans CJK SC"/>
              </a:defRPr>
            </a:pPr>
            <a:r>
              <a:t>环境 · 人员 · CIP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8006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756B"/>
                </a:solidFill>
                <a:latin typeface="Noto Sans CJK SC"/>
              </a:defRPr>
            </a:pPr>
            <a:r>
              <a:t>分区管理 · 六步洗手 · 七步清洁法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276088"/>
            <a:ext cx="713232" cy="603504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6384" y="5367527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00200" y="5262372"/>
            <a:ext cx="97840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1">
                <a:solidFill>
                  <a:srgbClr val="20372B"/>
                </a:solidFill>
                <a:latin typeface="Noto Sans CJK SC"/>
              </a:defRPr>
            </a:pPr>
            <a:r>
              <a:t>验证 · 误区 · 合规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00200" y="569671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600" b="0">
                <a:solidFill>
                  <a:srgbClr val="65756B"/>
                </a:solidFill>
                <a:latin typeface="Noto Sans CJK SC"/>
              </a:defRPr>
            </a:pPr>
            <a:r>
              <a:t>三层验证 · 八大误区 · GB 14881-2025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03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25653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基础认知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看不见的对手，决定看得见的保质期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04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消毒灭菌方法总览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物理与化学两条战线，组合使用才可靠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tree.png"/>
          <p:cNvPicPr>
            <a:picLocks noChangeAspect="1"/>
          </p:cNvPicPr>
          <p:nvPr/>
        </p:nvPicPr>
        <p:blipFill>
          <a:blip r:embed="rId1"/>
          <a:srcRect l="12847" r="7489" t="445" b="1891"/>
          <a:stretch>
            <a:fillRect/>
          </a:stretch>
        </p:blipFill>
        <p:spPr>
          <a:xfrm>
            <a:off x="2921504" y="1700784"/>
            <a:ext cx="6348685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05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微生物：看不见的对手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认清对象，才能选对武器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resist.png"/>
          <p:cNvPicPr>
            <a:picLocks noChangeAspect="1"/>
          </p:cNvPicPr>
          <p:nvPr/>
        </p:nvPicPr>
        <p:blipFill>
          <a:blip r:embed="rId1"/>
          <a:srcRect l="268" r="161" t="414" b="724"/>
          <a:stretch>
            <a:fillRect/>
          </a:stretch>
        </p:blipFill>
        <p:spPr>
          <a:xfrm>
            <a:off x="1708650" y="1700784"/>
            <a:ext cx="8774394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06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清洁、消毒、灭菌：一字之差，天壤之别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顺序不可颠倒：没洗干净，消毒就是白做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level.png"/>
          <p:cNvPicPr>
            <a:picLocks noChangeAspect="1"/>
          </p:cNvPicPr>
          <p:nvPr/>
        </p:nvPicPr>
        <p:blipFill>
          <a:blip r:embed="rId1"/>
          <a:srcRect l="3035" r="8892" t="602" b="8554"/>
          <a:stretch>
            <a:fillRect/>
          </a:stretch>
        </p:blipFill>
        <p:spPr>
          <a:xfrm>
            <a:off x="2357528" y="1700784"/>
            <a:ext cx="7476638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07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25653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消毒方法与消毒剂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物理四法 × 化学六剂：知道每个武器打谁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08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热力消毒：最可靠也最容易被误解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烘烤是工艺加热，不是消毒程序——两者目标不同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heat.png"/>
          <p:cNvPicPr>
            <a:picLocks noChangeAspect="1"/>
          </p:cNvPicPr>
          <p:nvPr/>
        </p:nvPicPr>
        <p:blipFill>
          <a:blip r:embed="rId1"/>
          <a:srcRect l="304" r="182" t="450" b="788"/>
          <a:stretch>
            <a:fillRect/>
          </a:stretch>
        </p:blipFill>
        <p:spPr>
          <a:xfrm>
            <a:off x="1877450" y="1700784"/>
            <a:ext cx="8436794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09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六大常用化学消毒剂速查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浓度与时间以产品说明书为准，验证后固化进SOP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chem.png"/>
          <p:cNvPicPr>
            <a:picLocks noChangeAspect="1"/>
          </p:cNvPicPr>
          <p:nvPr/>
        </p:nvPicPr>
        <p:blipFill>
          <a:blip r:embed="rId1"/>
          <a:srcRect l="258" r="258" t="451" b="21195"/>
          <a:stretch>
            <a:fillRect/>
          </a:stretch>
        </p:blipFill>
        <p:spPr>
          <a:xfrm>
            <a:off x="1088001" y="1700784"/>
            <a:ext cx="10015692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10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含氯消毒剂与二氧化氯：车间的主力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地面墙面器具的主力，用对浓度才有效力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4434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含氯消毒剂（84消毒液/次氯酸钠）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328291"/>
            <a:ext cx="5065776" cy="3798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配置：100~250 mg/L 有效氯（器具接触面取下限、地面排水沟取上限）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作用：10~20 分钟，保持表面湿润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优势：广谱、廉价、对霉菌酵母也好用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局限：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对金属有腐蚀性——不锈钢器具消毒后要冲净沥干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遇有机物快速失效——必须先清洁再消毒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配好后 24 小时内用完，阳光暴晒会失效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食品接触面消毒后必须饮用水冲洗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4434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二氧化氯（ClO2）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328291"/>
            <a:ext cx="5065776" cy="3798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配置：活化后 50~150 mg/L，现配现用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作用：10~15 分钟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优势：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受有机物影响小，对芽孢作用强于含氯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无氯味残留，适合食品接触面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注意：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活化剂（柠檬酸）与主剂分开存放，现配现用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高浓度有刺激气味，配制区域要通风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· 定期用试纸验证浓度是否达标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11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酒精· 季铵盐· 过氧乙酸· 过氧化氢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各有各的脾气：知道短板比知道优点更重要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75%酒精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速干、无残留——手部和台面的首选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短板：对芽孢无效；喷洒面积大时易燃（车间禁明火）；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表面有蛋白残留时效力骤降——先擦净再喷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季铵盐类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低毒低腐蚀，适合塑料筐、操作台面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短板：对革兰阴性菌偏弱；与阴离子清洗剂互相中和——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清洗剂冲不净=消毒白做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过氧乙酸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高效广谱，分解后无残留——CIP管线常用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短板：刺激性强、稳定性差，稀释液当天用完；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配制时先加水后加药，佩戴防护面罩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过氧化氢（双氧水）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无残留，空间干雾消毒的新趋势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短板：低浓度对芽孢作用有限；空间干雾需专业设备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与密闭条件，停产后夜间执行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消毒剂使用五条铁律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条条都是事故换来的经验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1298448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874519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铁律一：先清洁，后消毒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274570"/>
            <a:ext cx="5065776" cy="715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残面、油脂不除，消毒剂接触的是脏东西不是菌——这是最常见的无效消毒。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1298448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874519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铁律二：浓度足、时间够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274570"/>
            <a:ext cx="5065776" cy="715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浓度翻倍≠时间减半；宁可按SOP老实泡够10~20分钟，也不要图快。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3255263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3255263"/>
            <a:ext cx="50292" cy="1298448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3364991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铁律三：现配现用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3765041"/>
            <a:ext cx="5065776" cy="715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含氯、过氧乙酸、二氧化氯稀释液都会衰减——配好标签写时间，超时重配。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3255263"/>
            <a:ext cx="5486400" cy="1298448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3255263"/>
            <a:ext cx="50292" cy="1298448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3364991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铁律四：不混用、不叠加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3765041"/>
            <a:ext cx="5065776" cy="7155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含氯与酸性清洁剂混合会产生氯气！季铵盐与阴离子清洗剂互相中和。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4754880"/>
            <a:ext cx="11210544" cy="1353312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02920" y="4754880"/>
            <a:ext cx="50292" cy="1353312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4864608"/>
            <a:ext cx="10789919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铁律五：安全第一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5264658"/>
            <a:ext cx="10789919" cy="7703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浓消毒剂存放上锁、专人保管；配制戴手套口罩；酒精区域严禁明火。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13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25653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全流程消毒关键点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对照工艺流程图：从一桶水到一只包装袋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8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14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关键点①：原辅料与水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源头减量1个log，后面所有环节都轻松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饮用水：过滤 + 臭氧杀菌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流程图位置：饮用水→过滤→臭氧杀菌→配料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滤芯按压差或定期更换，记录更换日期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臭氧水残留0.3~0.5 mg/L，接触≥5 min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每月送检菌落总数+大肠菌群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鸡蛋：洗蛋 = 消毒蛋壳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流程图位置：鸡蛋验收→洗蛋→打蛋/洗蛋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蛋壳是沙门氏菌高风险点：先流水洗去污物，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  再用100~200 mg/L次氯酸钠稀释液浸泡≥5 min，漂洗晾干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打蛋器具每班拆洗消毒；蛋液2小时内用完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面粉与辅料：验收、贮存、过筛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面粉过筛即物理除杂，筛网每周清洗消毒一次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库房离墙离地、防鼠防潮；先进先出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原料自带芽孢——从源头把住带菌量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调料包与脱氧剂：验收即把关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调料包供应商索证索票：出厂检验报告逐批核对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脱氧剂验收：包装完好性、规格与货架期匹配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贮存区保持干燥——脱氧剂受潮即报废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15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关键点②：和面→熟化→压延→切面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湿区管理：这一段是微生物最爱的温度带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3736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37360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883664"/>
            <a:ext cx="5065776" cy="678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和面机：每班开工前/收工后各一次七步清洁消毒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626614"/>
            <a:ext cx="5065776" cy="109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桨叶根部、缸壁、缸底缝隙是残面死角——拆到能拆的最小单元清洗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和面加水量、水温按SOP：水温过高会加速微生物增殖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3736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37360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883664"/>
            <a:ext cx="5065776" cy="678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熟化间：时间与温度双控（如≤30 min、室温≤25℃）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626614"/>
            <a:ext cx="5065776" cy="109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▶ 熟化不是“放一放”——时间失控就是给菌开自助餐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02336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023360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169664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压延辊、切面刀：每班清洁后75%酒精擦拭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4586859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• 刀缝里嵌的面屑：用软毛刷先清刮再消毒，避免硬器损伤刀口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023360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023360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4169664"/>
            <a:ext cx="5065776" cy="678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返工残面（流程图虚线）：必须在2小时内回机和面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4912614"/>
            <a:ext cx="5065776" cy="1094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▶ 残面存放超过时限或已有异味——直接报废，禁止回机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16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关键点③：烘烤→接面（盖面布、面筐）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烘烤杀不死的芽孢，靠后续卫生管理兜底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烘烤：工艺加热≠消毒程序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三区90~140℃/2.5~5 min可杀灭繁殖体，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  但芽孢几乎必然存活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烤网/网带每周停机深度清洁：焦渣=藏菌点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失重率与出炉水分记录照常——它们同时是受热充分性的证据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盖面布与面筐：流程图单列的消毒环节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328291"/>
            <a:ext cx="5065776" cy="14207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白布：每班更换→清洗→消毒→晒房晒干→干燥存放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面筐：每班清洗消毒，倒扣沥干，禁止落地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有效性的判断：ATP抽查+微生物擦拭检测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接面与周转：暴露时间管理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接面板、周转车每班消毒；进入清洁区前完成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暴露时间设内部上限，超时批次评估后处置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周转器具专用：生熟分开、湿区干区分开，严禁交叉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4041648"/>
            <a:ext cx="5486400" cy="205740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4041648"/>
            <a:ext cx="50292" cy="205740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4187952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冷却回潮间：空气+表面双控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4605147"/>
            <a:ext cx="5065776" cy="1420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空气：每日下班后臭氧消毒≥60 min，无人密闭执行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温差控制：面条温度与露点接近时防凝露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72B"/>
                </a:solidFill>
                <a:latin typeface="Noto Sans CJK SC"/>
              </a:defRPr>
            </a:pPr>
            <a:r>
              <a:t>· 架车/托盘每周深度清洗消毒，回潮箱角落重点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17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关键点④：内包装、金检与贮存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包装是最后一道门——门本身必须干净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37360"/>
            <a:ext cx="50292" cy="452628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883664"/>
            <a:ext cx="3191256" cy="6789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内包材消毒（流程图单列环节）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626614"/>
            <a:ext cx="3191256" cy="35638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• 包材外箱不进清洁区；内包装膜/袋在清洁区入口处用紫外或消毒剂擦拭外表面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• 包材贮存间保持干燥清洁，开封后当日用完或重新密封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• 内包装间：空气每日臭氧消毒，人员二次更衣+手部消毒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343400" y="1737360"/>
            <a:ext cx="50292" cy="452628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53712" y="1883664"/>
            <a:ext cx="319125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面+料组装与脱氧剂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3712" y="2300859"/>
            <a:ext cx="3191256" cy="3889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• 组装台面每2小时消毒一次；脱氧剂投入量按包装残氧要求计算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▶ 封口温度每班首件确认；封口不良即泄漏，一切消毒前功尽弃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83880" y="1737360"/>
            <a:ext cx="3611880" cy="452628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183880" y="1737360"/>
            <a:ext cx="50292" cy="452628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94192" y="1883664"/>
            <a:ext cx="319125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金检与装箱贮存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4192" y="2300859"/>
            <a:ext cx="3191256" cy="3889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72B"/>
                </a:solidFill>
                <a:latin typeface="Noto Sans CJK SC"/>
              </a:defRPr>
            </a:pPr>
            <a:r>
              <a:t>• 金检机传送带每日清洁；成品库离墙离地、温湿度记录、防虫防鼠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18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25653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环境 · 人员 · CIP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工厂卫生管理的三大日常战场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19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设备与工器具：清洁消毒七步法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每班执行 · 拆到最小单元 · 责任到人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cip7.png"/>
          <p:cNvPicPr>
            <a:picLocks noChangeAspect="1"/>
          </p:cNvPicPr>
          <p:nvPr/>
        </p:nvPicPr>
        <p:blipFill>
          <a:blip r:embed="rId1"/>
          <a:srcRect l="2324" r="646" t="501" b="12030"/>
          <a:stretch>
            <a:fillRect/>
          </a:stretch>
        </p:blipFill>
        <p:spPr>
          <a:xfrm>
            <a:off x="1232484" y="1700784"/>
            <a:ext cx="9726726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20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554480"/>
            <a:ext cx="12191695" cy="3977639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1828800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6400" b="1">
                <a:solidFill>
                  <a:srgbClr val="25653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320040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3600" b="1">
                <a:solidFill>
                  <a:srgbClr val="20372B"/>
                </a:solidFill>
                <a:latin typeface="Noto Sans CJK SC"/>
              </a:defRPr>
            </a:pPr>
            <a:r>
              <a:t>验证 · 误区 · 合规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" y="4297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300" b="0">
                <a:solidFill>
                  <a:srgbClr val="65756B"/>
                </a:solidFill>
                <a:latin typeface="Noto Sans CJK SC"/>
              </a:defRPr>
            </a:pPr>
            <a:r>
              <a:t>做了不算做了，验证过才算做了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166360"/>
            <a:ext cx="1097280" cy="54864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21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消毒效果三层验证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ATP测“脏不脏”，微生物测“有没有菌”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verify.png"/>
          <p:cNvPicPr>
            <a:picLocks noChangeAspect="1"/>
          </p:cNvPicPr>
          <p:nvPr/>
        </p:nvPicPr>
        <p:blipFill>
          <a:blip r:embed="rId1"/>
          <a:srcRect l="328" r="11082" t="603" b="22075"/>
          <a:stretch>
            <a:fillRect/>
          </a:stretch>
        </p:blipFill>
        <p:spPr>
          <a:xfrm>
            <a:off x="1335589" y="1700784"/>
            <a:ext cx="9520515" cy="45171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22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八大常见误区：对照自查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中三条以上的班组，卫生记录再好看也要警惕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09928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09928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819656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219706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消毒剂越浓越好——超浓腐蚀设备、残留超标，效力反而下降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09928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09928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819656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219706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喷完就擦干——没有足够作用时间等于没消毒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2843784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02920" y="2843784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2953512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3353562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只擦看得见的地方——死角、背面、底部才是重灾区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27064" y="2843784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7064" y="2843784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2953512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7376" y="3353562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84和洁厕灵一起用——产生氯气，会出人命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02920" y="3977639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02920" y="3977639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4087368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3232" y="4487418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消毒液配一次用一星期——有效成分早已衰减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27064" y="3977639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27064" y="3977639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37376" y="4087368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37376" y="4487418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白布晒过太阳就不用消毒——晒干≠消毒，两码事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5111496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" y="5111496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5221224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3232" y="5621274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酒精喷雾当万能——对芽孢无效，对脏表面无效，且易燃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27064" y="5111496"/>
            <a:ext cx="5486400" cy="996696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27064" y="5111496"/>
            <a:ext cx="50292" cy="996696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37376" y="5221224"/>
            <a:ext cx="5065776" cy="3360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800" b="1">
                <a:solidFill>
                  <a:srgbClr val="25653B"/>
                </a:solidFill>
                <a:latin typeface="Noto Sans CJK SC"/>
              </a:defRPr>
            </a:pPr>
            <a:r>
              <a:t>误区8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7376" y="5621274"/>
            <a:ext cx="5065776" cy="4137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72B"/>
                </a:solidFill>
                <a:latin typeface="Noto Sans CJK SC"/>
              </a:defRPr>
            </a:pPr>
            <a:r>
              <a:t>记录补填齐就行——假记录比没记录更危险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23 /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237744"/>
            <a:ext cx="7909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2700" b="1">
                <a:solidFill>
                  <a:srgbClr val="25653B"/>
                </a:solidFill>
                <a:latin typeface="Noto Sans CJK SC"/>
              </a:defRPr>
            </a:pPr>
            <a:r>
              <a:t>合规依据与培训要点回顾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7" y="914400"/>
            <a:ext cx="11109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700" b="0">
                <a:solidFill>
                  <a:srgbClr val="65756B"/>
                </a:solidFill>
                <a:latin typeface="Noto Sans CJK SC"/>
              </a:defRPr>
            </a:pPr>
            <a:r>
              <a:t>卫生规范是底线，SOP是落地，验证是闭环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1444752"/>
            <a:ext cx="640080" cy="50292"/>
          </a:xfrm>
          <a:prstGeom prst="roundRect">
            <a:avLst>
              <a:gd name="adj" fmla="val 8000"/>
            </a:avLst>
          </a:prstGeom>
          <a:solidFill>
            <a:srgbClr val="C29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02920" y="1764792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02920" y="1764792"/>
            <a:ext cx="50292" cy="4434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合规依据清单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2328291"/>
            <a:ext cx="5065776" cy="3798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· GB 14881-2025《食品生产通用卫生规范》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  （2026年9月2日实施）：清洁消毒、人员卫生、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  微生物监控的新要求对照自查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· GB 2760：食品添加剂与加工助剂使用范围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· 消毒产品：选用有卫生许可批件的合规产品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· 企业文件：各岗位清洗消毒SOP+记录表单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· 三快原则：快检（ATP）快纠偏快复验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27064" y="1764792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227064" y="1764792"/>
            <a:ext cx="50292" cy="4434840"/>
          </a:xfrm>
          <a:prstGeom prst="roundRect">
            <a:avLst>
              <a:gd name="adj" fmla="val 8000"/>
            </a:avLst>
          </a:prstGeom>
          <a:solidFill>
            <a:srgbClr val="256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37376" y="1911095"/>
            <a:ext cx="5065776" cy="3531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1">
                <a:solidFill>
                  <a:srgbClr val="25653B"/>
                </a:solidFill>
                <a:latin typeface="Noto Sans CJK SC"/>
              </a:defRPr>
            </a:pPr>
            <a:r>
              <a:t>培训要点回顾（带走这五句）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7376" y="2328291"/>
            <a:ext cx="5065776" cy="37981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1. 先清洁、后消毒，顺序不能颠倒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2. 浓度足、时间够、现配现用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3. 芽孢杀不死，就把它饿死——靠aw与干燥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4. 空气和水是看不见的战线：臭氧管水也管空气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72B"/>
                </a:solidFill>
                <a:latin typeface="Noto Sans CJK SC"/>
              </a:defRPr>
            </a:pPr>
            <a:r>
              <a:t>5. 做了不算做了，验证过才算做了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68512" y="210312"/>
            <a:ext cx="1371600" cy="475488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10168128" y="228600"/>
            <a:ext cx="1554480" cy="393192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4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457200" y="6473952"/>
            <a:ext cx="11274552" cy="16459"/>
          </a:xfrm>
          <a:prstGeom prst="roundRect">
            <a:avLst>
              <a:gd name="adj" fmla="val 8000"/>
            </a:avLst>
          </a:prstGeom>
          <a:solidFill>
            <a:srgbClr val="DC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4710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食品工厂灭菌消毒卫生控制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96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900" b="0">
                <a:solidFill>
                  <a:srgbClr val="65756B"/>
                </a:solidFill>
                <a:latin typeface="Noto Sans CJK SC"/>
              </a:defRPr>
            </a:pPr>
            <a:r>
              <a:t>24 / 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1993392"/>
            <a:ext cx="12191695" cy="2788920"/>
          </a:xfrm>
          <a:prstGeom prst="roundRect">
            <a:avLst>
              <a:gd name="adj" fmla="val 8000"/>
            </a:avLst>
          </a:prstGeom>
          <a:solidFill>
            <a:srgbClr val="F1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269748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4000" b="1">
                <a:solidFill>
                  <a:srgbClr val="25653B"/>
                </a:solidFill>
                <a:latin typeface="Noto Sans CJK SC"/>
              </a:defRPr>
            </a:pPr>
            <a:r>
              <a:t>谢谢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138928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刘书源</a:t>
            </a:r>
          </a:p>
          <a:p>
            <a:pPr>
              <a:spcBef>
                <a:spcPts val="0"/>
              </a:spcBef>
              <a:spcAft>
                <a:spcPts val="700"/>
              </a:spcAft>
              <a:defRPr sz="1900" b="0">
                <a:solidFill>
                  <a:srgbClr val="65756B"/>
                </a:solidFill>
                <a:latin typeface="Noto Sans CJK SC"/>
              </a:defRPr>
            </a:pPr>
            <a:r>
              <a:t>2026年10月13日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3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4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5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6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7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8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9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0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1.xml><?xml version="1.0" encoding="utf-8"?>
<p:tagLst xmlns:p="http://schemas.openxmlformats.org/presentationml/2006/main">
  <p:tag name="KSO_WM_DIAGRAM_VIRTUALLY_FRAME" val="{&quot;height&quot;:418.89763779527567,&quot;left&quot;:86.61417322834646,&quot;top&quot;:90.55118110236221,&quot;width&quot;:877.8535433070867}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5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6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7.xml><?xml version="1.0" encoding="utf-8"?>
<p:tagLst xmlns:p="http://schemas.openxmlformats.org/presentationml/2006/main">
  <p:tag name="KSO_WM_DIAGRAM_VIRTUALLY_FRAME" val="{&quot;height&quot;:405.5,&quot;left&quot;:39.35,&quot;top&quot;:86.6,&quot;width&quot;:897.657874015748}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演示</Application>
  <PresentationFormat>On-screen Show (4:3)</PresentationFormat>
  <Paragraphs>266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Arial</vt:lpstr>
      <vt:lpstr>汉仪大宋简</vt:lpstr>
      <vt:lpstr>微软雅黑</vt:lpstr>
      <vt:lpstr>Inter</vt:lpstr>
      <vt:lpstr>Segoe Print</vt:lpstr>
      <vt:lpstr>Calibri</vt:lpstr>
      <vt:lpstr>Arial Unicode MS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书源</cp:lastModifiedBy>
  <cp:revision>13</cp:revision>
  <dcterms:created xsi:type="dcterms:W3CDTF">2013-01-27T09:14:00Z</dcterms:created>
  <dcterms:modified xsi:type="dcterms:W3CDTF">2026-10-13T02:00:54Z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E89130005B45479791326EEB84B61C45_13</vt:lpwstr>
  </property>
  <property fmtid="{D5CDD505-2E9C-101B-9397-08002B2CF9AE}" pid="3" name="KSOProductBuildVer">
    <vt:lpwstr>2052-12.1.0.28505</vt:lpwstr>
  </property>
</Properties>
</file>