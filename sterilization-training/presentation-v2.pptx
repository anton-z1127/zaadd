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webp" ContentType="image/webp"/>
  <Override PartName="/ppt/media/image5.webp" ContentType="image/webp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63" r:id="rId6"/>
    <p:sldId id="259" r:id="rId7"/>
    <p:sldId id="260" r:id="rId8"/>
    <p:sldId id="262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8" r:id="rId21"/>
    <p:sldId id="279" r:id="rId22"/>
    <p:sldId id="280" r:id="rId23"/>
    <p:sldId id="281" r:id="rId24"/>
    <p:sldId id="282" r:id="rId25"/>
    <p:sldId id="283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2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72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webp"/><Relationship Id="rId2" Type="http://schemas.openxmlformats.org/officeDocument/2006/relationships/tags" Target="../tags/tag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webp"/><Relationship Id="rId7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image" Target="../media/image3.png"/><Relationship Id="rId14" Type="http://schemas.openxmlformats.org/officeDocument/2006/relationships/image" Target="../media/image4.png"/><Relationship Id="rId15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tags" Target="../tags/tag1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tags" Target="../tags/tag1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tags" Target="../tags/tag16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tags" Target="../tags/tag18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tags" Target="../tags/tag19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tags" Target="../tags/tag20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tags" Target="../tags/tag25.xml"/><Relationship Id="rId3" Type="http://schemas.openxmlformats.org/officeDocument/2006/relationships/tags" Target="../tags/tag26.xml"/><Relationship Id="rId4" Type="http://schemas.openxmlformats.org/officeDocument/2006/relationships/tags" Target="../tags/tag27.xml"/><Relationship Id="rId5" Type="http://schemas.openxmlformats.org/officeDocument/2006/relationships/tags" Target="../tags/tag28.xml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4.png"/><Relationship Id="rId9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tags" Target="../tags/tag29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tags" Target="../tags/tag3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tags" Target="../tags/tag3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tags" Target="../tags/tag3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tags" Target="../tags/tag34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tags" Target="../tags/tag3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tags" Target="../tags/tag36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tags" Target="../tags/tag3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tags" Target="../tags/tag38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5" name="图片 4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668512" y="210312"/>
            <a:ext cx="1371600" cy="475488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10168128" y="228600"/>
            <a:ext cx="1554480" cy="393192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5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Rounded Rectangle 45"/>
          <p:cNvSpPr/>
          <p:nvPr/>
        </p:nvSpPr>
        <p:spPr>
          <a:xfrm>
            <a:off x="457200" y="6473952"/>
            <a:ext cx="11274552" cy="16459"/>
          </a:xfrm>
          <a:prstGeom prst="roundRect">
            <a:avLst>
              <a:gd name="adj" fmla="val 8000"/>
            </a:avLst>
          </a:prstGeom>
          <a:solidFill>
            <a:srgbClr val="DC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6519672"/>
            <a:ext cx="9144000" cy="292608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食品工厂灭菌消毒卫生控制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519672"/>
            <a:ext cx="685800" cy="22860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01 / 24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0" y="1993392"/>
            <a:ext cx="12191695" cy="2788920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7240" y="2697480"/>
            <a:ext cx="10607040" cy="109728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66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25653B"/>
                </a:solidFill>
                <a:latin typeface="Noto Sans CJK SC"/>
              </a:defRPr>
            </a:pPr>
            <a:r>
              <a:t>食品工厂灭菌消毒卫生控制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" y="5138928"/>
            <a:ext cx="8229600" cy="91440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313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65756B"/>
                </a:solidFill>
                <a:latin typeface="Noto Sans CJK SC"/>
              </a:defRPr>
            </a:pPr>
            <a:r>
              <a:t>刘书源</a:t>
            </a:r>
          </a:p>
          <a:p>
            <a:pPr>
              <a:lnSpc>
                <a:spcPts val="313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65756B"/>
                </a:solidFill>
                <a:latin typeface="Noto Sans CJK SC"/>
              </a:defRPr>
            </a:pPr>
            <a:r>
              <a:t>2026年10月13日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777240" y="365760"/>
            <a:ext cx="1280160" cy="128016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rcRect b="3975"/>
          <a:stretch>
            <a:fillRect/>
          </a:stretch>
        </p:blipFill>
        <p:spPr>
          <a:xfrm>
            <a:off x="9464040" y="4480560"/>
            <a:ext cx="132588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5" name="图片 44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"/>
          <a:stretch>
            <a:fillRect/>
          </a:stretch>
        </p:blipFill>
        <p:spPr>
          <a:xfrm>
            <a:off x="8668512" y="210312"/>
            <a:ext cx="1371600" cy="475488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10168128" y="228600"/>
            <a:ext cx="1554480" cy="393192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14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Rounded Rectangle 45"/>
          <p:cNvSpPr/>
          <p:nvPr/>
        </p:nvSpPr>
        <p:spPr>
          <a:xfrm>
            <a:off x="457200" y="6473952"/>
            <a:ext cx="11274552" cy="16459"/>
          </a:xfrm>
          <a:prstGeom prst="roundRect">
            <a:avLst>
              <a:gd name="adj" fmla="val 8000"/>
            </a:avLst>
          </a:prstGeom>
          <a:solidFill>
            <a:srgbClr val="DC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6519672"/>
            <a:ext cx="9144000" cy="292608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食品工厂灭菌消毒卫生控制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519672"/>
            <a:ext cx="685800" cy="22860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02 / 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804672"/>
            <a:ext cx="11155680" cy="539496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3629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5653B"/>
                </a:solidFill>
                <a:latin typeface="Noto Sans CJK SC"/>
              </a:defRPr>
            </a:pPr>
            <a:r>
              <a:t>目录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1207" y="1362456"/>
            <a:ext cx="11109960" cy="347472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65756B"/>
                </a:solidFill>
                <a:latin typeface="Noto Sans CJK SC"/>
              </a:defRPr>
            </a:pPr>
            <a:r>
              <a:t>Contents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283464"/>
            <a:ext cx="64008" cy="347472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40080" y="1847088"/>
            <a:ext cx="713232" cy="603504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86384" y="1938528"/>
            <a:ext cx="475488" cy="36576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227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FFFFF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600200" y="1833372"/>
            <a:ext cx="9784080" cy="393192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47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0372B"/>
                </a:solidFill>
                <a:latin typeface="Noto Sans CJK SC"/>
              </a:defRPr>
            </a:pPr>
            <a:r>
              <a:t>基础认知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600200" y="2267712"/>
            <a:ext cx="9784080" cy="36576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227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5756B"/>
                </a:solidFill>
                <a:latin typeface="Noto Sans CJK SC"/>
              </a:defRPr>
            </a:pPr>
            <a:r>
              <a:t>微生物谱系 · 清洁/消毒/灭菌概念阶梯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0080" y="2724912"/>
            <a:ext cx="713232" cy="603504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86384" y="2816352"/>
            <a:ext cx="475488" cy="36576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227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FFFFF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600200" y="2711196"/>
            <a:ext cx="9784080" cy="393192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47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0372B"/>
                </a:solidFill>
                <a:latin typeface="Noto Sans CJK SC"/>
              </a:defRPr>
            </a:pPr>
            <a:r>
              <a:t>消毒方法与消毒剂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600200" y="3145536"/>
            <a:ext cx="9784080" cy="36576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227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5756B"/>
                </a:solidFill>
                <a:latin typeface="Noto Sans CJK SC"/>
              </a:defRPr>
            </a:pPr>
            <a:r>
              <a:t>物理四法 · 化学六剂 · 选用与安全铁律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3602736"/>
            <a:ext cx="713232" cy="603504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86384" y="3694176"/>
            <a:ext cx="475488" cy="36576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227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FFFFF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600200" y="3589020"/>
            <a:ext cx="9784080" cy="393192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47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0372B"/>
                </a:solidFill>
                <a:latin typeface="Noto Sans CJK SC"/>
              </a:defRPr>
            </a:pPr>
            <a:r>
              <a:t>全流程消毒关键点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600200" y="4023360"/>
            <a:ext cx="9784080" cy="36576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227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5756B"/>
                </a:solidFill>
                <a:latin typeface="Noto Sans CJK SC"/>
              </a:defRPr>
            </a:pPr>
            <a:r>
              <a:t>对照工艺流程图：水、蛋、布、筐、包材逐点讲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40080" y="4480560"/>
            <a:ext cx="713232" cy="603504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86384" y="4572000"/>
            <a:ext cx="475488" cy="36576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227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FFFFF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600200" y="4466844"/>
            <a:ext cx="9784080" cy="393192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47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0372B"/>
                </a:solidFill>
                <a:latin typeface="Noto Sans CJK SC"/>
              </a:defRPr>
            </a:pPr>
            <a:r>
              <a:t>环境 · 人员 · CIP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600200" y="4901184"/>
            <a:ext cx="9784080" cy="36576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227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5756B"/>
                </a:solidFill>
                <a:latin typeface="Noto Sans CJK SC"/>
              </a:defRPr>
            </a:pPr>
            <a:r>
              <a:t>分区管理 · 六步洗手 · 七步清洁法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40080" y="5358383"/>
            <a:ext cx="713232" cy="603504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86384" y="5449823"/>
            <a:ext cx="475488" cy="36576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227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FFFFF"/>
                </a:solidFill>
                <a:latin typeface="Noto Sans CJK SC"/>
              </a:defRPr>
            </a:pPr>
            <a:r>
              <a:t>05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600200" y="5344668"/>
            <a:ext cx="9784080" cy="393192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47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0372B"/>
                </a:solidFill>
                <a:latin typeface="Noto Sans CJK SC"/>
              </a:defRPr>
            </a:pPr>
            <a:r>
              <a:t>验证 · 误区 · 合规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600200" y="5779007"/>
            <a:ext cx="9784080" cy="36576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227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5756B"/>
                </a:solidFill>
                <a:latin typeface="Noto Sans CJK SC"/>
              </a:defRPr>
            </a:pPr>
            <a:r>
              <a:t>三层验证 · 八大误区 · GB 14881-2025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5" name="图片 4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668512" y="210312"/>
            <a:ext cx="1371600" cy="475488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10168128" y="228600"/>
            <a:ext cx="1554480" cy="393192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4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Rounded Rectangle 45"/>
          <p:cNvSpPr/>
          <p:nvPr/>
        </p:nvSpPr>
        <p:spPr>
          <a:xfrm>
            <a:off x="457200" y="6473952"/>
            <a:ext cx="11274552" cy="16459"/>
          </a:xfrm>
          <a:prstGeom prst="roundRect">
            <a:avLst>
              <a:gd name="adj" fmla="val 8000"/>
            </a:avLst>
          </a:prstGeom>
          <a:solidFill>
            <a:srgbClr val="DC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6519672"/>
            <a:ext cx="9144000" cy="292608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食品工厂灭菌消毒卫生控制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519672"/>
            <a:ext cx="685800" cy="22860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03 / 24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0" y="1554480"/>
            <a:ext cx="12191695" cy="3977639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1828800"/>
            <a:ext cx="2743200" cy="118872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8744"/>
              </a:lnSpc>
              <a:spcBef>
                <a:spcPts val="0"/>
              </a:spcBef>
              <a:spcAft>
                <a:spcPts val="0"/>
              </a:spcAft>
              <a:defRPr sz="5300" b="1">
                <a:solidFill>
                  <a:srgbClr val="25653B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3200400"/>
            <a:ext cx="10698480" cy="91440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594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20372B"/>
                </a:solidFill>
                <a:latin typeface="Noto Sans CJK SC"/>
              </a:defRPr>
            </a:pPr>
            <a:r>
              <a:t>基础认知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4672" y="4297680"/>
            <a:ext cx="10607040" cy="64008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3794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65756B"/>
                </a:solidFill>
                <a:latin typeface="Noto Sans CJK SC"/>
              </a:defRPr>
            </a:pPr>
            <a:r>
              <a:t>看不见的对手，决定看得见的保质期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77240" y="5166360"/>
            <a:ext cx="1097280" cy="54864"/>
          </a:xfrm>
          <a:prstGeom prst="roundRect">
            <a:avLst>
              <a:gd name="adj" fmla="val 8000"/>
            </a:avLst>
          </a:prstGeom>
          <a:solidFill>
            <a:srgbClr val="C29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5" name="图片 4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668512" y="210312"/>
            <a:ext cx="1371600" cy="475488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10168128" y="228600"/>
            <a:ext cx="1554480" cy="393192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5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Rounded Rectangle 45"/>
          <p:cNvSpPr/>
          <p:nvPr/>
        </p:nvSpPr>
        <p:spPr>
          <a:xfrm>
            <a:off x="457200" y="6473952"/>
            <a:ext cx="11274552" cy="16459"/>
          </a:xfrm>
          <a:prstGeom prst="roundRect">
            <a:avLst>
              <a:gd name="adj" fmla="val 8000"/>
            </a:avLst>
          </a:prstGeom>
          <a:solidFill>
            <a:srgbClr val="DC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6519672"/>
            <a:ext cx="9144000" cy="292608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食品工厂灭菌消毒卫生控制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519672"/>
            <a:ext cx="685800" cy="22860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04 / 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804672"/>
            <a:ext cx="11155680" cy="539496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3629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5653B"/>
                </a:solidFill>
                <a:latin typeface="Noto Sans CJK SC"/>
              </a:defRPr>
            </a:pPr>
            <a:r>
              <a:t>消毒灭菌方法总览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1207" y="1362456"/>
            <a:ext cx="11109960" cy="347472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65756B"/>
                </a:solidFill>
                <a:latin typeface="Noto Sans CJK SC"/>
              </a:defRPr>
            </a:pPr>
            <a:r>
              <a:t>物理与化学两条战线，组合使用才可靠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283464"/>
            <a:ext cx="64008" cy="347472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_tree.png"/>
          <p:cNvPicPr>
            <a:picLocks noChangeAspect="1"/>
          </p:cNvPicPr>
          <p:nvPr/>
        </p:nvPicPr>
        <p:blipFill>
          <a:blip r:embed="rId1"/>
          <a:srcRect l="12847" r="7489" t="445" b="1891"/>
          <a:stretch>
            <a:fillRect/>
          </a:stretch>
        </p:blipFill>
        <p:spPr>
          <a:xfrm>
            <a:off x="3024317" y="1819656"/>
            <a:ext cx="6143060" cy="43708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5" name="图片 4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668512" y="210312"/>
            <a:ext cx="1371600" cy="475488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10168128" y="228600"/>
            <a:ext cx="1554480" cy="393192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5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Rounded Rectangle 45"/>
          <p:cNvSpPr/>
          <p:nvPr/>
        </p:nvSpPr>
        <p:spPr>
          <a:xfrm>
            <a:off x="457200" y="6473952"/>
            <a:ext cx="11274552" cy="16459"/>
          </a:xfrm>
          <a:prstGeom prst="roundRect">
            <a:avLst>
              <a:gd name="adj" fmla="val 8000"/>
            </a:avLst>
          </a:prstGeom>
          <a:solidFill>
            <a:srgbClr val="DC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6519672"/>
            <a:ext cx="9144000" cy="292608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食品工厂灭菌消毒卫生控制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519672"/>
            <a:ext cx="685800" cy="22860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05 / 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804672"/>
            <a:ext cx="11155680" cy="539496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3629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5653B"/>
                </a:solidFill>
                <a:latin typeface="Noto Sans CJK SC"/>
              </a:defRPr>
            </a:pPr>
            <a:r>
              <a:t>微生物：看不见的对手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1207" y="1362456"/>
            <a:ext cx="11109960" cy="347472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65756B"/>
                </a:solidFill>
                <a:latin typeface="Noto Sans CJK SC"/>
              </a:defRPr>
            </a:pPr>
            <a:r>
              <a:t>认清对象，才能选对武器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283464"/>
            <a:ext cx="64008" cy="347472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_resist.png"/>
          <p:cNvPicPr>
            <a:picLocks noChangeAspect="1"/>
          </p:cNvPicPr>
          <p:nvPr/>
        </p:nvPicPr>
        <p:blipFill>
          <a:blip r:embed="rId1"/>
          <a:srcRect l="268" r="161" t="414" b="724"/>
          <a:stretch>
            <a:fillRect/>
          </a:stretch>
        </p:blipFill>
        <p:spPr>
          <a:xfrm>
            <a:off x="1850745" y="1819656"/>
            <a:ext cx="8490204" cy="43708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5" name="图片 4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668512" y="210312"/>
            <a:ext cx="1371600" cy="475488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10168128" y="228600"/>
            <a:ext cx="1554480" cy="393192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5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Rounded Rectangle 45"/>
          <p:cNvSpPr/>
          <p:nvPr/>
        </p:nvSpPr>
        <p:spPr>
          <a:xfrm>
            <a:off x="457200" y="6473952"/>
            <a:ext cx="11274552" cy="16459"/>
          </a:xfrm>
          <a:prstGeom prst="roundRect">
            <a:avLst>
              <a:gd name="adj" fmla="val 8000"/>
            </a:avLst>
          </a:prstGeom>
          <a:solidFill>
            <a:srgbClr val="DC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6519672"/>
            <a:ext cx="9144000" cy="292608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食品工厂灭菌消毒卫生控制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519672"/>
            <a:ext cx="685800" cy="22860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06 / 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804672"/>
            <a:ext cx="11155680" cy="539496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3629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5653B"/>
                </a:solidFill>
                <a:latin typeface="Noto Sans CJK SC"/>
              </a:defRPr>
            </a:pPr>
            <a:r>
              <a:t>清洁、消毒、灭菌：一字之差，天壤之别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1207" y="1362456"/>
            <a:ext cx="11109960" cy="347472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65756B"/>
                </a:solidFill>
                <a:latin typeface="Noto Sans CJK SC"/>
              </a:defRPr>
            </a:pPr>
            <a:r>
              <a:t>顺序不可颠倒：没洗干净，消毒就是白做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283464"/>
            <a:ext cx="64008" cy="347472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_level.png"/>
          <p:cNvPicPr>
            <a:picLocks noChangeAspect="1"/>
          </p:cNvPicPr>
          <p:nvPr/>
        </p:nvPicPr>
        <p:blipFill>
          <a:blip r:embed="rId1"/>
          <a:srcRect l="3035" r="8892" t="602" b="8554"/>
          <a:stretch>
            <a:fillRect/>
          </a:stretch>
        </p:blipFill>
        <p:spPr>
          <a:xfrm>
            <a:off x="2478607" y="1819656"/>
            <a:ext cx="7234480" cy="43708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5" name="图片 4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668512" y="210312"/>
            <a:ext cx="1371600" cy="475488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10168128" y="228600"/>
            <a:ext cx="1554480" cy="393192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4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Rounded Rectangle 45"/>
          <p:cNvSpPr/>
          <p:nvPr/>
        </p:nvSpPr>
        <p:spPr>
          <a:xfrm>
            <a:off x="457200" y="6473952"/>
            <a:ext cx="11274552" cy="16459"/>
          </a:xfrm>
          <a:prstGeom prst="roundRect">
            <a:avLst>
              <a:gd name="adj" fmla="val 8000"/>
            </a:avLst>
          </a:prstGeom>
          <a:solidFill>
            <a:srgbClr val="DC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6519672"/>
            <a:ext cx="9144000" cy="292608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食品工厂灭菌消毒卫生控制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519672"/>
            <a:ext cx="685800" cy="22860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07 / 24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0" y="1554480"/>
            <a:ext cx="12191695" cy="3977639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1828800"/>
            <a:ext cx="2743200" cy="118872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8744"/>
              </a:lnSpc>
              <a:spcBef>
                <a:spcPts val="0"/>
              </a:spcBef>
              <a:spcAft>
                <a:spcPts val="0"/>
              </a:spcAft>
              <a:defRPr sz="5300" b="1">
                <a:solidFill>
                  <a:srgbClr val="25653B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3200400"/>
            <a:ext cx="10698480" cy="91440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594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20372B"/>
                </a:solidFill>
                <a:latin typeface="Noto Sans CJK SC"/>
              </a:defRPr>
            </a:pPr>
            <a:r>
              <a:t>消毒方法与消毒剂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4672" y="4297680"/>
            <a:ext cx="10607040" cy="64008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3794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65756B"/>
                </a:solidFill>
                <a:latin typeface="Noto Sans CJK SC"/>
              </a:defRPr>
            </a:pPr>
            <a:r>
              <a:t>物理四法 × 化学六剂：知道每个武器打谁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77240" y="5166360"/>
            <a:ext cx="1097280" cy="54864"/>
          </a:xfrm>
          <a:prstGeom prst="roundRect">
            <a:avLst>
              <a:gd name="adj" fmla="val 8000"/>
            </a:avLst>
          </a:prstGeom>
          <a:solidFill>
            <a:srgbClr val="C29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5" name="图片 4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668512" y="210312"/>
            <a:ext cx="1371600" cy="475488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10168128" y="228600"/>
            <a:ext cx="1554480" cy="393192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5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Rounded Rectangle 45"/>
          <p:cNvSpPr/>
          <p:nvPr/>
        </p:nvSpPr>
        <p:spPr>
          <a:xfrm>
            <a:off x="457200" y="6473952"/>
            <a:ext cx="11274552" cy="16459"/>
          </a:xfrm>
          <a:prstGeom prst="roundRect">
            <a:avLst>
              <a:gd name="adj" fmla="val 8000"/>
            </a:avLst>
          </a:prstGeom>
          <a:solidFill>
            <a:srgbClr val="DC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6519672"/>
            <a:ext cx="9144000" cy="292608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食品工厂灭菌消毒卫生控制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519672"/>
            <a:ext cx="685800" cy="22860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08 / 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804672"/>
            <a:ext cx="11155680" cy="539496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3629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5653B"/>
                </a:solidFill>
                <a:latin typeface="Noto Sans CJK SC"/>
              </a:defRPr>
            </a:pPr>
            <a:r>
              <a:t>热力消毒：最可靠也最容易被误解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1207" y="1362456"/>
            <a:ext cx="11109960" cy="347472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65756B"/>
                </a:solidFill>
                <a:latin typeface="Noto Sans CJK SC"/>
              </a:defRPr>
            </a:pPr>
            <a:r>
              <a:t>烘烤是工艺加热，不是消毒程序——两者目标不同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283464"/>
            <a:ext cx="64008" cy="347472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_heat.png"/>
          <p:cNvPicPr>
            <a:picLocks noChangeAspect="1"/>
          </p:cNvPicPr>
          <p:nvPr/>
        </p:nvPicPr>
        <p:blipFill>
          <a:blip r:embed="rId1"/>
          <a:srcRect l="304" r="182" t="450" b="788"/>
          <a:stretch>
            <a:fillRect/>
          </a:stretch>
        </p:blipFill>
        <p:spPr>
          <a:xfrm>
            <a:off x="2014078" y="1819656"/>
            <a:ext cx="8163537" cy="43708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5" name="图片 4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668512" y="210312"/>
            <a:ext cx="1371600" cy="475488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10168128" y="228600"/>
            <a:ext cx="1554480" cy="393192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5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Rounded Rectangle 45"/>
          <p:cNvSpPr/>
          <p:nvPr/>
        </p:nvSpPr>
        <p:spPr>
          <a:xfrm>
            <a:off x="457200" y="6473952"/>
            <a:ext cx="11274552" cy="16459"/>
          </a:xfrm>
          <a:prstGeom prst="roundRect">
            <a:avLst>
              <a:gd name="adj" fmla="val 8000"/>
            </a:avLst>
          </a:prstGeom>
          <a:solidFill>
            <a:srgbClr val="DC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6519672"/>
            <a:ext cx="9144000" cy="292608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食品工厂灭菌消毒卫生控制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519672"/>
            <a:ext cx="685800" cy="22860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09 / 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804672"/>
            <a:ext cx="11155680" cy="539496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3629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5653B"/>
                </a:solidFill>
                <a:latin typeface="Noto Sans CJK SC"/>
              </a:defRPr>
            </a:pPr>
            <a:r>
              <a:t>六大常用化学消毒剂速查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1207" y="1362456"/>
            <a:ext cx="11109960" cy="347472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65756B"/>
                </a:solidFill>
                <a:latin typeface="Noto Sans CJK SC"/>
              </a:defRPr>
            </a:pPr>
            <a:r>
              <a:t>浓度与时间以产品说明书为准，验证后固化进SOP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283464"/>
            <a:ext cx="64008" cy="347472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_chem.png"/>
          <p:cNvPicPr>
            <a:picLocks noChangeAspect="1"/>
          </p:cNvPicPr>
          <p:nvPr/>
        </p:nvPicPr>
        <p:blipFill>
          <a:blip r:embed="rId1"/>
          <a:srcRect l="258" r="258" t="451" b="21195"/>
          <a:stretch>
            <a:fillRect/>
          </a:stretch>
        </p:blipFill>
        <p:spPr>
          <a:xfrm>
            <a:off x="1250198" y="1819656"/>
            <a:ext cx="9691298" cy="43708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5" name="图片 4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"/>
          <a:stretch>
            <a:fillRect/>
          </a:stretch>
        </p:blipFill>
        <p:spPr>
          <a:xfrm>
            <a:off x="8668512" y="210312"/>
            <a:ext cx="1371600" cy="475488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10168128" y="228600"/>
            <a:ext cx="1554480" cy="393192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4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Rounded Rectangle 45"/>
          <p:cNvSpPr/>
          <p:nvPr/>
        </p:nvSpPr>
        <p:spPr>
          <a:xfrm>
            <a:off x="457200" y="6473952"/>
            <a:ext cx="11274552" cy="16459"/>
          </a:xfrm>
          <a:prstGeom prst="roundRect">
            <a:avLst>
              <a:gd name="adj" fmla="val 8000"/>
            </a:avLst>
          </a:prstGeom>
          <a:solidFill>
            <a:srgbClr val="DC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6519672"/>
            <a:ext cx="9144000" cy="292608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食品工厂灭菌消毒卫生控制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519672"/>
            <a:ext cx="685800" cy="22860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10 / 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804672"/>
            <a:ext cx="11155680" cy="539496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3629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5653B"/>
                </a:solidFill>
                <a:latin typeface="Noto Sans CJK SC"/>
              </a:defRPr>
            </a:pPr>
            <a:r>
              <a:t>含氯消毒剂与二氧化氯：车间的主力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1207" y="1362456"/>
            <a:ext cx="11109960" cy="347472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65756B"/>
                </a:solidFill>
                <a:latin typeface="Noto Sans CJK SC"/>
              </a:defRPr>
            </a:pPr>
            <a:r>
              <a:t>地面墙面器具的主力，用对浓度才有效力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283464"/>
            <a:ext cx="64008" cy="347472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502920" y="1847088"/>
            <a:ext cx="5486400" cy="4416552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502920" y="1847088"/>
            <a:ext cx="41148" cy="4416552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0936" y="1975104"/>
            <a:ext cx="5230368" cy="474344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313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5653B"/>
                </a:solidFill>
                <a:latin typeface="Noto Sans CJK SC"/>
              </a:defRPr>
            </a:pPr>
            <a:r>
              <a:t>含氯消毒剂（84消毒液/次氯酸钠）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0936" y="2486025"/>
            <a:ext cx="5230368" cy="3649599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8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配置：100~250 mg/L 有效氯（器具接触面取</a:t>
            </a:r>
          </a:p>
          <a:p>
            <a:pPr>
              <a:lnSpc>
                <a:spcPts val="28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下限、地面排水沟取上限）</a:t>
            </a:r>
          </a:p>
          <a:p>
            <a:pPr>
              <a:lnSpc>
                <a:spcPts val="28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作用：10~20 分钟，保持表面湿润</a:t>
            </a:r>
          </a:p>
          <a:p>
            <a:pPr>
              <a:lnSpc>
                <a:spcPts val="28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优势：广谱、廉价、对霉菌酵母也好用</a:t>
            </a:r>
          </a:p>
          <a:p>
            <a:pPr>
              <a:lnSpc>
                <a:spcPts val="28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局限：</a:t>
            </a:r>
          </a:p>
          <a:p>
            <a:pPr>
              <a:lnSpc>
                <a:spcPts val="28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· 对金属有腐蚀性——不锈钢器具消毒后要冲</a:t>
            </a:r>
          </a:p>
          <a:p>
            <a:pPr>
              <a:lnSpc>
                <a:spcPts val="28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净沥干</a:t>
            </a:r>
          </a:p>
          <a:p>
            <a:pPr>
              <a:lnSpc>
                <a:spcPts val="28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· 遇有机物快速失效——必须先清洁再消毒</a:t>
            </a:r>
          </a:p>
          <a:p>
            <a:pPr>
              <a:lnSpc>
                <a:spcPts val="28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· 配好后 24 小时内用完，阳光暴晒会失效</a:t>
            </a:r>
          </a:p>
          <a:p>
            <a:pPr>
              <a:lnSpc>
                <a:spcPts val="28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· 食品接触面消毒后必须饮用水冲洗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27064" y="1847088"/>
            <a:ext cx="5486400" cy="4416552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227064" y="1847088"/>
            <a:ext cx="41148" cy="4416552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55079" y="1975104"/>
            <a:ext cx="5230368" cy="474344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313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5653B"/>
                </a:solidFill>
                <a:latin typeface="Noto Sans CJK SC"/>
              </a:defRPr>
            </a:pPr>
            <a:r>
              <a:t>二氧化氯（ClO2）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55079" y="2486025"/>
            <a:ext cx="5230368" cy="3649599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8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配置：活化后 50~150 mg/L，现配现用</a:t>
            </a:r>
          </a:p>
          <a:p>
            <a:pPr>
              <a:lnSpc>
                <a:spcPts val="28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作用：10~15 分钟</a:t>
            </a:r>
          </a:p>
          <a:p>
            <a:pPr>
              <a:lnSpc>
                <a:spcPts val="28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优势：</a:t>
            </a:r>
          </a:p>
          <a:p>
            <a:pPr>
              <a:lnSpc>
                <a:spcPts val="28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· 受有机物影响小，对芽孢作用强于含氯</a:t>
            </a:r>
          </a:p>
          <a:p>
            <a:pPr>
              <a:lnSpc>
                <a:spcPts val="28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· 无氯味残留，适合食品接触面</a:t>
            </a:r>
          </a:p>
          <a:p>
            <a:pPr>
              <a:lnSpc>
                <a:spcPts val="28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注意：</a:t>
            </a:r>
          </a:p>
          <a:p>
            <a:pPr>
              <a:lnSpc>
                <a:spcPts val="28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· 活化剂（柠檬酸）与主剂分开存放，现配现</a:t>
            </a:r>
          </a:p>
          <a:p>
            <a:pPr>
              <a:lnSpc>
                <a:spcPts val="28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用</a:t>
            </a:r>
          </a:p>
          <a:p>
            <a:pPr>
              <a:lnSpc>
                <a:spcPts val="28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· 高浓度有刺激气味，配制区域要通风</a:t>
            </a:r>
          </a:p>
          <a:p>
            <a:pPr>
              <a:lnSpc>
                <a:spcPts val="28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· 定期用试纸验证浓度是否达标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5" name="图片 4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668512" y="210312"/>
            <a:ext cx="1371600" cy="475488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10168128" y="228600"/>
            <a:ext cx="1554480" cy="393192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4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Rounded Rectangle 45"/>
          <p:cNvSpPr/>
          <p:nvPr/>
        </p:nvSpPr>
        <p:spPr>
          <a:xfrm>
            <a:off x="457200" y="6473952"/>
            <a:ext cx="11274552" cy="16459"/>
          </a:xfrm>
          <a:prstGeom prst="roundRect">
            <a:avLst>
              <a:gd name="adj" fmla="val 8000"/>
            </a:avLst>
          </a:prstGeom>
          <a:solidFill>
            <a:srgbClr val="DC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6519672"/>
            <a:ext cx="9144000" cy="292608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食品工厂灭菌消毒卫生控制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519672"/>
            <a:ext cx="685800" cy="22860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11 / 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804672"/>
            <a:ext cx="11155680" cy="539496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3629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5653B"/>
                </a:solidFill>
                <a:latin typeface="Noto Sans CJK SC"/>
              </a:defRPr>
            </a:pPr>
            <a:r>
              <a:t>酒精· 季铵盐· 过氧乙酸· 过氧化氢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1207" y="1362456"/>
            <a:ext cx="11109960" cy="347472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65756B"/>
                </a:solidFill>
                <a:latin typeface="Noto Sans CJK SC"/>
              </a:defRPr>
            </a:pPr>
            <a:r>
              <a:t>各有各的脾气：知道短板比知道优点更重要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283464"/>
            <a:ext cx="64008" cy="347472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502920" y="1847088"/>
            <a:ext cx="5486400" cy="2148840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502920" y="1847088"/>
            <a:ext cx="41148" cy="2148840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0936" y="1975104"/>
            <a:ext cx="5230368" cy="432435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804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5653B"/>
                </a:solidFill>
                <a:latin typeface="Noto Sans CJK SC"/>
              </a:defRPr>
            </a:pPr>
            <a:r>
              <a:t>75%酒精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0936" y="2444115"/>
            <a:ext cx="5230368" cy="1423797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0372B"/>
                </a:solidFill>
                <a:latin typeface="Noto Sans CJK SC"/>
              </a:defRPr>
            </a:pPr>
            <a:r>
              <a:t>速干、无残留——手部和台面的首选</a:t>
            </a:r>
          </a:p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0372B"/>
                </a:solidFill>
                <a:latin typeface="Noto Sans CJK SC"/>
              </a:defRPr>
            </a:pPr>
            <a:r>
              <a:t>短板：对芽孢无效；喷洒面积大时易燃（车间禁</a:t>
            </a:r>
          </a:p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0372B"/>
                </a:solidFill>
                <a:latin typeface="Noto Sans CJK SC"/>
              </a:defRPr>
            </a:pPr>
            <a:r>
              <a:t>明火）；</a:t>
            </a:r>
          </a:p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0372B"/>
                </a:solidFill>
                <a:latin typeface="Noto Sans CJK SC"/>
              </a:defRPr>
            </a:pPr>
            <a:r>
              <a:t>表面有蛋白残留时效力骤降——先擦净再喷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27064" y="1847088"/>
            <a:ext cx="5486400" cy="2148840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227064" y="1847088"/>
            <a:ext cx="41148" cy="2148840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55079" y="1975104"/>
            <a:ext cx="5230368" cy="432435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804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5653B"/>
                </a:solidFill>
                <a:latin typeface="Noto Sans CJK SC"/>
              </a:defRPr>
            </a:pPr>
            <a:r>
              <a:t>季铵盐类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55079" y="2444115"/>
            <a:ext cx="5230368" cy="1423797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0372B"/>
                </a:solidFill>
                <a:latin typeface="Noto Sans CJK SC"/>
              </a:defRPr>
            </a:pPr>
            <a:r>
              <a:t>低毒低腐蚀，适合塑料筐、操作台面</a:t>
            </a:r>
          </a:p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0372B"/>
                </a:solidFill>
                <a:latin typeface="Noto Sans CJK SC"/>
              </a:defRPr>
            </a:pPr>
            <a:r>
              <a:t>短板：对革兰阴性菌偏弱；与阴离子清洗剂互相</a:t>
            </a:r>
          </a:p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0372B"/>
                </a:solidFill>
                <a:latin typeface="Noto Sans CJK SC"/>
              </a:defRPr>
            </a:pPr>
            <a:r>
              <a:t>中和——</a:t>
            </a:r>
          </a:p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0372B"/>
                </a:solidFill>
                <a:latin typeface="Noto Sans CJK SC"/>
              </a:defRPr>
            </a:pPr>
            <a:r>
              <a:t>清洗剂冲不净=消毒白做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02920" y="4160520"/>
            <a:ext cx="5486400" cy="2103120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502920" y="4160520"/>
            <a:ext cx="41148" cy="2103120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0936" y="4288536"/>
            <a:ext cx="5230368" cy="432435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804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5653B"/>
                </a:solidFill>
                <a:latin typeface="Noto Sans CJK SC"/>
              </a:defRPr>
            </a:pPr>
            <a:r>
              <a:t>过氧乙酸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0936" y="4757546"/>
            <a:ext cx="5230368" cy="1378076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722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20372B"/>
                </a:solidFill>
                <a:latin typeface="Noto Sans CJK SC"/>
              </a:defRPr>
            </a:pPr>
            <a:r>
              <a:t>高效广谱，分解后无残留——CIP管线常用</a:t>
            </a:r>
          </a:p>
          <a:p>
            <a:pPr>
              <a:lnSpc>
                <a:spcPts val="2722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20372B"/>
                </a:solidFill>
                <a:latin typeface="Noto Sans CJK SC"/>
              </a:defRPr>
            </a:pPr>
            <a:r>
              <a:t>短板：刺激性强、稳定性差，稀释液当天用完；</a:t>
            </a:r>
          </a:p>
          <a:p>
            <a:pPr>
              <a:lnSpc>
                <a:spcPts val="2722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20372B"/>
                </a:solidFill>
                <a:latin typeface="Noto Sans CJK SC"/>
              </a:defRPr>
            </a:pPr>
            <a:r>
              <a:t>配制时先加水后加药，佩戴防护面罩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227064" y="4160520"/>
            <a:ext cx="5486400" cy="2103120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227064" y="4160520"/>
            <a:ext cx="41148" cy="2103120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55079" y="4288536"/>
            <a:ext cx="5230368" cy="432435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804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5653B"/>
                </a:solidFill>
                <a:latin typeface="Noto Sans CJK SC"/>
              </a:defRPr>
            </a:pPr>
            <a:r>
              <a:t>过氧化氢（双氧水）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55079" y="4757546"/>
            <a:ext cx="5230368" cy="1378076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557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20372B"/>
                </a:solidFill>
                <a:latin typeface="Noto Sans CJK SC"/>
              </a:defRPr>
            </a:pPr>
            <a:r>
              <a:t>无残留，空间干雾消毒的新趋势</a:t>
            </a:r>
          </a:p>
          <a:p>
            <a:pPr>
              <a:lnSpc>
                <a:spcPts val="2557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20372B"/>
                </a:solidFill>
                <a:latin typeface="Noto Sans CJK SC"/>
              </a:defRPr>
            </a:pPr>
            <a:r>
              <a:t>短板：低浓度对芽孢作用有限；空间干雾需专业设</a:t>
            </a:r>
          </a:p>
          <a:p>
            <a:pPr>
              <a:lnSpc>
                <a:spcPts val="2557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20372B"/>
                </a:solidFill>
                <a:latin typeface="Noto Sans CJK SC"/>
              </a:defRPr>
            </a:pPr>
            <a:r>
              <a:t>备</a:t>
            </a:r>
          </a:p>
          <a:p>
            <a:pPr>
              <a:lnSpc>
                <a:spcPts val="2557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20372B"/>
                </a:solidFill>
                <a:latin typeface="Noto Sans CJK SC"/>
              </a:defRPr>
            </a:pPr>
            <a:r>
              <a:t>与密闭条件，停产后夜间执行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5" name="图片 4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668512" y="210312"/>
            <a:ext cx="1371600" cy="475488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10168128" y="228600"/>
            <a:ext cx="1554480" cy="393192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4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Rounded Rectangle 45"/>
          <p:cNvSpPr/>
          <p:nvPr/>
        </p:nvSpPr>
        <p:spPr>
          <a:xfrm>
            <a:off x="457200" y="6473952"/>
            <a:ext cx="11274552" cy="16459"/>
          </a:xfrm>
          <a:prstGeom prst="roundRect">
            <a:avLst>
              <a:gd name="adj" fmla="val 8000"/>
            </a:avLst>
          </a:prstGeom>
          <a:solidFill>
            <a:srgbClr val="DC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6519672"/>
            <a:ext cx="9144000" cy="292608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食品工厂灭菌消毒卫生控制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519672"/>
            <a:ext cx="685800" cy="22860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12 / 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804672"/>
            <a:ext cx="11155680" cy="539496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3629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5653B"/>
                </a:solidFill>
                <a:latin typeface="Noto Sans CJK SC"/>
              </a:defRPr>
            </a:pPr>
            <a:r>
              <a:t>消毒剂使用五条铁律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1207" y="1362456"/>
            <a:ext cx="11109960" cy="347472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65756B"/>
                </a:solidFill>
                <a:latin typeface="Noto Sans CJK SC"/>
              </a:defRPr>
            </a:pPr>
            <a:r>
              <a:t>条条都是事故换来的经验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283464"/>
            <a:ext cx="64008" cy="347472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502920" y="1847088"/>
            <a:ext cx="5486400" cy="1316736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502920" y="1847088"/>
            <a:ext cx="41148" cy="1316736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0936" y="1975104"/>
            <a:ext cx="5230368" cy="432435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804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5653B"/>
                </a:solidFill>
                <a:latin typeface="Noto Sans CJK SC"/>
              </a:defRPr>
            </a:pPr>
            <a:r>
              <a:t>铁律一：先清洁，后消毒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0936" y="2444115"/>
            <a:ext cx="5230368" cy="591692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197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0372B"/>
                </a:solidFill>
                <a:latin typeface="Noto Sans CJK SC"/>
              </a:defRPr>
            </a:pPr>
            <a:r>
              <a:t>残面、油脂不除，消毒剂接触的是脏东西不是菌——这是最常见的</a:t>
            </a:r>
          </a:p>
          <a:p>
            <a:pPr>
              <a:lnSpc>
                <a:spcPts val="197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0372B"/>
                </a:solidFill>
                <a:latin typeface="Noto Sans CJK SC"/>
              </a:defRPr>
            </a:pPr>
            <a:r>
              <a:t>无效消毒。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27064" y="1847088"/>
            <a:ext cx="5486400" cy="1316736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227064" y="1847088"/>
            <a:ext cx="41148" cy="1316736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55079" y="1975104"/>
            <a:ext cx="5230368" cy="432435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804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5653B"/>
                </a:solidFill>
                <a:latin typeface="Noto Sans CJK SC"/>
              </a:defRPr>
            </a:pPr>
            <a:r>
              <a:t>铁律二：浓度足、时间够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55079" y="2444115"/>
            <a:ext cx="5230368" cy="591692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197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0372B"/>
                </a:solidFill>
                <a:latin typeface="Noto Sans CJK SC"/>
              </a:defRPr>
            </a:pPr>
            <a:r>
              <a:t>浓度翻倍≠时间减半；宁可按SOP老实泡够10~20分钟，也不要图</a:t>
            </a:r>
          </a:p>
          <a:p>
            <a:pPr>
              <a:lnSpc>
                <a:spcPts val="197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0372B"/>
                </a:solidFill>
                <a:latin typeface="Noto Sans CJK SC"/>
              </a:defRPr>
            </a:pPr>
            <a:r>
              <a:t>快。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02920" y="3328416"/>
            <a:ext cx="5486400" cy="1316736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502920" y="3328416"/>
            <a:ext cx="41148" cy="1316736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0936" y="3456432"/>
            <a:ext cx="5230368" cy="432435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804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5653B"/>
                </a:solidFill>
                <a:latin typeface="Noto Sans CJK SC"/>
              </a:defRPr>
            </a:pPr>
            <a:r>
              <a:t>铁律三：现配现用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0936" y="3925443"/>
            <a:ext cx="5230368" cy="591692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197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0372B"/>
                </a:solidFill>
                <a:latin typeface="Noto Sans CJK SC"/>
              </a:defRPr>
            </a:pPr>
            <a:r>
              <a:t>含氯、过氧乙酸、二氧化氯稀释液都会衰减——配好标签写时间，</a:t>
            </a:r>
          </a:p>
          <a:p>
            <a:pPr>
              <a:lnSpc>
                <a:spcPts val="197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0372B"/>
                </a:solidFill>
                <a:latin typeface="Noto Sans CJK SC"/>
              </a:defRPr>
            </a:pPr>
            <a:r>
              <a:t>超时重配。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227064" y="3328416"/>
            <a:ext cx="5486400" cy="1316736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227064" y="3328416"/>
            <a:ext cx="41148" cy="1316736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55079" y="3456432"/>
            <a:ext cx="5230368" cy="432435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804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5653B"/>
                </a:solidFill>
                <a:latin typeface="Noto Sans CJK SC"/>
              </a:defRPr>
            </a:pPr>
            <a:r>
              <a:t>铁律四：不混用、不叠加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55079" y="3925443"/>
            <a:ext cx="5230368" cy="591692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197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0372B"/>
                </a:solidFill>
                <a:latin typeface="Noto Sans CJK SC"/>
              </a:defRPr>
            </a:pPr>
            <a:r>
              <a:t>含氯与酸性清洁剂混合会产生氯气！季铵盐与阴离子清洗剂互相中</a:t>
            </a:r>
          </a:p>
          <a:p>
            <a:pPr>
              <a:lnSpc>
                <a:spcPts val="197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0372B"/>
                </a:solidFill>
                <a:latin typeface="Noto Sans CJK SC"/>
              </a:defRPr>
            </a:pPr>
            <a:r>
              <a:t>和。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02920" y="4818888"/>
            <a:ext cx="11210544" cy="1426464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502920" y="4818888"/>
            <a:ext cx="41148" cy="1426464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21792" y="4928616"/>
            <a:ext cx="3127248" cy="1207008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5653B"/>
                </a:solidFill>
                <a:latin typeface="Noto Sans CJK SC"/>
              </a:defRPr>
            </a:pPr>
            <a:r>
              <a:t>铁律五：安全第一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913632" y="4928616"/>
            <a:ext cx="7680960" cy="1207008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8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浓消毒剂存放上锁、专人保管；配制戴手套口罩；酒精区域严禁明火</a:t>
            </a:r>
          </a:p>
          <a:p>
            <a:pPr>
              <a:lnSpc>
                <a:spcPts val="28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5" name="图片 4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668512" y="210312"/>
            <a:ext cx="1371600" cy="475488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10168128" y="228600"/>
            <a:ext cx="1554480" cy="393192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4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Rounded Rectangle 45"/>
          <p:cNvSpPr/>
          <p:nvPr/>
        </p:nvSpPr>
        <p:spPr>
          <a:xfrm>
            <a:off x="457200" y="6473952"/>
            <a:ext cx="11274552" cy="16459"/>
          </a:xfrm>
          <a:prstGeom prst="roundRect">
            <a:avLst>
              <a:gd name="adj" fmla="val 8000"/>
            </a:avLst>
          </a:prstGeom>
          <a:solidFill>
            <a:srgbClr val="DC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6519672"/>
            <a:ext cx="9144000" cy="292608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食品工厂灭菌消毒卫生控制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519672"/>
            <a:ext cx="685800" cy="22860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13 / 24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0" y="1554480"/>
            <a:ext cx="12191695" cy="3977639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1828800"/>
            <a:ext cx="2743200" cy="118872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8744"/>
              </a:lnSpc>
              <a:spcBef>
                <a:spcPts val="0"/>
              </a:spcBef>
              <a:spcAft>
                <a:spcPts val="0"/>
              </a:spcAft>
              <a:defRPr sz="5300" b="1">
                <a:solidFill>
                  <a:srgbClr val="25653B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3200400"/>
            <a:ext cx="10698480" cy="91440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594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20372B"/>
                </a:solidFill>
                <a:latin typeface="Noto Sans CJK SC"/>
              </a:defRPr>
            </a:pPr>
            <a:r>
              <a:t>全流程消毒关键点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4672" y="4297680"/>
            <a:ext cx="10607040" cy="64008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3794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65756B"/>
                </a:solidFill>
                <a:latin typeface="Noto Sans CJK SC"/>
              </a:defRPr>
            </a:pPr>
            <a:r>
              <a:t>对照工艺流程图：从一桶水到一只包装袋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77240" y="5166360"/>
            <a:ext cx="1097280" cy="54864"/>
          </a:xfrm>
          <a:prstGeom prst="roundRect">
            <a:avLst>
              <a:gd name="adj" fmla="val 8000"/>
            </a:avLst>
          </a:prstGeom>
          <a:solidFill>
            <a:srgbClr val="C29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5" name="图片 4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668512" y="210312"/>
            <a:ext cx="1371600" cy="475488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10168128" y="228600"/>
            <a:ext cx="1554480" cy="393192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8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Rounded Rectangle 45"/>
          <p:cNvSpPr/>
          <p:nvPr/>
        </p:nvSpPr>
        <p:spPr>
          <a:xfrm>
            <a:off x="457200" y="6473952"/>
            <a:ext cx="11274552" cy="16459"/>
          </a:xfrm>
          <a:prstGeom prst="roundRect">
            <a:avLst>
              <a:gd name="adj" fmla="val 8000"/>
            </a:avLst>
          </a:prstGeom>
          <a:solidFill>
            <a:srgbClr val="DC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6519672"/>
            <a:ext cx="9144000" cy="292608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食品工厂灭菌消毒卫生控制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519672"/>
            <a:ext cx="685800" cy="22860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14 / 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804672"/>
            <a:ext cx="11155680" cy="539496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3629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5653B"/>
                </a:solidFill>
                <a:latin typeface="Noto Sans CJK SC"/>
              </a:defRPr>
            </a:pPr>
            <a:r>
              <a:t>关键点①：原辅料与水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1207" y="1362456"/>
            <a:ext cx="11109960" cy="347472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65756B"/>
                </a:solidFill>
                <a:latin typeface="Noto Sans CJK SC"/>
              </a:defRPr>
            </a:pPr>
            <a:r>
              <a:t>源头减量1个log，后面所有环节都轻松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283464"/>
            <a:ext cx="64008" cy="347472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502920" y="1847088"/>
            <a:ext cx="5486400" cy="2514600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502920" y="1847088"/>
            <a:ext cx="41148" cy="2514600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0936" y="1975104"/>
            <a:ext cx="5230368" cy="474344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313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5653B"/>
                </a:solidFill>
                <a:latin typeface="Noto Sans CJK SC"/>
              </a:defRPr>
            </a:pPr>
            <a:r>
              <a:t>饮用水：过滤 + 臭氧杀菌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0936" y="2486025"/>
            <a:ext cx="5230368" cy="1747647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8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流程图位置：饮用水→过滤→臭氧杀菌→配料</a:t>
            </a:r>
          </a:p>
          <a:p>
            <a:pPr>
              <a:lnSpc>
                <a:spcPts val="28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· 滤芯按压差或定期更换，记录更换日期</a:t>
            </a:r>
          </a:p>
          <a:p>
            <a:pPr>
              <a:lnSpc>
                <a:spcPts val="28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· 臭氧水残留0.3~0.5 mg/L，接触≥5 min</a:t>
            </a:r>
          </a:p>
          <a:p>
            <a:pPr>
              <a:lnSpc>
                <a:spcPts val="28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· 每月送检菌落总数+大肠菌群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27064" y="1847088"/>
            <a:ext cx="5486400" cy="2514600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227064" y="1847088"/>
            <a:ext cx="41148" cy="2514600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55079" y="1975104"/>
            <a:ext cx="5230368" cy="432435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804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5653B"/>
                </a:solidFill>
                <a:latin typeface="Noto Sans CJK SC"/>
              </a:defRPr>
            </a:pPr>
            <a:r>
              <a:t>鸡蛋：洗蛋 = 消毒蛋壳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55079" y="2444115"/>
            <a:ext cx="5230368" cy="1789556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0372B"/>
                </a:solidFill>
                <a:latin typeface="Noto Sans CJK SC"/>
              </a:defRPr>
            </a:pPr>
            <a:r>
              <a:t>流程图位置：鸡蛋验收→洗蛋→打蛋/洗蛋</a:t>
            </a:r>
          </a:p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0372B"/>
                </a:solidFill>
                <a:latin typeface="Noto Sans CJK SC"/>
              </a:defRPr>
            </a:pPr>
            <a:r>
              <a:t>· 蛋壳是沙门氏菌高风险点：先流水洗去污物，</a:t>
            </a:r>
          </a:p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0372B"/>
                </a:solidFill>
                <a:latin typeface="Noto Sans CJK SC"/>
              </a:defRPr>
            </a:pPr>
            <a:r>
              <a:t>  再用100~200 mg/L次氯酸钠稀释液浸泡≥5 min</a:t>
            </a:r>
          </a:p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0372B"/>
                </a:solidFill>
                <a:latin typeface="Noto Sans CJK SC"/>
              </a:defRPr>
            </a:pPr>
            <a:r>
              <a:t>，漂洗晾干</a:t>
            </a:r>
          </a:p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0372B"/>
                </a:solidFill>
                <a:latin typeface="Noto Sans CJK SC"/>
              </a:defRPr>
            </a:pPr>
            <a:r>
              <a:t>· 打蛋器具每班拆洗消毒；蛋液2小时内用完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02920" y="4526279"/>
            <a:ext cx="5486400" cy="1737360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502920" y="4526279"/>
            <a:ext cx="41148" cy="1737360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0936" y="4654295"/>
            <a:ext cx="5230368" cy="432435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804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5653B"/>
                </a:solidFill>
                <a:latin typeface="Noto Sans CJK SC"/>
              </a:defRPr>
            </a:pPr>
            <a:r>
              <a:t>面粉与辅料：验收、贮存、过筛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0936" y="5123306"/>
            <a:ext cx="5230368" cy="1012317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392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20372B"/>
                </a:solidFill>
                <a:latin typeface="Noto Sans CJK SC"/>
              </a:defRPr>
            </a:pPr>
            <a:r>
              <a:t>· 面粉过筛即物理除杂，筛网每周清洗消毒一次</a:t>
            </a:r>
          </a:p>
          <a:p>
            <a:pPr>
              <a:lnSpc>
                <a:spcPts val="2392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20372B"/>
                </a:solidFill>
                <a:latin typeface="Noto Sans CJK SC"/>
              </a:defRPr>
            </a:pPr>
            <a:r>
              <a:t>· 库房离墙离地、防鼠防潮；先进先出</a:t>
            </a:r>
          </a:p>
          <a:p>
            <a:pPr>
              <a:lnSpc>
                <a:spcPts val="2392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20372B"/>
                </a:solidFill>
                <a:latin typeface="Noto Sans CJK SC"/>
              </a:defRPr>
            </a:pPr>
            <a:r>
              <a:t>· 原料自带芽孢——从源头把住带菌量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227064" y="4526279"/>
            <a:ext cx="5486400" cy="1737360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227064" y="4526279"/>
            <a:ext cx="41148" cy="1737360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55079" y="4654295"/>
            <a:ext cx="5230368" cy="432435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804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5653B"/>
                </a:solidFill>
                <a:latin typeface="Noto Sans CJK SC"/>
              </a:defRPr>
            </a:pPr>
            <a:r>
              <a:t>调料包与脱氧剂：验收即把关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55079" y="5123306"/>
            <a:ext cx="5230368" cy="1012317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392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20372B"/>
                </a:solidFill>
                <a:latin typeface="Noto Sans CJK SC"/>
              </a:defRPr>
            </a:pPr>
            <a:r>
              <a:t>· 调料包供应商索证索票：出厂检验报告逐批核对</a:t>
            </a:r>
          </a:p>
          <a:p>
            <a:pPr>
              <a:lnSpc>
                <a:spcPts val="2392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20372B"/>
                </a:solidFill>
                <a:latin typeface="Noto Sans CJK SC"/>
              </a:defRPr>
            </a:pPr>
            <a:r>
              <a:t>· 脱氧剂验收：包装完好性、规格与货架期匹配</a:t>
            </a:r>
          </a:p>
          <a:p>
            <a:pPr>
              <a:lnSpc>
                <a:spcPts val="2392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20372B"/>
                </a:solidFill>
                <a:latin typeface="Noto Sans CJK SC"/>
              </a:defRPr>
            </a:pPr>
            <a:r>
              <a:t>· 贮存区保持干燥——脱氧剂受潮即报废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5" name="图片 4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668512" y="210312"/>
            <a:ext cx="1371600" cy="475488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10168128" y="228600"/>
            <a:ext cx="1554480" cy="393192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4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Rounded Rectangle 45"/>
          <p:cNvSpPr/>
          <p:nvPr/>
        </p:nvSpPr>
        <p:spPr>
          <a:xfrm>
            <a:off x="457200" y="6473952"/>
            <a:ext cx="11274552" cy="16459"/>
          </a:xfrm>
          <a:prstGeom prst="roundRect">
            <a:avLst>
              <a:gd name="adj" fmla="val 8000"/>
            </a:avLst>
          </a:prstGeom>
          <a:solidFill>
            <a:srgbClr val="DC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6519672"/>
            <a:ext cx="9144000" cy="292608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食品工厂灭菌消毒卫生控制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519672"/>
            <a:ext cx="685800" cy="22860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15 / 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804672"/>
            <a:ext cx="11155680" cy="539496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3629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5653B"/>
                </a:solidFill>
                <a:latin typeface="Noto Sans CJK SC"/>
              </a:defRPr>
            </a:pPr>
            <a:r>
              <a:t>关键点②：和面→熟化→压延→切面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1207" y="1362456"/>
            <a:ext cx="11109960" cy="347472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65756B"/>
                </a:solidFill>
                <a:latin typeface="Noto Sans CJK SC"/>
              </a:defRPr>
            </a:pPr>
            <a:r>
              <a:t>湿区管理：这一段是微生物最爱的温度带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283464"/>
            <a:ext cx="64008" cy="347472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502920" y="1847088"/>
            <a:ext cx="11210544" cy="1371600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502920" y="1847088"/>
            <a:ext cx="41148" cy="1371600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1792" y="1956816"/>
            <a:ext cx="3127248" cy="1152144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5653B"/>
                </a:solidFill>
                <a:latin typeface="Noto Sans CJK SC"/>
              </a:defRPr>
            </a:pPr>
            <a:r>
              <a:t>和面机：每班开工前/收工</a:t>
            </a:r>
          </a:p>
          <a:p>
            <a:pPr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5653B"/>
                </a:solidFill>
                <a:latin typeface="Noto Sans CJK SC"/>
              </a:defRPr>
            </a:pPr>
            <a:r>
              <a:t>后各一次七步清洁消毒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913632" y="1956816"/>
            <a:ext cx="7680960" cy="1152144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8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• 桨叶根部、缸壁、缸底缝隙是残面死角——拆到能拆的最小单元清</a:t>
            </a:r>
          </a:p>
          <a:p>
            <a:pPr>
              <a:lnSpc>
                <a:spcPts val="28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洗</a:t>
            </a:r>
          </a:p>
          <a:p>
            <a:pPr>
              <a:lnSpc>
                <a:spcPts val="28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• 和面加水量、水温按SOP：水温过高会加速微生物增殖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02920" y="3337560"/>
            <a:ext cx="11210544" cy="960120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502920" y="3337560"/>
            <a:ext cx="41148" cy="960120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1792" y="3447288"/>
            <a:ext cx="3127248" cy="740664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557"/>
              </a:lnSpc>
              <a:spcBef>
                <a:spcPts val="0"/>
              </a:spcBef>
              <a:spcAft>
                <a:spcPts val="0"/>
              </a:spcAft>
              <a:defRPr sz="1550" b="1">
                <a:solidFill>
                  <a:srgbClr val="25653B"/>
                </a:solidFill>
                <a:latin typeface="Noto Sans CJK SC"/>
              </a:defRPr>
            </a:pPr>
            <a:r>
              <a:t>熟化间：时间与温度双控（如</a:t>
            </a:r>
          </a:p>
          <a:p>
            <a:pPr>
              <a:lnSpc>
                <a:spcPts val="2557"/>
              </a:lnSpc>
              <a:spcBef>
                <a:spcPts val="0"/>
              </a:spcBef>
              <a:spcAft>
                <a:spcPts val="0"/>
              </a:spcAft>
              <a:defRPr sz="1550" b="1">
                <a:solidFill>
                  <a:srgbClr val="25653B"/>
                </a:solidFill>
                <a:latin typeface="Noto Sans CJK SC"/>
              </a:defRPr>
            </a:pPr>
            <a:r>
              <a:t>≤30 min、室温≤25℃）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447288"/>
            <a:ext cx="7680960" cy="740664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8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▶ 熟化不是“放一放”——时间失控就是给菌开自助餐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02920" y="4416552"/>
            <a:ext cx="11210544" cy="960120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502920" y="4416552"/>
            <a:ext cx="41148" cy="960120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1792" y="4526280"/>
            <a:ext cx="3127248" cy="740664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557"/>
              </a:lnSpc>
              <a:spcBef>
                <a:spcPts val="0"/>
              </a:spcBef>
              <a:spcAft>
                <a:spcPts val="0"/>
              </a:spcAft>
              <a:defRPr sz="1550" b="1">
                <a:solidFill>
                  <a:srgbClr val="25653B"/>
                </a:solidFill>
                <a:latin typeface="Noto Sans CJK SC"/>
              </a:defRPr>
            </a:pPr>
            <a:r>
              <a:t>压延辊、切面刀：每班清洁后</a:t>
            </a:r>
          </a:p>
          <a:p>
            <a:pPr>
              <a:lnSpc>
                <a:spcPts val="2557"/>
              </a:lnSpc>
              <a:spcBef>
                <a:spcPts val="0"/>
              </a:spcBef>
              <a:spcAft>
                <a:spcPts val="0"/>
              </a:spcAft>
              <a:defRPr sz="1550" b="1">
                <a:solidFill>
                  <a:srgbClr val="25653B"/>
                </a:solidFill>
                <a:latin typeface="Noto Sans CJK SC"/>
              </a:defRPr>
            </a:pPr>
            <a:r>
              <a:t>75%酒精擦拭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913632" y="4526280"/>
            <a:ext cx="7680960" cy="740664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8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• 刀缝里嵌的面屑：用软毛刷先清刮再消毒，避免硬器损伤刀口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02920" y="5495544"/>
            <a:ext cx="11210544" cy="960120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502920" y="5495544"/>
            <a:ext cx="41148" cy="960120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1792" y="5605272"/>
            <a:ext cx="3127248" cy="740664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557"/>
              </a:lnSpc>
              <a:spcBef>
                <a:spcPts val="0"/>
              </a:spcBef>
              <a:spcAft>
                <a:spcPts val="0"/>
              </a:spcAft>
              <a:defRPr sz="1550" b="1">
                <a:solidFill>
                  <a:srgbClr val="25653B"/>
                </a:solidFill>
                <a:latin typeface="Noto Sans CJK SC"/>
              </a:defRPr>
            </a:pPr>
            <a:r>
              <a:t>返工残面（流程图虚线）：必</a:t>
            </a:r>
          </a:p>
          <a:p>
            <a:pPr>
              <a:lnSpc>
                <a:spcPts val="2557"/>
              </a:lnSpc>
              <a:spcBef>
                <a:spcPts val="0"/>
              </a:spcBef>
              <a:spcAft>
                <a:spcPts val="0"/>
              </a:spcAft>
              <a:defRPr sz="1550" b="1">
                <a:solidFill>
                  <a:srgbClr val="25653B"/>
                </a:solidFill>
                <a:latin typeface="Noto Sans CJK SC"/>
              </a:defRPr>
            </a:pPr>
            <a:r>
              <a:t>须在2小时内回机和面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913632" y="5605272"/>
            <a:ext cx="7680960" cy="740664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8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▶ 残面存放超过时限或已有异味——直接报废，禁止回机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5" name="图片 4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668512" y="210312"/>
            <a:ext cx="1371600" cy="475488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10168128" y="228600"/>
            <a:ext cx="1554480" cy="393192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4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Rounded Rectangle 45"/>
          <p:cNvSpPr/>
          <p:nvPr/>
        </p:nvSpPr>
        <p:spPr>
          <a:xfrm>
            <a:off x="457200" y="6473952"/>
            <a:ext cx="11274552" cy="16459"/>
          </a:xfrm>
          <a:prstGeom prst="roundRect">
            <a:avLst>
              <a:gd name="adj" fmla="val 8000"/>
            </a:avLst>
          </a:prstGeom>
          <a:solidFill>
            <a:srgbClr val="DC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6519672"/>
            <a:ext cx="9144000" cy="292608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食品工厂灭菌消毒卫生控制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519672"/>
            <a:ext cx="685800" cy="22860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16 / 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804672"/>
            <a:ext cx="11155680" cy="539496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3629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5653B"/>
                </a:solidFill>
                <a:latin typeface="Noto Sans CJK SC"/>
              </a:defRPr>
            </a:pPr>
            <a:r>
              <a:t>关键点③：烘烤→接面（盖面布、面筐）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1207" y="1362456"/>
            <a:ext cx="11109960" cy="347472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65756B"/>
                </a:solidFill>
                <a:latin typeface="Noto Sans CJK SC"/>
              </a:defRPr>
            </a:pPr>
            <a:r>
              <a:t>烘烤杀不死的芽孢，靠后续卫生管理兜底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283464"/>
            <a:ext cx="64008" cy="347472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502920" y="1847088"/>
            <a:ext cx="5486400" cy="2148840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502920" y="1847088"/>
            <a:ext cx="41148" cy="2148840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0936" y="1975104"/>
            <a:ext cx="5230368" cy="432435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804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5653B"/>
                </a:solidFill>
                <a:latin typeface="Noto Sans CJK SC"/>
              </a:defRPr>
            </a:pPr>
            <a:r>
              <a:t>烘烤：工艺加热≠消毒程序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0936" y="2444115"/>
            <a:ext cx="5230368" cy="1423797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20372B"/>
                </a:solidFill>
                <a:latin typeface="Noto Sans CJK SC"/>
              </a:defRPr>
            </a:pPr>
            <a:r>
              <a:t>· 三区90~140℃/2.5~5 min可杀灭繁殖体，</a:t>
            </a:r>
          </a:p>
          <a:p>
            <a:pPr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20372B"/>
                </a:solidFill>
                <a:latin typeface="Noto Sans CJK SC"/>
              </a:defRPr>
            </a:pPr>
            <a:r>
              <a:t>  但芽孢几乎必然存活</a:t>
            </a:r>
          </a:p>
          <a:p>
            <a:pPr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20372B"/>
                </a:solidFill>
                <a:latin typeface="Noto Sans CJK SC"/>
              </a:defRPr>
            </a:pPr>
            <a:r>
              <a:t>· 烤网/网带每周停机深度清洁：焦渣=藏菌点</a:t>
            </a:r>
          </a:p>
          <a:p>
            <a:pPr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20372B"/>
                </a:solidFill>
                <a:latin typeface="Noto Sans CJK SC"/>
              </a:defRPr>
            </a:pPr>
            <a:r>
              <a:t>· 失重率与出炉水分记录照常——它们同时是受热充分性的证据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27064" y="1847088"/>
            <a:ext cx="5486400" cy="2148840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227064" y="1847088"/>
            <a:ext cx="41148" cy="2148840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55079" y="1975104"/>
            <a:ext cx="5230368" cy="432435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804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5653B"/>
                </a:solidFill>
                <a:latin typeface="Noto Sans CJK SC"/>
              </a:defRPr>
            </a:pPr>
            <a:r>
              <a:t>盖面布与面筐：流程图单列的消毒环节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55079" y="2444115"/>
            <a:ext cx="5230368" cy="1423797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0372B"/>
                </a:solidFill>
                <a:latin typeface="Noto Sans CJK SC"/>
              </a:defRPr>
            </a:pPr>
            <a:r>
              <a:t>· 白布：每班更换→清洗→消毒→晒房晒干→干</a:t>
            </a:r>
          </a:p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0372B"/>
                </a:solidFill>
                <a:latin typeface="Noto Sans CJK SC"/>
              </a:defRPr>
            </a:pPr>
            <a:r>
              <a:t>燥存放</a:t>
            </a:r>
          </a:p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0372B"/>
                </a:solidFill>
                <a:latin typeface="Noto Sans CJK SC"/>
              </a:defRPr>
            </a:pPr>
            <a:r>
              <a:t>· 面筐：每班清洗消毒，倒扣沥干，禁止落地</a:t>
            </a:r>
          </a:p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0372B"/>
                </a:solidFill>
                <a:latin typeface="Noto Sans CJK SC"/>
              </a:defRPr>
            </a:pPr>
            <a:r>
              <a:t>· 有效性的判断：ATP抽查+微生物擦拭检测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02920" y="4160520"/>
            <a:ext cx="5486400" cy="2103120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502920" y="4160520"/>
            <a:ext cx="41148" cy="2103120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0936" y="4288536"/>
            <a:ext cx="5230368" cy="432435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804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5653B"/>
                </a:solidFill>
                <a:latin typeface="Noto Sans CJK SC"/>
              </a:defRPr>
            </a:pPr>
            <a:r>
              <a:t>接面与周转：暴露时间管理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0936" y="4757546"/>
            <a:ext cx="5230368" cy="1378076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557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20372B"/>
                </a:solidFill>
                <a:latin typeface="Noto Sans CJK SC"/>
              </a:defRPr>
            </a:pPr>
            <a:r>
              <a:t>· 接面板、周转车每班消毒；进入清洁区前完成</a:t>
            </a:r>
          </a:p>
          <a:p>
            <a:pPr>
              <a:lnSpc>
                <a:spcPts val="2557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20372B"/>
                </a:solidFill>
                <a:latin typeface="Noto Sans CJK SC"/>
              </a:defRPr>
            </a:pPr>
            <a:r>
              <a:t>· 暴露时间设内部上限，超时批次评估后处置</a:t>
            </a:r>
          </a:p>
          <a:p>
            <a:pPr>
              <a:lnSpc>
                <a:spcPts val="2557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20372B"/>
                </a:solidFill>
                <a:latin typeface="Noto Sans CJK SC"/>
              </a:defRPr>
            </a:pPr>
            <a:r>
              <a:t>· 周转器具专用：生熟分开、湿区干区分开，严禁</a:t>
            </a:r>
          </a:p>
          <a:p>
            <a:pPr>
              <a:lnSpc>
                <a:spcPts val="2557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20372B"/>
                </a:solidFill>
                <a:latin typeface="Noto Sans CJK SC"/>
              </a:defRPr>
            </a:pPr>
            <a:r>
              <a:t>交叉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227064" y="4160520"/>
            <a:ext cx="5486400" cy="2103120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227064" y="4160520"/>
            <a:ext cx="41148" cy="2103120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55079" y="4288536"/>
            <a:ext cx="5230368" cy="432435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804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5653B"/>
                </a:solidFill>
                <a:latin typeface="Noto Sans CJK SC"/>
              </a:defRPr>
            </a:pPr>
            <a:r>
              <a:t>冷却回潮间：空气+表面双控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55079" y="4757546"/>
            <a:ext cx="5230368" cy="1378076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557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20372B"/>
                </a:solidFill>
                <a:latin typeface="Noto Sans CJK SC"/>
              </a:defRPr>
            </a:pPr>
            <a:r>
              <a:t>· 空气：每日下班后臭氧消毒≥60 min，无人密闭</a:t>
            </a:r>
          </a:p>
          <a:p>
            <a:pPr>
              <a:lnSpc>
                <a:spcPts val="2557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20372B"/>
                </a:solidFill>
                <a:latin typeface="Noto Sans CJK SC"/>
              </a:defRPr>
            </a:pPr>
            <a:r>
              <a:t>执行</a:t>
            </a:r>
          </a:p>
          <a:p>
            <a:pPr>
              <a:lnSpc>
                <a:spcPts val="2557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20372B"/>
                </a:solidFill>
                <a:latin typeface="Noto Sans CJK SC"/>
              </a:defRPr>
            </a:pPr>
            <a:r>
              <a:t>· 温差控制：面条温度与露点接近时防凝露</a:t>
            </a:r>
          </a:p>
          <a:p>
            <a:pPr>
              <a:lnSpc>
                <a:spcPts val="2557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20372B"/>
                </a:solidFill>
                <a:latin typeface="Noto Sans CJK SC"/>
              </a:defRPr>
            </a:pPr>
            <a:r>
              <a:t>· 架车/托盘每周深度清洗消毒，回潮箱角落重点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5" name="图片 4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668512" y="210312"/>
            <a:ext cx="1371600" cy="475488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10168128" y="228600"/>
            <a:ext cx="1554480" cy="393192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4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Rounded Rectangle 45"/>
          <p:cNvSpPr/>
          <p:nvPr/>
        </p:nvSpPr>
        <p:spPr>
          <a:xfrm>
            <a:off x="457200" y="6473952"/>
            <a:ext cx="11274552" cy="16459"/>
          </a:xfrm>
          <a:prstGeom prst="roundRect">
            <a:avLst>
              <a:gd name="adj" fmla="val 8000"/>
            </a:avLst>
          </a:prstGeom>
          <a:solidFill>
            <a:srgbClr val="DC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6519672"/>
            <a:ext cx="9144000" cy="292608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食品工厂灭菌消毒卫生控制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519672"/>
            <a:ext cx="685800" cy="22860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17 / 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804672"/>
            <a:ext cx="11155680" cy="539496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3629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5653B"/>
                </a:solidFill>
                <a:latin typeface="Noto Sans CJK SC"/>
              </a:defRPr>
            </a:pPr>
            <a:r>
              <a:t>关键点④：内包装、金检与贮存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1207" y="1362456"/>
            <a:ext cx="11109960" cy="347472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65756B"/>
                </a:solidFill>
                <a:latin typeface="Noto Sans CJK SC"/>
              </a:defRPr>
            </a:pPr>
            <a:r>
              <a:t>包装是最后一道门——门本身必须干净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283464"/>
            <a:ext cx="64008" cy="347472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502920" y="1847088"/>
            <a:ext cx="11210544" cy="1645920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502920" y="1847088"/>
            <a:ext cx="41148" cy="1645920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1792" y="1956816"/>
            <a:ext cx="3127248" cy="1426464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5653B"/>
                </a:solidFill>
                <a:latin typeface="Noto Sans CJK SC"/>
              </a:defRPr>
            </a:pPr>
            <a:r>
              <a:t>内包材消毒（流程图单列</a:t>
            </a:r>
          </a:p>
          <a:p>
            <a:pPr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5653B"/>
                </a:solidFill>
                <a:latin typeface="Noto Sans CJK SC"/>
              </a:defRPr>
            </a:pPr>
            <a:r>
              <a:t>环节）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913632" y="1956816"/>
            <a:ext cx="7680960" cy="1426464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0372B"/>
                </a:solidFill>
                <a:latin typeface="Noto Sans CJK SC"/>
              </a:defRPr>
            </a:pPr>
            <a:r>
              <a:t>• 包材外箱不进清洁区；内包装膜/袋在清洁区入口处用紫外或消毒剂擦</a:t>
            </a:r>
          </a:p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0372B"/>
                </a:solidFill>
                <a:latin typeface="Noto Sans CJK SC"/>
              </a:defRPr>
            </a:pPr>
            <a:r>
              <a:t>拭外表面</a:t>
            </a:r>
          </a:p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0372B"/>
                </a:solidFill>
                <a:latin typeface="Noto Sans CJK SC"/>
              </a:defRPr>
            </a:pPr>
            <a:r>
              <a:t>• 包材贮存间保持干燥清洁，开封后当日用完或重新密封</a:t>
            </a:r>
          </a:p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0372B"/>
                </a:solidFill>
                <a:latin typeface="Noto Sans CJK SC"/>
              </a:defRPr>
            </a:pPr>
            <a:r>
              <a:t>• 内包装间：空气每日臭氧消毒，人员二次更衣+手部消毒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02920" y="3630168"/>
            <a:ext cx="11210544" cy="1280160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502920" y="3630168"/>
            <a:ext cx="41148" cy="1280160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1792" y="3739896"/>
            <a:ext cx="3127248" cy="1060704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5653B"/>
                </a:solidFill>
                <a:latin typeface="Noto Sans CJK SC"/>
              </a:defRPr>
            </a:pPr>
            <a:r>
              <a:t>面+料组装与脱氧剂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739896"/>
            <a:ext cx="7680960" cy="1060704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8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• 组装台面每2小时消毒一次；脱氧剂投入量按包装残氧要求计算</a:t>
            </a:r>
          </a:p>
          <a:p>
            <a:pPr>
              <a:lnSpc>
                <a:spcPts val="28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▶ 封口温度每班首件确认；封口不良即泄漏，一切消毒前功尽弃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02920" y="5047488"/>
            <a:ext cx="11210544" cy="1298448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502920" y="5047488"/>
            <a:ext cx="41148" cy="1298448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1792" y="5157216"/>
            <a:ext cx="3127248" cy="1078992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5653B"/>
                </a:solidFill>
                <a:latin typeface="Noto Sans CJK SC"/>
              </a:defRPr>
            </a:pPr>
            <a:r>
              <a:t>金检与装箱贮存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913632" y="5157216"/>
            <a:ext cx="7680960" cy="1078992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8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• 金检机传送带每日清洁；成品库离墙离地、温湿度记录、防虫防鼠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5" name="图片 4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668512" y="210312"/>
            <a:ext cx="1371600" cy="475488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10168128" y="228600"/>
            <a:ext cx="1554480" cy="393192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4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Rounded Rectangle 45"/>
          <p:cNvSpPr/>
          <p:nvPr/>
        </p:nvSpPr>
        <p:spPr>
          <a:xfrm>
            <a:off x="457200" y="6473952"/>
            <a:ext cx="11274552" cy="16459"/>
          </a:xfrm>
          <a:prstGeom prst="roundRect">
            <a:avLst>
              <a:gd name="adj" fmla="val 8000"/>
            </a:avLst>
          </a:prstGeom>
          <a:solidFill>
            <a:srgbClr val="DC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6519672"/>
            <a:ext cx="9144000" cy="292608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食品工厂灭菌消毒卫生控制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519672"/>
            <a:ext cx="685800" cy="22860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18 / 24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0" y="1554480"/>
            <a:ext cx="12191695" cy="3977639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1828800"/>
            <a:ext cx="2743200" cy="118872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8744"/>
              </a:lnSpc>
              <a:spcBef>
                <a:spcPts val="0"/>
              </a:spcBef>
              <a:spcAft>
                <a:spcPts val="0"/>
              </a:spcAft>
              <a:defRPr sz="5300" b="1">
                <a:solidFill>
                  <a:srgbClr val="25653B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3200400"/>
            <a:ext cx="10698480" cy="91440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594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20372B"/>
                </a:solidFill>
                <a:latin typeface="Noto Sans CJK SC"/>
              </a:defRPr>
            </a:pPr>
            <a:r>
              <a:t>环境 · 人员 · CIP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4672" y="4297680"/>
            <a:ext cx="10607040" cy="64008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3794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65756B"/>
                </a:solidFill>
                <a:latin typeface="Noto Sans CJK SC"/>
              </a:defRPr>
            </a:pPr>
            <a:r>
              <a:t>工厂卫生管理的三大日常战场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77240" y="5166360"/>
            <a:ext cx="1097280" cy="54864"/>
          </a:xfrm>
          <a:prstGeom prst="roundRect">
            <a:avLst>
              <a:gd name="adj" fmla="val 8000"/>
            </a:avLst>
          </a:prstGeom>
          <a:solidFill>
            <a:srgbClr val="C29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5" name="图片 4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668512" y="210312"/>
            <a:ext cx="1371600" cy="475488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10168128" y="228600"/>
            <a:ext cx="1554480" cy="393192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5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Rounded Rectangle 45"/>
          <p:cNvSpPr/>
          <p:nvPr/>
        </p:nvSpPr>
        <p:spPr>
          <a:xfrm>
            <a:off x="457200" y="6473952"/>
            <a:ext cx="11274552" cy="16459"/>
          </a:xfrm>
          <a:prstGeom prst="roundRect">
            <a:avLst>
              <a:gd name="adj" fmla="val 8000"/>
            </a:avLst>
          </a:prstGeom>
          <a:solidFill>
            <a:srgbClr val="DC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6519672"/>
            <a:ext cx="9144000" cy="292608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食品工厂灭菌消毒卫生控制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519672"/>
            <a:ext cx="685800" cy="22860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19 / 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804672"/>
            <a:ext cx="11155680" cy="539496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3629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5653B"/>
                </a:solidFill>
                <a:latin typeface="Noto Sans CJK SC"/>
              </a:defRPr>
            </a:pPr>
            <a:r>
              <a:t>设备与工器具：清洁消毒七步法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1207" y="1362456"/>
            <a:ext cx="11109960" cy="347472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65756B"/>
                </a:solidFill>
                <a:latin typeface="Noto Sans CJK SC"/>
              </a:defRPr>
            </a:pPr>
            <a:r>
              <a:t>每班执行 · 拆到最小单元 · 责任到人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283464"/>
            <a:ext cx="64008" cy="347472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_cip7.png"/>
          <p:cNvPicPr>
            <a:picLocks noChangeAspect="1"/>
          </p:cNvPicPr>
          <p:nvPr/>
        </p:nvPicPr>
        <p:blipFill>
          <a:blip r:embed="rId1"/>
          <a:srcRect l="2324" r="646" t="501" b="12030"/>
          <a:stretch>
            <a:fillRect/>
          </a:stretch>
        </p:blipFill>
        <p:spPr>
          <a:xfrm>
            <a:off x="1390001" y="1819656"/>
            <a:ext cx="9411691" cy="437083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5" name="图片 4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668512" y="210312"/>
            <a:ext cx="1371600" cy="475488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10168128" y="228600"/>
            <a:ext cx="1554480" cy="393192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4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Rounded Rectangle 45"/>
          <p:cNvSpPr/>
          <p:nvPr/>
        </p:nvSpPr>
        <p:spPr>
          <a:xfrm>
            <a:off x="457200" y="6473952"/>
            <a:ext cx="11274552" cy="16459"/>
          </a:xfrm>
          <a:prstGeom prst="roundRect">
            <a:avLst>
              <a:gd name="adj" fmla="val 8000"/>
            </a:avLst>
          </a:prstGeom>
          <a:solidFill>
            <a:srgbClr val="DC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6519672"/>
            <a:ext cx="9144000" cy="292608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食品工厂灭菌消毒卫生控制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519672"/>
            <a:ext cx="685800" cy="22860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20 / 24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0" y="1554480"/>
            <a:ext cx="12191695" cy="3977639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1828800"/>
            <a:ext cx="2743200" cy="118872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8744"/>
              </a:lnSpc>
              <a:spcBef>
                <a:spcPts val="0"/>
              </a:spcBef>
              <a:spcAft>
                <a:spcPts val="0"/>
              </a:spcAft>
              <a:defRPr sz="5300" b="1">
                <a:solidFill>
                  <a:srgbClr val="25653B"/>
                </a:solidFill>
                <a:latin typeface="Noto Sans CJK SC"/>
              </a:defRPr>
            </a:pPr>
            <a:r>
              <a:t>05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3200400"/>
            <a:ext cx="10698480" cy="91440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594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20372B"/>
                </a:solidFill>
                <a:latin typeface="Noto Sans CJK SC"/>
              </a:defRPr>
            </a:pPr>
            <a:r>
              <a:t>验证 · 误区 · 合规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4672" y="4297680"/>
            <a:ext cx="10607040" cy="64008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3794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65756B"/>
                </a:solidFill>
                <a:latin typeface="Noto Sans CJK SC"/>
              </a:defRPr>
            </a:pPr>
            <a:r>
              <a:t>做了不算做了，验证过才算做了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77240" y="5166360"/>
            <a:ext cx="1097280" cy="54864"/>
          </a:xfrm>
          <a:prstGeom prst="roundRect">
            <a:avLst>
              <a:gd name="adj" fmla="val 8000"/>
            </a:avLst>
          </a:prstGeom>
          <a:solidFill>
            <a:srgbClr val="C29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5" name="图片 4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668512" y="210312"/>
            <a:ext cx="1371600" cy="475488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10168128" y="228600"/>
            <a:ext cx="1554480" cy="393192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5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Rounded Rectangle 45"/>
          <p:cNvSpPr/>
          <p:nvPr/>
        </p:nvSpPr>
        <p:spPr>
          <a:xfrm>
            <a:off x="457200" y="6473952"/>
            <a:ext cx="11274552" cy="16459"/>
          </a:xfrm>
          <a:prstGeom prst="roundRect">
            <a:avLst>
              <a:gd name="adj" fmla="val 8000"/>
            </a:avLst>
          </a:prstGeom>
          <a:solidFill>
            <a:srgbClr val="DC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6519672"/>
            <a:ext cx="9144000" cy="292608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食品工厂灭菌消毒卫生控制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519672"/>
            <a:ext cx="685800" cy="22860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21 / 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804672"/>
            <a:ext cx="11155680" cy="539496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3629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5653B"/>
                </a:solidFill>
                <a:latin typeface="Noto Sans CJK SC"/>
              </a:defRPr>
            </a:pPr>
            <a:r>
              <a:t>消毒效果三层验证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1207" y="1362456"/>
            <a:ext cx="11109960" cy="347472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65756B"/>
                </a:solidFill>
                <a:latin typeface="Noto Sans CJK SC"/>
              </a:defRPr>
            </a:pPr>
            <a:r>
              <a:t>ATP测“脏不脏”，微生物测“有没有菌”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283464"/>
            <a:ext cx="64008" cy="347472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_verify.png"/>
          <p:cNvPicPr>
            <a:picLocks noChangeAspect="1"/>
          </p:cNvPicPr>
          <p:nvPr/>
        </p:nvPicPr>
        <p:blipFill>
          <a:blip r:embed="rId1"/>
          <a:srcRect l="328" r="11082" t="603" b="22075"/>
          <a:stretch>
            <a:fillRect/>
          </a:stretch>
        </p:blipFill>
        <p:spPr>
          <a:xfrm>
            <a:off x="1489768" y="1819656"/>
            <a:ext cx="9212159" cy="437083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5" name="图片 4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668512" y="210312"/>
            <a:ext cx="1371600" cy="475488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10168128" y="228600"/>
            <a:ext cx="1554480" cy="393192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4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Rounded Rectangle 45"/>
          <p:cNvSpPr/>
          <p:nvPr/>
        </p:nvSpPr>
        <p:spPr>
          <a:xfrm>
            <a:off x="457200" y="6473952"/>
            <a:ext cx="11274552" cy="16459"/>
          </a:xfrm>
          <a:prstGeom prst="roundRect">
            <a:avLst>
              <a:gd name="adj" fmla="val 8000"/>
            </a:avLst>
          </a:prstGeom>
          <a:solidFill>
            <a:srgbClr val="DC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6519672"/>
            <a:ext cx="9144000" cy="292608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食品工厂灭菌消毒卫生控制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519672"/>
            <a:ext cx="685800" cy="22860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22 / 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804672"/>
            <a:ext cx="11155680" cy="539496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3629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5653B"/>
                </a:solidFill>
                <a:latin typeface="Noto Sans CJK SC"/>
              </a:defRPr>
            </a:pPr>
            <a:r>
              <a:t>八大常见误区：对照自查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1207" y="1362456"/>
            <a:ext cx="11109960" cy="347472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65756B"/>
                </a:solidFill>
                <a:latin typeface="Noto Sans CJK SC"/>
              </a:defRPr>
            </a:pPr>
            <a:r>
              <a:t>中三条以上的班组，卫生记录再好看也要警惕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283464"/>
            <a:ext cx="64008" cy="347472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502920" y="1847088"/>
            <a:ext cx="5486400" cy="987552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502920" y="1847088"/>
            <a:ext cx="41148" cy="987552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1792" y="1956816"/>
            <a:ext cx="548640" cy="768096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722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25653B"/>
                </a:solidFill>
                <a:latin typeface="Noto Sans CJK SC"/>
              </a:defRPr>
            </a:pPr>
            <a:r>
              <a:t>误</a:t>
            </a:r>
          </a:p>
          <a:p>
            <a:pPr>
              <a:lnSpc>
                <a:spcPts val="2722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25653B"/>
                </a:solidFill>
                <a:latin typeface="Noto Sans CJK SC"/>
              </a:defRPr>
            </a:pPr>
            <a:r>
              <a:t>区1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35024" y="1956816"/>
            <a:ext cx="4535424" cy="768096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722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20372B"/>
                </a:solidFill>
                <a:latin typeface="Noto Sans CJK SC"/>
              </a:defRPr>
            </a:pPr>
            <a:r>
              <a:t>消毒剂越浓越好——超浓腐蚀设备、残留</a:t>
            </a:r>
          </a:p>
          <a:p>
            <a:pPr>
              <a:lnSpc>
                <a:spcPts val="2722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20372B"/>
                </a:solidFill>
                <a:latin typeface="Noto Sans CJK SC"/>
              </a:defRPr>
            </a:pPr>
            <a:r>
              <a:t>超标，效力反而下降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27064" y="1847088"/>
            <a:ext cx="5486400" cy="987552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227064" y="1847088"/>
            <a:ext cx="41148" cy="987552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45936" y="1956816"/>
            <a:ext cx="548640" cy="768096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722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25653B"/>
                </a:solidFill>
                <a:latin typeface="Noto Sans CJK SC"/>
              </a:defRPr>
            </a:pPr>
            <a:r>
              <a:t>误</a:t>
            </a:r>
          </a:p>
          <a:p>
            <a:pPr>
              <a:lnSpc>
                <a:spcPts val="2722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25653B"/>
                </a:solidFill>
                <a:latin typeface="Noto Sans CJK SC"/>
              </a:defRPr>
            </a:pPr>
            <a:r>
              <a:t>区2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59168" y="1956816"/>
            <a:ext cx="4535424" cy="768096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722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20372B"/>
                </a:solidFill>
                <a:latin typeface="Noto Sans CJK SC"/>
              </a:defRPr>
            </a:pPr>
            <a:r>
              <a:t>喷完就擦干——没有足够作用时间等于没</a:t>
            </a:r>
          </a:p>
          <a:p>
            <a:pPr>
              <a:lnSpc>
                <a:spcPts val="2722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20372B"/>
                </a:solidFill>
                <a:latin typeface="Noto Sans CJK SC"/>
              </a:defRPr>
            </a:pPr>
            <a:r>
              <a:t>消毒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02920" y="2971800"/>
            <a:ext cx="5486400" cy="987552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502920" y="2971800"/>
            <a:ext cx="41148" cy="987552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1792" y="3081528"/>
            <a:ext cx="548640" cy="768096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722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25653B"/>
                </a:solidFill>
                <a:latin typeface="Noto Sans CJK SC"/>
              </a:defRPr>
            </a:pPr>
            <a:r>
              <a:t>误</a:t>
            </a:r>
          </a:p>
          <a:p>
            <a:pPr>
              <a:lnSpc>
                <a:spcPts val="2722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25653B"/>
                </a:solidFill>
                <a:latin typeface="Noto Sans CJK SC"/>
              </a:defRPr>
            </a:pPr>
            <a:r>
              <a:t>区3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335024" y="3081528"/>
            <a:ext cx="4535424" cy="768096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722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20372B"/>
                </a:solidFill>
                <a:latin typeface="Noto Sans CJK SC"/>
              </a:defRPr>
            </a:pPr>
            <a:r>
              <a:t>只擦看得见的地方——死角、背面、底部</a:t>
            </a:r>
          </a:p>
          <a:p>
            <a:pPr>
              <a:lnSpc>
                <a:spcPts val="2722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20372B"/>
                </a:solidFill>
                <a:latin typeface="Noto Sans CJK SC"/>
              </a:defRPr>
            </a:pPr>
            <a:r>
              <a:t>才是重灾区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227064" y="2971800"/>
            <a:ext cx="5486400" cy="987552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227064" y="2971800"/>
            <a:ext cx="41148" cy="987552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45936" y="3081528"/>
            <a:ext cx="548640" cy="768096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722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25653B"/>
                </a:solidFill>
                <a:latin typeface="Noto Sans CJK SC"/>
              </a:defRPr>
            </a:pPr>
            <a:r>
              <a:t>误</a:t>
            </a:r>
          </a:p>
          <a:p>
            <a:pPr>
              <a:lnSpc>
                <a:spcPts val="2722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25653B"/>
                </a:solidFill>
                <a:latin typeface="Noto Sans CJK SC"/>
              </a:defRPr>
            </a:pPr>
            <a:r>
              <a:t>区4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059168" y="3081528"/>
            <a:ext cx="4535424" cy="768096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722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20372B"/>
                </a:solidFill>
                <a:latin typeface="Noto Sans CJK SC"/>
              </a:defRPr>
            </a:pPr>
            <a:r>
              <a:t>84和洁厕灵一起用——产生氯气，会出人</a:t>
            </a:r>
          </a:p>
          <a:p>
            <a:pPr>
              <a:lnSpc>
                <a:spcPts val="2722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20372B"/>
                </a:solidFill>
                <a:latin typeface="Noto Sans CJK SC"/>
              </a:defRPr>
            </a:pPr>
            <a:r>
              <a:t>命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02920" y="4096512"/>
            <a:ext cx="5486400" cy="987552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502920" y="4096512"/>
            <a:ext cx="41148" cy="987552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21792" y="4206240"/>
            <a:ext cx="548640" cy="768096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722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25653B"/>
                </a:solidFill>
                <a:latin typeface="Noto Sans CJK SC"/>
              </a:defRPr>
            </a:pPr>
            <a:r>
              <a:t>误</a:t>
            </a:r>
          </a:p>
          <a:p>
            <a:pPr>
              <a:lnSpc>
                <a:spcPts val="2722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25653B"/>
                </a:solidFill>
                <a:latin typeface="Noto Sans CJK SC"/>
              </a:defRPr>
            </a:pPr>
            <a:r>
              <a:t>区5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335024" y="4206240"/>
            <a:ext cx="4535424" cy="768096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722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20372B"/>
                </a:solidFill>
                <a:latin typeface="Noto Sans CJK SC"/>
              </a:defRPr>
            </a:pPr>
            <a:r>
              <a:t>消毒液配一次用一星期——有效成分早已</a:t>
            </a:r>
          </a:p>
          <a:p>
            <a:pPr>
              <a:lnSpc>
                <a:spcPts val="2722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20372B"/>
                </a:solidFill>
                <a:latin typeface="Noto Sans CJK SC"/>
              </a:defRPr>
            </a:pPr>
            <a:r>
              <a:t>衰减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227064" y="4096512"/>
            <a:ext cx="5486400" cy="987552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6227064" y="4096512"/>
            <a:ext cx="41148" cy="987552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45936" y="4206240"/>
            <a:ext cx="548640" cy="768096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722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25653B"/>
                </a:solidFill>
                <a:latin typeface="Noto Sans CJK SC"/>
              </a:defRPr>
            </a:pPr>
            <a:r>
              <a:t>误</a:t>
            </a:r>
          </a:p>
          <a:p>
            <a:pPr>
              <a:lnSpc>
                <a:spcPts val="2722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25653B"/>
                </a:solidFill>
                <a:latin typeface="Noto Sans CJK SC"/>
              </a:defRPr>
            </a:pPr>
            <a:r>
              <a:t>区6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59168" y="4206240"/>
            <a:ext cx="4535424" cy="768096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722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20372B"/>
                </a:solidFill>
                <a:latin typeface="Noto Sans CJK SC"/>
              </a:defRPr>
            </a:pPr>
            <a:r>
              <a:t>白布晒过太阳就不用消毒——晒干≠消毒</a:t>
            </a:r>
          </a:p>
          <a:p>
            <a:pPr>
              <a:lnSpc>
                <a:spcPts val="2722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20372B"/>
                </a:solidFill>
                <a:latin typeface="Noto Sans CJK SC"/>
              </a:defRPr>
            </a:pPr>
            <a:r>
              <a:t>，两码事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02920" y="5221224"/>
            <a:ext cx="5486400" cy="987552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502920" y="5221224"/>
            <a:ext cx="41148" cy="987552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21792" y="5330952"/>
            <a:ext cx="548640" cy="768096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722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25653B"/>
                </a:solidFill>
                <a:latin typeface="Noto Sans CJK SC"/>
              </a:defRPr>
            </a:pPr>
            <a:r>
              <a:t>误</a:t>
            </a:r>
          </a:p>
          <a:p>
            <a:pPr>
              <a:lnSpc>
                <a:spcPts val="2722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25653B"/>
                </a:solidFill>
                <a:latin typeface="Noto Sans CJK SC"/>
              </a:defRPr>
            </a:pPr>
            <a:r>
              <a:t>区7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335024" y="5330952"/>
            <a:ext cx="4535424" cy="768096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722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20372B"/>
                </a:solidFill>
                <a:latin typeface="Noto Sans CJK SC"/>
              </a:defRPr>
            </a:pPr>
            <a:r>
              <a:t>酒精喷雾当万能——对芽孢无效，对脏表</a:t>
            </a:r>
          </a:p>
          <a:p>
            <a:pPr>
              <a:lnSpc>
                <a:spcPts val="2722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20372B"/>
                </a:solidFill>
                <a:latin typeface="Noto Sans CJK SC"/>
              </a:defRPr>
            </a:pPr>
            <a:r>
              <a:t>面无效，且易燃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227064" y="5221224"/>
            <a:ext cx="5486400" cy="987552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6227064" y="5221224"/>
            <a:ext cx="41148" cy="987552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345936" y="5330952"/>
            <a:ext cx="548640" cy="768096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722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25653B"/>
                </a:solidFill>
                <a:latin typeface="Noto Sans CJK SC"/>
              </a:defRPr>
            </a:pPr>
            <a:r>
              <a:t>误</a:t>
            </a:r>
          </a:p>
          <a:p>
            <a:pPr>
              <a:lnSpc>
                <a:spcPts val="2722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25653B"/>
                </a:solidFill>
                <a:latin typeface="Noto Sans CJK SC"/>
              </a:defRPr>
            </a:pPr>
            <a:r>
              <a:t>区8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059168" y="5330952"/>
            <a:ext cx="4535424" cy="768096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722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20372B"/>
                </a:solidFill>
                <a:latin typeface="Noto Sans CJK SC"/>
              </a:defRPr>
            </a:pPr>
            <a:r>
              <a:t>记录补填齐就行——假记录比没记录更危</a:t>
            </a:r>
          </a:p>
          <a:p>
            <a:pPr>
              <a:lnSpc>
                <a:spcPts val="2722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20372B"/>
                </a:solidFill>
                <a:latin typeface="Noto Sans CJK SC"/>
              </a:defRPr>
            </a:pPr>
            <a:r>
              <a:t>险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5" name="图片 4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668512" y="210312"/>
            <a:ext cx="1371600" cy="475488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10168128" y="228600"/>
            <a:ext cx="1554480" cy="393192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4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Rounded Rectangle 45"/>
          <p:cNvSpPr/>
          <p:nvPr/>
        </p:nvSpPr>
        <p:spPr>
          <a:xfrm>
            <a:off x="457200" y="6473952"/>
            <a:ext cx="11274552" cy="16459"/>
          </a:xfrm>
          <a:prstGeom prst="roundRect">
            <a:avLst>
              <a:gd name="adj" fmla="val 8000"/>
            </a:avLst>
          </a:prstGeom>
          <a:solidFill>
            <a:srgbClr val="DC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6519672"/>
            <a:ext cx="9144000" cy="292608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食品工厂灭菌消毒卫生控制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519672"/>
            <a:ext cx="685800" cy="22860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23 / 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804672"/>
            <a:ext cx="11155680" cy="539496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3629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5653B"/>
                </a:solidFill>
                <a:latin typeface="Noto Sans CJK SC"/>
              </a:defRPr>
            </a:pPr>
            <a:r>
              <a:t>合规依据与培训要点回顾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1207" y="1362456"/>
            <a:ext cx="11109960" cy="347472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65756B"/>
                </a:solidFill>
                <a:latin typeface="Noto Sans CJK SC"/>
              </a:defRPr>
            </a:pPr>
            <a:r>
              <a:t>卫生规范是底线，SOP是落地，验证是闭环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283464"/>
            <a:ext cx="64008" cy="347472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502920" y="1847088"/>
            <a:ext cx="5486400" cy="4416552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502920" y="1847088"/>
            <a:ext cx="41148" cy="4416552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0936" y="1975104"/>
            <a:ext cx="5230368" cy="474344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313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5653B"/>
                </a:solidFill>
                <a:latin typeface="Noto Sans CJK SC"/>
              </a:defRPr>
            </a:pPr>
            <a:r>
              <a:t>合规依据清单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0936" y="2486025"/>
            <a:ext cx="5230368" cy="3649599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28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· GB 14881-2025《食品生产通用卫生规范》</a:t>
            </a:r>
          </a:p>
          <a:p>
            <a:pPr>
              <a:lnSpc>
                <a:spcPts val="28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  （2026年9月2日实施）：清洁消毒、人员卫</a:t>
            </a:r>
          </a:p>
          <a:p>
            <a:pPr>
              <a:lnSpc>
                <a:spcPts val="28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生、</a:t>
            </a:r>
          </a:p>
          <a:p>
            <a:pPr>
              <a:lnSpc>
                <a:spcPts val="28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  微生物监控的新要求对照自查</a:t>
            </a:r>
          </a:p>
          <a:p>
            <a:pPr>
              <a:lnSpc>
                <a:spcPts val="28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· GB 2760：食品添加剂与加工助剂使用范围</a:t>
            </a:r>
          </a:p>
          <a:p>
            <a:pPr>
              <a:lnSpc>
                <a:spcPts val="28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· 消毒产品：选用有卫生许可批件的合规产品</a:t>
            </a:r>
          </a:p>
          <a:p>
            <a:pPr>
              <a:lnSpc>
                <a:spcPts val="28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· 企业文件：各岗位清洗消毒SOP+记录表单</a:t>
            </a:r>
          </a:p>
          <a:p>
            <a:pPr>
              <a:lnSpc>
                <a:spcPts val="28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· 三快原则：快检（ATP）快纠偏快复验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27064" y="1847088"/>
            <a:ext cx="5486400" cy="4416552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227064" y="1847088"/>
            <a:ext cx="41148" cy="4416552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55079" y="1975104"/>
            <a:ext cx="5230368" cy="474344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313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5653B"/>
                </a:solidFill>
                <a:latin typeface="Noto Sans CJK SC"/>
              </a:defRPr>
            </a:pPr>
            <a:r>
              <a:t>培训要点回顾（带走这五句）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55079" y="2486025"/>
            <a:ext cx="5230368" cy="3649599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313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0372B"/>
                </a:solidFill>
                <a:latin typeface="Noto Sans CJK SC"/>
              </a:defRPr>
            </a:pPr>
            <a:r>
              <a:t>1. 先清洁、后消毒，顺序不能颠倒</a:t>
            </a:r>
          </a:p>
          <a:p>
            <a:pPr>
              <a:lnSpc>
                <a:spcPts val="313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0372B"/>
                </a:solidFill>
                <a:latin typeface="Noto Sans CJK SC"/>
              </a:defRPr>
            </a:pPr>
            <a:r>
              <a:t>2. 浓度足、时间够、现配现用</a:t>
            </a:r>
          </a:p>
          <a:p>
            <a:pPr>
              <a:lnSpc>
                <a:spcPts val="313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0372B"/>
                </a:solidFill>
                <a:latin typeface="Noto Sans CJK SC"/>
              </a:defRPr>
            </a:pPr>
            <a:r>
              <a:t>3. 芽孢杀不死，就把它饿死——靠aw与干</a:t>
            </a:r>
          </a:p>
          <a:p>
            <a:pPr>
              <a:lnSpc>
                <a:spcPts val="313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0372B"/>
                </a:solidFill>
                <a:latin typeface="Noto Sans CJK SC"/>
              </a:defRPr>
            </a:pPr>
            <a:r>
              <a:t>燥</a:t>
            </a:r>
          </a:p>
          <a:p>
            <a:pPr>
              <a:lnSpc>
                <a:spcPts val="313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0372B"/>
                </a:solidFill>
                <a:latin typeface="Noto Sans CJK SC"/>
              </a:defRPr>
            </a:pPr>
            <a:r>
              <a:t>4. 空气和水是看不见的战线：臭氧管水也</a:t>
            </a:r>
          </a:p>
          <a:p>
            <a:pPr>
              <a:lnSpc>
                <a:spcPts val="313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0372B"/>
                </a:solidFill>
                <a:latin typeface="Noto Sans CJK SC"/>
              </a:defRPr>
            </a:pPr>
            <a:r>
              <a:t>管空气</a:t>
            </a:r>
          </a:p>
          <a:p>
            <a:pPr>
              <a:lnSpc>
                <a:spcPts val="313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0372B"/>
                </a:solidFill>
                <a:latin typeface="Noto Sans CJK SC"/>
              </a:defRPr>
            </a:pPr>
            <a:r>
              <a:t>5. 做了不算做了，验证过才算做了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5" name="图片 4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668512" y="210312"/>
            <a:ext cx="1371600" cy="475488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10168128" y="228600"/>
            <a:ext cx="1554480" cy="393192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4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Rounded Rectangle 45"/>
          <p:cNvSpPr/>
          <p:nvPr/>
        </p:nvSpPr>
        <p:spPr>
          <a:xfrm>
            <a:off x="457200" y="6473952"/>
            <a:ext cx="11274552" cy="16459"/>
          </a:xfrm>
          <a:prstGeom prst="roundRect">
            <a:avLst>
              <a:gd name="adj" fmla="val 8000"/>
            </a:avLst>
          </a:prstGeom>
          <a:solidFill>
            <a:srgbClr val="DC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6519672"/>
            <a:ext cx="9144000" cy="292608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食品工厂灭菌消毒卫生控制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519672"/>
            <a:ext cx="685800" cy="22860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24 / 24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0" y="1993392"/>
            <a:ext cx="12191695" cy="2788920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7240" y="2697480"/>
            <a:ext cx="10607040" cy="109728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66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25653B"/>
                </a:solidFill>
                <a:latin typeface="Noto Sans CJK SC"/>
              </a:defRPr>
            </a:pPr>
            <a:r>
              <a:t>谢谢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" y="5138928"/>
            <a:ext cx="8229600" cy="91440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>
              <a:lnSpc>
                <a:spcPts val="313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65756B"/>
                </a:solidFill>
                <a:latin typeface="Noto Sans CJK SC"/>
              </a:defRPr>
            </a:pPr>
            <a:r>
              <a:t>刘书源</a:t>
            </a:r>
          </a:p>
          <a:p>
            <a:pPr>
              <a:lnSpc>
                <a:spcPts val="313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65756B"/>
                </a:solidFill>
                <a:latin typeface="Noto Sans CJK SC"/>
              </a:defRPr>
            </a:pPr>
            <a:r>
              <a:t>2026年10月13日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DIAGRAM_VIRTUALLY_FRAME" val="{&quot;height&quot;:418.89763779527567,&quot;left&quot;:86.61417322834646,&quot;top&quot;:90.55118110236221,&quot;width&quot;:877.8535433070867}"/>
</p:tagLst>
</file>

<file path=ppt/tags/tag3.xml><?xml version="1.0" encoding="utf-8"?>
<p:tagLst xmlns:p="http://schemas.openxmlformats.org/presentationml/2006/main">
  <p:tag name="KSO_WM_DIAGRAM_VIRTUALLY_FRAME" val="{&quot;height&quot;:418.89763779527567,&quot;left&quot;:86.61417322834646,&quot;top&quot;:90.55118110236221,&quot;width&quot;:877.8535433070867}"/>
</p:tagLst>
</file>

<file path=ppt/tags/tag4.xml><?xml version="1.0" encoding="utf-8"?>
<p:tagLst xmlns:p="http://schemas.openxmlformats.org/presentationml/2006/main">
  <p:tag name="KSO_WM_DIAGRAM_VIRTUALLY_FRAME" val="{&quot;height&quot;:418.89763779527567,&quot;left&quot;:86.61417322834646,&quot;top&quot;:90.55118110236221,&quot;width&quot;:877.8535433070867}"/>
</p:tagLst>
</file>

<file path=ppt/tags/tag5.xml><?xml version="1.0" encoding="utf-8"?>
<p:tagLst xmlns:p="http://schemas.openxmlformats.org/presentationml/2006/main">
  <p:tag name="KSO_WM_DIAGRAM_VIRTUALLY_FRAME" val="{&quot;height&quot;:418.89763779527567,&quot;left&quot;:86.61417322834646,&quot;top&quot;:90.55118110236221,&quot;width&quot;:877.8535433070867}"/>
</p:tagLst>
</file>

<file path=ppt/tags/tag6.xml><?xml version="1.0" encoding="utf-8"?>
<p:tagLst xmlns:p="http://schemas.openxmlformats.org/presentationml/2006/main">
  <p:tag name="KSO_WM_DIAGRAM_VIRTUALLY_FRAME" val="{&quot;height&quot;:418.89763779527567,&quot;left&quot;:86.61417322834646,&quot;top&quot;:90.55118110236221,&quot;width&quot;:877.8535433070867}"/>
</p:tagLst>
</file>

<file path=ppt/tags/tag7.xml><?xml version="1.0" encoding="utf-8"?>
<p:tagLst xmlns:p="http://schemas.openxmlformats.org/presentationml/2006/main">
  <p:tag name="KSO_WM_DIAGRAM_VIRTUALLY_FRAME" val="{&quot;height&quot;:418.89763779527567,&quot;left&quot;:86.61417322834646,&quot;top&quot;:90.55118110236221,&quot;width&quot;:877.8535433070867}"/>
</p:tagLst>
</file>

<file path=ppt/tags/tag8.xml><?xml version="1.0" encoding="utf-8"?>
<p:tagLst xmlns:p="http://schemas.openxmlformats.org/presentationml/2006/main">
  <p:tag name="KSO_WM_DIAGRAM_VIRTUALLY_FRAME" val="{&quot;height&quot;:418.89763779527567,&quot;left&quot;:86.61417322834646,&quot;top&quot;:90.55118110236221,&quot;width&quot;:877.8535433070867}"/>
</p:tagLst>
</file>

<file path=ppt/tags/tag9.xml><?xml version="1.0" encoding="utf-8"?>
<p:tagLst xmlns:p="http://schemas.openxmlformats.org/presentationml/2006/main">
  <p:tag name="KSO_WM_DIAGRAM_VIRTUALLY_FRAME" val="{&quot;height&quot;:418.89763779527567,&quot;left&quot;:86.61417322834646,&quot;top&quot;:90.55118110236221,&quot;width&quot;:877.8535433070867}"/>
</p:tagLst>
</file>

<file path=ppt/tags/tag10.xml><?xml version="1.0" encoding="utf-8"?>
<p:tagLst xmlns:p="http://schemas.openxmlformats.org/presentationml/2006/main">
  <p:tag name="KSO_WM_DIAGRAM_VIRTUALLY_FRAME" val="{&quot;height&quot;:418.89763779527567,&quot;left&quot;:86.61417322834646,&quot;top&quot;:90.55118110236221,&quot;width&quot;:877.8535433070867}"/>
</p:tagLst>
</file>

<file path=ppt/tags/tag11.xml><?xml version="1.0" encoding="utf-8"?>
<p:tagLst xmlns:p="http://schemas.openxmlformats.org/presentationml/2006/main">
  <p:tag name="KSO_WM_DIAGRAM_VIRTUALLY_FRAME" val="{&quot;height&quot;:418.89763779527567,&quot;left&quot;:86.61417322834646,&quot;top&quot;:90.55118110236221,&quot;width&quot;:877.8535433070867}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DIAGRAM_VIRTUALLY_FRAME" val="{&quot;height&quot;:405.5,&quot;left&quot;:39.35,&quot;top&quot;:86.6,&quot;width&quot;:897.657874015748}"/>
</p:tagLst>
</file>

<file path=ppt/tags/tag25.xml><?xml version="1.0" encoding="utf-8"?>
<p:tagLst xmlns:p="http://schemas.openxmlformats.org/presentationml/2006/main">
  <p:tag name="KSO_WM_DIAGRAM_VIRTUALLY_FRAME" val="{&quot;height&quot;:405.5,&quot;left&quot;:39.35,&quot;top&quot;:86.6,&quot;width&quot;:897.657874015748}"/>
</p:tagLst>
</file>

<file path=ppt/tags/tag26.xml><?xml version="1.0" encoding="utf-8"?>
<p:tagLst xmlns:p="http://schemas.openxmlformats.org/presentationml/2006/main">
  <p:tag name="KSO_WM_DIAGRAM_VIRTUALLY_FRAME" val="{&quot;height&quot;:405.5,&quot;left&quot;:39.35,&quot;top&quot;:86.6,&quot;width&quot;:897.657874015748}"/>
</p:tagLst>
</file>

<file path=ppt/tags/tag27.xml><?xml version="1.0" encoding="utf-8"?>
<p:tagLst xmlns:p="http://schemas.openxmlformats.org/presentationml/2006/main">
  <p:tag name="KSO_WM_DIAGRAM_VIRTUALLY_FRAME" val="{&quot;height&quot;:405.5,&quot;left&quot;:39.35,&quot;top&quot;:86.6,&quot;width&quot;:897.657874015748}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3234</Words>
  <Application>WPS 演示</Application>
  <PresentationFormat>On-screen Show (4:3)</PresentationFormat>
  <Paragraphs>266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6" baseType="lpstr">
      <vt:lpstr>Arial</vt:lpstr>
      <vt:lpstr>宋体</vt:lpstr>
      <vt:lpstr>Wingdings</vt:lpstr>
      <vt:lpstr>Arial</vt:lpstr>
      <vt:lpstr>汉仪大宋简</vt:lpstr>
      <vt:lpstr>微软雅黑</vt:lpstr>
      <vt:lpstr>Inter</vt:lpstr>
      <vt:lpstr>Segoe Print</vt:lpstr>
      <vt:lpstr>Calibri</vt:lpstr>
      <vt:lpstr>Arial Unicode MS</vt:lpstr>
      <vt:lpstr>Inter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书源</cp:lastModifiedBy>
  <cp:revision>13</cp:revision>
  <dcterms:created xsi:type="dcterms:W3CDTF">2013-01-27T09:14:00Z</dcterms:created>
  <dcterms:modified xsi:type="dcterms:W3CDTF">2026-10-13T02:00:54Z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E89130005B45479791326EEB84B61C45_13</vt:lpwstr>
  </property>
  <property fmtid="{D5CDD505-2E9C-101B-9397-08002B2CF9AE}" pid="3" name="KSOProductBuildVer">
    <vt:lpwstr>2052-12.1.0.28505</vt:lpwstr>
  </property>
</Properties>
</file>