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4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原稿全文（便于核对，不作为通用法规或安全验证依据）：</a:t>
            </a:r>
          </a:p>
          <a:p>
            <a:r>
              <a:t>原料验收</a:t>
            </a:r>
          </a:p>
          <a:p>
            <a:r>
              <a:t>重点关注：​</a:t>
            </a:r>
          </a:p>
          <a:p>
            <a:r>
              <a:t>磁性金属物、含砂量——物理危害，防止异物。</a:t>
            </a:r>
          </a:p>
          <a:p>
            <a:r>
              <a:t>脂肪酸值——久置或受潮，脂肪被酶分解，产生游离脂肪酸。脂肪酸值高，说明面粉已经开始“败味”，可能是后面发酸的一个种子。</a:t>
            </a:r>
          </a:p>
          <a:p>
            <a:r>
              <a:t>菌落总数、霉菌酵母、芽孢、水分</a:t>
            </a:r>
          </a:p>
          <a:p>
            <a:r>
              <a:t>面粉初始带菌量高，后工序再努力也吃亏。尤其芽孢，像“带壳的种子”，烘烤不一定杀得死。</a:t>
            </a:r>
          </a:p>
          <a:p>
            <a:r>
              <a:t>建议验证/控制​：</a:t>
            </a:r>
          </a:p>
          <a:p>
            <a:r>
              <a:t>每批原料入厂检测菌落总数、芽孢、霉菌酵母、水分、吸水率。</a:t>
            </a:r>
          </a:p>
          <a:p>
            <a:r>
              <a:t>建立原料微生物趋势图，超限批次退货或预处理。</a:t>
            </a:r>
          </a:p>
          <a:p>
            <a:r>
              <a:t>保留原料批次与成品质量对应记录，便于溯源。</a:t>
            </a:r>
          </a:p>
          <a:p>
            <a:r>
              <a:t>原料是微生物第一来源</a:t>
            </a:r>
          </a:p>
          <a:p/>
          <a:p>
            <a:r>
              <a:t>本页图解：仅为流程、取样或机理示意，未编造实测数据。</a:t>
            </a:r>
          </a:p>
          <a:p>
            <a:r>
              <a:t>本页行动结论：把原料验收做成“风险识别＋入厂检测＋批次追溯”，控制初始污染与原料品质波动。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原稿全文（便于核对，不作为通用法规或安全验证依据）：</a:t>
            </a:r>
          </a:p>
          <a:p>
            <a:r>
              <a:t>配料</a:t>
            </a:r>
          </a:p>
          <a:p>
            <a:r>
              <a:t>要看什么？​</a:t>
            </a:r>
          </a:p>
          <a:p>
            <a:r>
              <a:t>食品添加剂使用量符合GB 2760。</a:t>
            </a:r>
          </a:p>
          <a:p>
            <a:r>
              <a:t>食用酒精、盐、酸度调节剂、防腐剂或乳酸/乳酸钠等，按配方准确称量。</a:t>
            </a:r>
          </a:p>
          <a:p>
            <a:r>
              <a:t>为什么重要？​</a:t>
            </a:r>
          </a:p>
          <a:p>
            <a:r>
              <a:t>盐和酒精不是越多越好，太多影响口感、食品安全和成本。</a:t>
            </a:r>
          </a:p>
          <a:p>
            <a:r>
              <a:t>食用酒精主要是抑菌，但不能代替卫生控制。酒精只有在均匀分布时才有用。</a:t>
            </a:r>
          </a:p>
          <a:p>
            <a:r>
              <a:t>添加剂合规是法规红线，不能因为想延长保质期就多加。</a:t>
            </a:r>
          </a:p>
          <a:p>
            <a:r>
              <a:t>一线语言：​ 配料像炒菜放盐，一口咸一口淡不行。酒精加进去如果没搅匀，有的面团湿、有的面团少酒精，菌就有空子钻。</a:t>
            </a:r>
          </a:p>
          <a:p>
            <a:r>
              <a:t>建议：​</a:t>
            </a:r>
          </a:p>
          <a:p>
            <a:r>
              <a:t>严格记录每批添加剂、酒精、水、盐的实际添加量。</a:t>
            </a:r>
          </a:p>
          <a:p>
            <a:r>
              <a:t>和面后不同位置取样测酒精残留或水分，看是否均匀。</a:t>
            </a:r>
          </a:p>
          <a:p/>
          <a:p>
            <a:r>
              <a:t>本页图解：仅为流程、取样或机理示意，未编造实测数据。</a:t>
            </a:r>
          </a:p>
          <a:p>
            <a:r>
              <a:t>本页行动结论：合规用量是底线；实际加入量与混合均匀度都要有记录、有复核、有验证。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原稿全文（便于核对，不作为通用法规或安全验证依据）：</a:t>
            </a:r>
          </a:p>
          <a:p>
            <a:r>
              <a:t>和面</a:t>
            </a:r>
          </a:p>
          <a:p>
            <a:r>
              <a:t>核心：均匀度。​</a:t>
            </a:r>
          </a:p>
          <a:p>
            <a:r>
              <a:t>水、酒精、盐、添加剂如果分布不均，面团局部水分高、局部抑菌弱。</a:t>
            </a:r>
          </a:p>
          <a:p>
            <a:r>
              <a:t>这些局部高水分的面团，在后续烘烤时可能仍然偏湿，最终成品局部Aw偏高，微生物容易长。</a:t>
            </a:r>
          </a:p>
          <a:p>
            <a:r>
              <a:t>一线语言：​ 和面最关键不是时间长短，而是“每一把面都差不多”。如果和面机有死角、刮不干净，或者加水方式忽快忽慢，就可能在面堆里藏几块“湿面疙瘩”。这几块就是以后两个月发酸的候选包。</a:t>
            </a:r>
          </a:p>
          <a:p>
            <a:r>
              <a:t>建议：​</a:t>
            </a:r>
          </a:p>
          <a:p>
            <a:r>
              <a:t>和面后取前中后、上下不同位置样品，用快速水分仪测水分。</a:t>
            </a:r>
          </a:p>
          <a:p>
            <a:r>
              <a:t>如果水分差异大，先解决和面均匀性，再谈烘烤和配方。</a:t>
            </a:r>
          </a:p>
          <a:p/>
          <a:p>
            <a:r>
              <a:t>本页图解：仅为流程、取样或机理示意，未编造实测数据。</a:t>
            </a:r>
          </a:p>
          <a:p>
            <a:r>
              <a:t>本页行动结论：不要只看平均水分；多点取样识别局部差异，让均匀度成为和面控制的实际指标。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原稿全文（便于核对，不作为通用法规或安全验证依据）：</a:t>
            </a:r>
          </a:p>
          <a:p>
            <a:r>
              <a:t>熟化、压延、切面</a:t>
            </a:r>
          </a:p>
          <a:p>
            <a:r>
              <a:t>关键：时间、温度、厚薄一致。​</a:t>
            </a:r>
          </a:p>
          <a:p>
            <a:r>
              <a:t>面团停留时间长，微生物会繁殖，尤其室温高时。</a:t>
            </a:r>
          </a:p>
          <a:p>
            <a:r>
              <a:t>压延厚薄不均，切面规格不一，后面烘烤受热就不一样。厚面条中心温度上不去。</a:t>
            </a:r>
          </a:p>
          <a:p>
            <a:r>
              <a:t>一线语言：​ 同样一炉面，厚的地方像“棉被”，外面干了，里面还湿着。烘烤时间到了，但厚面中心没有真正受够热，菌就活着。</a:t>
            </a:r>
          </a:p>
          <a:p>
            <a:r>
              <a:t>建议：​</a:t>
            </a:r>
          </a:p>
          <a:p>
            <a:r>
              <a:t>尽量保持批次内面片厚度一致，切面大小一致。</a:t>
            </a:r>
          </a:p>
          <a:p>
            <a:r>
              <a:t>熟化间温度不要太高，时间不要超。</a:t>
            </a:r>
          </a:p>
          <a:p/>
          <a:p>
            <a:r>
              <a:t>本页图解：仅为流程、取样或机理示意，未编造实测数据。</a:t>
            </a:r>
          </a:p>
          <a:p>
            <a:r>
              <a:t>本页行动结论：把熟化时温、面片厚度和切面尺寸一起控制，为烘烤的均匀受热建立稳定输入。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原稿全文（便于核对，不作为通用法规或安全验证依据）：</a:t>
            </a:r>
          </a:p>
          <a:p>
            <a:r>
              <a:t>烘烤</a:t>
            </a:r>
          </a:p>
          <a:p>
            <a:r>
              <a:t>HACCP要求：​</a:t>
            </a:r>
          </a:p>
          <a:p>
            <a:r>
              <a:t>前区90～100℃，中区100～140℃，后区90～100℃，时间2.5～5分钟。</a:t>
            </a:r>
          </a:p>
          <a:p>
            <a:r>
              <a:t>但要问：这是设备的设定温度，还是面条实际温度？​</a:t>
            </a:r>
          </a:p>
          <a:p>
            <a:r>
              <a:t>一线语言：​</a:t>
            </a:r>
          </a:p>
          <a:p>
            <a:r>
              <a:t>设定温度就像空调遥控器显示26℃，但房间角落可能还是30℃。烤炉设定140℃，不一定每根面条中心都到了100℃以上。风速、装载量、厚薄、摆放密度都影响。</a:t>
            </a:r>
          </a:p>
          <a:p>
            <a:r>
              <a:t>微生物杀死条件：​</a:t>
            </a:r>
          </a:p>
          <a:p>
            <a:r>
              <a:t>一般细菌营养细胞在60～70℃维持一定时间可死亡，但芽孢可能100℃以上都难杀死。半干面烘烤时间只有几分钟，不能理解为商业无菌，只是“把菌压到很低”。</a:t>
            </a:r>
          </a:p>
          <a:p>
            <a:r>
              <a:t>建议：​</a:t>
            </a:r>
          </a:p>
          <a:p>
            <a:r>
              <a:t>做一次热分布和热渗透测试：在面条不同位置插温度探头，看实际温度。</a:t>
            </a:r>
          </a:p>
          <a:p>
            <a:r>
              <a:t>出烤箱后测表面和中心温度、水分。</a:t>
            </a:r>
          </a:p>
          <a:p>
            <a:r>
              <a:t>检查烤炉各位置风速、湿度、装载量是否一致。</a:t>
            </a:r>
          </a:p>
          <a:p>
            <a:r>
              <a:t>如果中区实际能到110℃以上且稳定，杀灭营养细胞效果较好；如果局部只有80～90℃，风险就高。</a:t>
            </a:r>
          </a:p>
          <a:p/>
          <a:p>
            <a:r>
              <a:t>编辑说明：原稿三区温度与2.5–5分钟保留为来源参考。60–70℃、110℃以上或80–90℃不能脱离受热时间、目标微生物、产品基质与冷点验证，作为通用杀灭或放行限值。</a:t>
            </a:r>
          </a:p>
          <a:p/>
          <a:p>
            <a:r>
              <a:t>本页图解：仅为流程、取样或机理示意，未编造实测数据。</a:t>
            </a:r>
          </a:p>
          <a:p>
            <a:r>
              <a:t>本页行动结论：从“烤炉显示多少度”转向“产品冷点实际受热多久”；三区参数须经本线工艺验证。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原稿全文（便于核对，不作为通用法规或安全验证依据）：</a:t>
            </a:r>
          </a:p>
          <a:p>
            <a:r>
              <a:t>冷却及回潮均匀</a:t>
            </a:r>
          </a:p>
          <a:p>
            <a:r>
              <a:t>为什么关键？​ 半干面烘烤后如果马上包装，表面干、内部湿，水分会慢慢迁移。回潮/均湿是为了让水分再分布，避免局部过干过湿。 但回潮间湿度高、温度低时，表面可能凝露，等于给微生物“局部下雨”。</a:t>
            </a:r>
          </a:p>
          <a:p>
            <a:r>
              <a:t>一线语言：​ 回潮像让面条“呼吸均匀”，但回潮箱里如果有些角落湿气重，面条表面会返潮，用手一摸发粘，这地方微生物就高兴了。</a:t>
            </a:r>
          </a:p>
          <a:p>
            <a:r>
              <a:t>建议：​</a:t>
            </a:r>
          </a:p>
          <a:p>
            <a:r>
              <a:t>回潮箱内温湿度要稳定，避免温度忽高忽低。</a:t>
            </a:r>
          </a:p>
          <a:p>
            <a:r>
              <a:t>回潮时间不要过长，尤其环境温度高于25℃时。</a:t>
            </a:r>
          </a:p>
          <a:p>
            <a:r>
              <a:t>不同位置取样测水分和Aw，看是否一致。</a:t>
            </a:r>
          </a:p>
          <a:p/>
          <a:p>
            <a:r>
              <a:t>本页图解：仅为流程、取样或机理示意，未编造实测数据。</a:t>
            </a:r>
          </a:p>
          <a:p>
            <a:r>
              <a:t>本页行动结论：均湿的目标是减少分布差异，而非让表面返潮；温湿度、停留时间与多点 Aw 一起监控。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原稿全文（便于核对，不作为通用法规或安全验证依据）：</a:t>
            </a:r>
          </a:p>
          <a:p>
            <a:r>
              <a:t>接面、周转、包装前暂存</a:t>
            </a:r>
          </a:p>
          <a:p>
            <a:r>
              <a:t>风险：二次污染和吸湿。​</a:t>
            </a:r>
          </a:p>
          <a:p>
            <a:r>
              <a:t>面条暴露在空气中，环境菌、设备接触面、人员手部都可能污染。</a:t>
            </a:r>
          </a:p>
          <a:p>
            <a:r>
              <a:t>如果车间潮湿、温度高，面条表面会吸湿，局部水分升高。</a:t>
            </a:r>
          </a:p>
          <a:p>
            <a:r>
              <a:t>一线语言：​ 这个环节就像做好的饭菜放在桌上，时间越长，落灰越多。半干面虽然没鲜面那么湿，但也不是无菌的。接面、装筐、等待包装，都是给菌“最后一口水”的机会。</a:t>
            </a:r>
          </a:p>
          <a:p>
            <a:r>
              <a:t>建议：​</a:t>
            </a:r>
          </a:p>
          <a:p>
            <a:r>
              <a:t>暂存时间尽量短，尤其夏天。</a:t>
            </a:r>
          </a:p>
          <a:p>
            <a:r>
              <a:t>接面工器具定期消毒，避免用手直接接触产品。</a:t>
            </a:r>
          </a:p>
          <a:p>
            <a:r>
              <a:t>车间湿度不要太高，温度尽量低于25℃。</a:t>
            </a:r>
          </a:p>
          <a:p/>
          <a:p>
            <a:r>
              <a:t>本页图解：仅为流程、取样或机理示意，未编造实测数据。</a:t>
            </a:r>
          </a:p>
          <a:p>
            <a:r>
              <a:t>本页行动结论：缩短暴露＋控制接触面卫生＋稳定温湿度，减少包装前的再污染和局部吸湿。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原稿全文（便于核对，不作为通用法规或安全验证依据）：</a:t>
            </a:r>
          </a:p>
          <a:p>
            <a:r>
              <a:t>包装材料及仓储</a:t>
            </a:r>
          </a:p>
          <a:p>
            <a:r>
              <a:t>包装不是封上就保险。​</a:t>
            </a:r>
          </a:p>
          <a:p>
            <a:r>
              <a:t>封口不严，空气和湿气会慢慢进去。</a:t>
            </a:r>
          </a:p>
          <a:p>
            <a:r>
              <a:t>包材阻湿性不同，普通塑料袋和复合包装差别大。</a:t>
            </a:r>
          </a:p>
          <a:p>
            <a:r>
              <a:t>包装前面条温度高，封袋后内部会凝露。</a:t>
            </a:r>
          </a:p>
          <a:p>
            <a:r>
              <a:t>仓储温度影响微生物恢复生长速度。温度越高，残存菌繁殖越快。</a:t>
            </a:r>
          </a:p>
          <a:p>
            <a:r>
              <a:t>一线语言：​ 包装像给面条穿衣服，穿一件透气的风衣和穿防水的冲锋衣差别很大。封口只要有一点没压紧，仓库夏天又热，袋子里就会变成“小蒸笼”。</a:t>
            </a:r>
          </a:p>
          <a:p>
            <a:r>
              <a:t>建议：​</a:t>
            </a:r>
          </a:p>
          <a:p>
            <a:r>
              <a:t>检查封口质量，做密封性抽检。</a:t>
            </a:r>
          </a:p>
          <a:p>
            <a:r>
              <a:t>成品仓储尽量阴凉，避免暴晒和高温。</a:t>
            </a:r>
          </a:p>
          <a:p>
            <a:r>
              <a:t>包装前产品温度要降到接近室温。</a:t>
            </a:r>
          </a:p>
          <a:p/>
          <a:p>
            <a:r>
              <a:t>本页图解：仅为流程、取样或机理示意，未编造实测数据。</a:t>
            </a:r>
          </a:p>
          <a:p>
            <a:r>
              <a:t>本页行动结论：产品冷却、包材阻湿、封口完整性与仓储温度形成组合控制；包装本身不能替代工艺验证。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原稿全文（便于核对，不作为通用法规或安全验证依据）：</a:t>
            </a:r>
          </a:p>
          <a:p>
            <a:r>
              <a:t>设备死角、白布、人员卫生</a:t>
            </a:r>
          </a:p>
          <a:p>
            <a:r>
              <a:t>清洁和消毒不是一回事。​</a:t>
            </a:r>
          </a:p>
          <a:p>
            <a:r>
              <a:t>清洁是先把残面、油污、有机物去掉。</a:t>
            </a:r>
          </a:p>
          <a:p>
            <a:r>
              <a:t>消毒是接着杀死或降低微生物。</a:t>
            </a:r>
          </a:p>
          <a:p>
            <a:r>
              <a:t>如果残面没清干净，消毒剂被有机物消耗，效果大打折扣。</a:t>
            </a:r>
          </a:p>
          <a:p>
            <a:r>
              <a:t>设备死角：​</a:t>
            </a:r>
          </a:p>
          <a:p>
            <a:r>
              <a:t>和面机桨叶、压延辊边缘、切刀缝隙、输送带、回潮箱角落，是残面聚集地。潮湿残面是微生物“培养房”。</a:t>
            </a:r>
          </a:p>
          <a:p>
            <a:r>
              <a:t>白布和晒房：​</a:t>
            </a:r>
          </a:p>
          <a:p>
            <a:r>
              <a:t>白布清洗消毒后要充分晒干。干燥就是抑菌。但晾晒环境要清洁，否则风沙、虫鸟可能二次污染。</a:t>
            </a:r>
          </a:p>
          <a:p>
            <a:r>
              <a:t>一线语言：​</a:t>
            </a:r>
          </a:p>
          <a:p>
            <a:r>
              <a:t>设备表面看起来干净不行，要用手指去摸边角。白布晒干不是消毒，主要是让它不潮湿。手部卫生就像医生做手术，宁可多洗一遍。</a:t>
            </a:r>
          </a:p>
          <a:p>
            <a:r>
              <a:t>建议：​</a:t>
            </a:r>
          </a:p>
          <a:p>
            <a:r>
              <a:t>每班结束后彻底拆洗可拆卸部件。</a:t>
            </a:r>
          </a:p>
          <a:p>
            <a:r>
              <a:t>白布清洗后用75%酒精或含氯消毒液浸泡，再充分干燥。</a:t>
            </a:r>
          </a:p>
          <a:p>
            <a:r>
              <a:t>人员进入车间要严格执行洗手消毒、更衣。</a:t>
            </a:r>
          </a:p>
          <a:p/>
          <a:p>
            <a:r>
              <a:t>编辑说明：原稿提及75%酒精或含氯制剂。实际方法须按用途、材质和适用制剂标签验证浓度、接触时间及漂洗等条件；不以徒手摸洁净接触面代替卫生验证。</a:t>
            </a:r>
          </a:p>
          <a:p/>
          <a:p>
            <a:r>
              <a:t>本页图解：仅为流程、取样或机理示意，未编造实测数据。</a:t>
            </a:r>
          </a:p>
          <a:p>
            <a:r>
              <a:t>本页行动结论：把“去污—消毒—干燥—防再污染”连成闭环，并以适用卫生检测验证执行效果。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.xml"/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2.xml"/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3.xml"/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4.xml"/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5.xml"/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6.xml"/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7.xml"/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8.xml"/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9.xml"/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0352" y="118872"/>
            <a:ext cx="7132320" cy="643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原料验收</a:t>
            </a:r>
            <a:endParaRPr lang="en-US" sz="3200" dirty="0"/>
          </a:p>
        </p:txBody>
      </p:sp>
      <p:sp>
        <p:nvSpPr>
          <p:cNvPr id="47" name="Text 1"/>
          <p:cNvSpPr/>
          <p:nvPr/>
        </p:nvSpPr>
        <p:spPr>
          <a:xfrm>
            <a:off x="521208" y="120700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风险识别</a:t>
            </a:r>
            <a:endParaRPr lang="en-US" sz="1800" dirty="0"/>
          </a:p>
        </p:txBody>
      </p:sp>
      <p:sp>
        <p:nvSpPr>
          <p:cNvPr id="48" name="Text 2"/>
          <p:cNvSpPr/>
          <p:nvPr/>
        </p:nvSpPr>
        <p:spPr>
          <a:xfrm>
            <a:off x="576072" y="1645920"/>
            <a:ext cx="3813048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磁性金属物、含砂量：防异物。</a:t>
            </a:r>
            <a:endParaRPr lang="en-US" sz="1600" dirty="0"/>
          </a:p>
        </p:txBody>
      </p:sp>
      <p:sp>
        <p:nvSpPr>
          <p:cNvPr id="49" name="Text 3"/>
          <p:cNvSpPr/>
          <p:nvPr/>
        </p:nvSpPr>
        <p:spPr>
          <a:xfrm>
            <a:off x="576072" y="1952244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脂肪酸值：识别久置、受潮的品质变化。</a:t>
            </a:r>
            <a:endParaRPr lang="en-US" sz="1600" dirty="0"/>
          </a:p>
        </p:txBody>
      </p:sp>
      <p:sp>
        <p:nvSpPr>
          <p:cNvPr id="50" name="Text 4"/>
          <p:cNvSpPr/>
          <p:nvPr/>
        </p:nvSpPr>
        <p:spPr>
          <a:xfrm>
            <a:off x="576072" y="2514600"/>
            <a:ext cx="3813048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微生物与水分：掌握初始污染负荷。</a:t>
            </a:r>
            <a:endParaRPr lang="en-US" sz="1600" dirty="0"/>
          </a:p>
        </p:txBody>
      </p:sp>
      <p:sp>
        <p:nvSpPr>
          <p:cNvPr id="51" name="Text 5"/>
          <p:cNvSpPr/>
          <p:nvPr/>
        </p:nvSpPr>
        <p:spPr>
          <a:xfrm>
            <a:off x="521208" y="2912364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为什么重要</a:t>
            </a:r>
            <a:endParaRPr lang="en-US" sz="1800" dirty="0"/>
          </a:p>
        </p:txBody>
      </p:sp>
      <p:sp>
        <p:nvSpPr>
          <p:cNvPr id="52" name="Text 6"/>
          <p:cNvSpPr/>
          <p:nvPr/>
        </p:nvSpPr>
        <p:spPr>
          <a:xfrm>
            <a:off x="576072" y="3351276"/>
            <a:ext cx="3813048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面粉带菌量决定后续工艺的起点。</a:t>
            </a:r>
            <a:endParaRPr lang="en-US" sz="1600" dirty="0"/>
          </a:p>
        </p:txBody>
      </p:sp>
      <p:sp>
        <p:nvSpPr>
          <p:cNvPr id="53" name="Text 7"/>
          <p:cNvSpPr/>
          <p:nvPr/>
        </p:nvSpPr>
        <p:spPr>
          <a:xfrm>
            <a:off x="576072" y="3657600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芽孢可能耐受烘烤，不能只依赖后段处理。</a:t>
            </a:r>
            <a:endParaRPr lang="en-US" sz="1600" dirty="0"/>
          </a:p>
        </p:txBody>
      </p:sp>
      <p:sp>
        <p:nvSpPr>
          <p:cNvPr id="54" name="Text 8"/>
          <p:cNvSpPr/>
          <p:nvPr/>
        </p:nvSpPr>
        <p:spPr>
          <a:xfrm>
            <a:off x="521208" y="431139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验证与控制</a:t>
            </a:r>
            <a:endParaRPr lang="en-US" sz="1800" dirty="0"/>
          </a:p>
        </p:txBody>
      </p:sp>
      <p:sp>
        <p:nvSpPr>
          <p:cNvPr id="55" name="Text 9"/>
          <p:cNvSpPr/>
          <p:nvPr/>
        </p:nvSpPr>
        <p:spPr>
          <a:xfrm>
            <a:off x="576072" y="4750308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入厂检测微生物、水分及吸水率；超限依规处置。</a:t>
            </a:r>
            <a:endParaRPr lang="en-US" sz="1600" dirty="0"/>
          </a:p>
        </p:txBody>
      </p:sp>
      <p:sp>
        <p:nvSpPr>
          <p:cNvPr id="56" name="Text 10"/>
          <p:cNvSpPr/>
          <p:nvPr/>
        </p:nvSpPr>
        <p:spPr>
          <a:xfrm>
            <a:off x="576072" y="5312664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建立原料趋势图，关联批次与成品质量。</a:t>
            </a:r>
            <a:endParaRPr lang="en-US" sz="1600" dirty="0"/>
          </a:p>
        </p:txBody>
      </p:sp>
      <p:sp>
        <p:nvSpPr>
          <p:cNvPr id="57" name="Shape 11"/>
          <p:cNvSpPr/>
          <p:nvPr/>
        </p:nvSpPr>
        <p:spPr>
          <a:xfrm>
            <a:off x="4663440" y="5266944"/>
            <a:ext cx="7059168" cy="103327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58" name="Text 12"/>
          <p:cNvSpPr/>
          <p:nvPr/>
        </p:nvSpPr>
        <p:spPr>
          <a:xfrm>
            <a:off x="4882896" y="5431536"/>
            <a:ext cx="6601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把原料验收做成“风险识别＋入厂检测＋批次追溯”，控制初始污染与原料品质波动。</a:t>
            </a:r>
            <a:endParaRPr lang="en-US" sz="1600" dirty="0"/>
          </a:p>
        </p:txBody>
      </p:sp>
      <p:sp>
        <p:nvSpPr>
          <p:cNvPr id="59" name="Text 13"/>
          <p:cNvSpPr/>
          <p:nvPr/>
        </p:nvSpPr>
        <p:spPr>
          <a:xfrm>
            <a:off x="11109960" y="6483096"/>
            <a:ext cx="594360" cy="19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0" name="Text 14"/>
          <p:cNvSpPr/>
          <p:nvPr/>
        </p:nvSpPr>
        <p:spPr>
          <a:xfrm>
            <a:off x="4672584" y="1271016"/>
            <a:ext cx="7031736" cy="387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来料风险分层：异物、品质、微生物</a:t>
            </a:r>
            <a:endParaRPr lang="en-US" sz="1900" dirty="0"/>
          </a:p>
        </p:txBody>
      </p:sp>
      <p:sp>
        <p:nvSpPr>
          <p:cNvPr id="61" name="Shape 15"/>
          <p:cNvSpPr/>
          <p:nvPr/>
        </p:nvSpPr>
        <p:spPr>
          <a:xfrm>
            <a:off x="4681728" y="1911096"/>
            <a:ext cx="2157984" cy="1965960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62" name="Text 16"/>
          <p:cNvSpPr/>
          <p:nvPr/>
        </p:nvSpPr>
        <p:spPr>
          <a:xfrm>
            <a:off x="4809744" y="2039112"/>
            <a:ext cx="1901952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物理危害</a:t>
            </a:r>
            <a:endParaRPr lang="en-US" sz="1800" dirty="0"/>
          </a:p>
        </p:txBody>
      </p:sp>
      <p:sp>
        <p:nvSpPr>
          <p:cNvPr id="63" name="Text 17"/>
          <p:cNvSpPr/>
          <p:nvPr/>
        </p:nvSpPr>
        <p:spPr>
          <a:xfrm>
            <a:off x="4809744" y="2596896"/>
            <a:ext cx="19019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磁性金属物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含砂量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防止异物混入</a:t>
            </a:r>
            <a:endParaRPr lang="en-US" sz="1600" dirty="0"/>
          </a:p>
        </p:txBody>
      </p:sp>
      <p:sp>
        <p:nvSpPr>
          <p:cNvPr id="64" name="Shape 18"/>
          <p:cNvSpPr/>
          <p:nvPr/>
        </p:nvSpPr>
        <p:spPr>
          <a:xfrm>
            <a:off x="7114032" y="1911096"/>
            <a:ext cx="2157984" cy="1965960"/>
          </a:xfrm>
          <a:prstGeom prst="roundRect">
            <a:avLst/>
          </a:prstGeom>
          <a:solidFill>
            <a:srgbClr val="FCF6EA"/>
          </a:solidFill>
          <a:ln w="12700">
            <a:solidFill>
              <a:srgbClr val="FCF6EA"/>
            </a:solidFill>
            <a:prstDash val="solid"/>
          </a:ln>
        </p:spPr>
      </p:sp>
      <p:sp>
        <p:nvSpPr>
          <p:cNvPr id="65" name="Text 19"/>
          <p:cNvSpPr/>
          <p:nvPr/>
        </p:nvSpPr>
        <p:spPr>
          <a:xfrm>
            <a:off x="7242048" y="2039112"/>
            <a:ext cx="1901952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品质变化</a:t>
            </a:r>
            <a:endParaRPr lang="en-US" sz="1800" dirty="0"/>
          </a:p>
        </p:txBody>
      </p:sp>
      <p:sp>
        <p:nvSpPr>
          <p:cNvPr id="66" name="Text 20"/>
          <p:cNvSpPr/>
          <p:nvPr/>
        </p:nvSpPr>
        <p:spPr>
          <a:xfrm>
            <a:off x="7242048" y="2596896"/>
            <a:ext cx="19019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脂肪酸值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久置 / 受潮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关注败味线索</a:t>
            </a:r>
            <a:endParaRPr lang="en-US" sz="1600" dirty="0"/>
          </a:p>
        </p:txBody>
      </p:sp>
      <p:sp>
        <p:nvSpPr>
          <p:cNvPr id="67" name="Shape 21"/>
          <p:cNvSpPr/>
          <p:nvPr/>
        </p:nvSpPr>
        <p:spPr>
          <a:xfrm>
            <a:off x="9555480" y="1911096"/>
            <a:ext cx="2157984" cy="1965960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68" name="Text 22"/>
          <p:cNvSpPr/>
          <p:nvPr/>
        </p:nvSpPr>
        <p:spPr>
          <a:xfrm>
            <a:off x="9683496" y="2039112"/>
            <a:ext cx="1901952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微生物负荷</a:t>
            </a:r>
            <a:endParaRPr lang="en-US" sz="1800" dirty="0"/>
          </a:p>
        </p:txBody>
      </p:sp>
      <p:sp>
        <p:nvSpPr>
          <p:cNvPr id="69" name="Text 23"/>
          <p:cNvSpPr/>
          <p:nvPr/>
        </p:nvSpPr>
        <p:spPr>
          <a:xfrm>
            <a:off x="9683496" y="2596896"/>
            <a:ext cx="19019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菌落总数 / 芽孢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霉菌酵母 / 水分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控制工艺起点</a:t>
            </a:r>
            <a:endParaRPr lang="en-US" sz="1600" dirty="0"/>
          </a:p>
        </p:txBody>
      </p:sp>
      <p:sp>
        <p:nvSpPr>
          <p:cNvPr id="70" name="Shape 24"/>
          <p:cNvSpPr/>
          <p:nvPr/>
        </p:nvSpPr>
        <p:spPr>
          <a:xfrm>
            <a:off x="4690872" y="4197096"/>
            <a:ext cx="1563624" cy="539496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71" name="Text 25"/>
          <p:cNvSpPr/>
          <p:nvPr/>
        </p:nvSpPr>
        <p:spPr>
          <a:xfrm>
            <a:off x="4745736" y="4306824"/>
            <a:ext cx="1453896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入厂检测</a:t>
            </a:r>
            <a:endParaRPr lang="en-US" sz="1600" dirty="0"/>
          </a:p>
        </p:txBody>
      </p:sp>
      <p:sp>
        <p:nvSpPr>
          <p:cNvPr id="72" name="Shape 26"/>
          <p:cNvSpPr/>
          <p:nvPr/>
        </p:nvSpPr>
        <p:spPr>
          <a:xfrm>
            <a:off x="6291072" y="4393692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3" name="Shape 27"/>
          <p:cNvSpPr/>
          <p:nvPr/>
        </p:nvSpPr>
        <p:spPr>
          <a:xfrm>
            <a:off x="6510528" y="4197096"/>
            <a:ext cx="1563624" cy="539496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74" name="Text 28"/>
          <p:cNvSpPr/>
          <p:nvPr/>
        </p:nvSpPr>
        <p:spPr>
          <a:xfrm>
            <a:off x="6565392" y="4306824"/>
            <a:ext cx="1453896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批次判定</a:t>
            </a:r>
            <a:endParaRPr lang="en-US" sz="1600" dirty="0"/>
          </a:p>
        </p:txBody>
      </p:sp>
      <p:sp>
        <p:nvSpPr>
          <p:cNvPr id="75" name="Shape 29"/>
          <p:cNvSpPr/>
          <p:nvPr/>
        </p:nvSpPr>
        <p:spPr>
          <a:xfrm>
            <a:off x="8110728" y="4393692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6" name="Shape 30"/>
          <p:cNvSpPr/>
          <p:nvPr/>
        </p:nvSpPr>
        <p:spPr>
          <a:xfrm>
            <a:off x="8330184" y="4197096"/>
            <a:ext cx="1563624" cy="539496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77" name="Text 31"/>
          <p:cNvSpPr/>
          <p:nvPr/>
        </p:nvSpPr>
        <p:spPr>
          <a:xfrm>
            <a:off x="8385048" y="4306824"/>
            <a:ext cx="1453896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趋势记录</a:t>
            </a:r>
            <a:endParaRPr lang="en-US" sz="1600" dirty="0"/>
          </a:p>
        </p:txBody>
      </p:sp>
      <p:sp>
        <p:nvSpPr>
          <p:cNvPr id="78" name="Shape 32"/>
          <p:cNvSpPr/>
          <p:nvPr/>
        </p:nvSpPr>
        <p:spPr>
          <a:xfrm>
            <a:off x="9930384" y="4393692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9" name="Shape 33"/>
          <p:cNvSpPr/>
          <p:nvPr/>
        </p:nvSpPr>
        <p:spPr>
          <a:xfrm>
            <a:off x="10149840" y="4197096"/>
            <a:ext cx="1563624" cy="539496"/>
          </a:xfrm>
          <a:prstGeom prst="roundRect">
            <a:avLst/>
          </a:prstGeom>
          <a:solidFill>
            <a:srgbClr val="235C29"/>
          </a:solidFill>
          <a:ln w="12700">
            <a:solidFill>
              <a:srgbClr val="235C29"/>
            </a:solidFill>
            <a:prstDash val="solid"/>
          </a:ln>
        </p:spPr>
      </p:sp>
      <p:sp>
        <p:nvSpPr>
          <p:cNvPr id="80" name="Text 34"/>
          <p:cNvSpPr/>
          <p:nvPr/>
        </p:nvSpPr>
        <p:spPr>
          <a:xfrm>
            <a:off x="10204704" y="4306824"/>
            <a:ext cx="1453896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成品追溯</a:t>
            </a:r>
            <a:endParaRPr lang="en-US" sz="1600" dirty="0"/>
          </a:p>
        </p:txBody>
      </p:sp>
      <p:sp>
        <p:nvSpPr>
          <p:cNvPr id="81" name="Text 35"/>
          <p:cNvSpPr/>
          <p:nvPr/>
        </p:nvSpPr>
        <p:spPr>
          <a:xfrm>
            <a:off x="4681728" y="4818888"/>
            <a:ext cx="6995160" cy="23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原料批号 → 工艺记录 → 成品质量：把结果连回同一批次</a:t>
            </a:r>
            <a:endParaRPr lang="en-US" sz="11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0352" y="118872"/>
            <a:ext cx="7132320" cy="643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配料</a:t>
            </a:r>
            <a:endParaRPr lang="en-US" sz="3200" dirty="0"/>
          </a:p>
        </p:txBody>
      </p:sp>
      <p:sp>
        <p:nvSpPr>
          <p:cNvPr id="47" name="Text 1"/>
          <p:cNvSpPr/>
          <p:nvPr/>
        </p:nvSpPr>
        <p:spPr>
          <a:xfrm>
            <a:off x="521208" y="120700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法规与准确称量</a:t>
            </a:r>
            <a:endParaRPr lang="en-US" sz="1800" dirty="0"/>
          </a:p>
        </p:txBody>
      </p:sp>
      <p:sp>
        <p:nvSpPr>
          <p:cNvPr id="48" name="Text 2"/>
          <p:cNvSpPr/>
          <p:nvPr/>
        </p:nvSpPr>
        <p:spPr>
          <a:xfrm>
            <a:off x="576072" y="1645920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添加剂按食品类别及现行 GB 2760 合规使用。</a:t>
            </a:r>
            <a:endParaRPr lang="en-US" sz="1600" dirty="0"/>
          </a:p>
        </p:txBody>
      </p:sp>
      <p:sp>
        <p:nvSpPr>
          <p:cNvPr id="49" name="Text 3"/>
          <p:cNvSpPr/>
          <p:nvPr/>
        </p:nvSpPr>
        <p:spPr>
          <a:xfrm>
            <a:off x="576072" y="2208276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酒精、水、盐、酸度调节剂等按配方准确称量。</a:t>
            </a:r>
            <a:endParaRPr lang="en-US" sz="1600" dirty="0"/>
          </a:p>
        </p:txBody>
      </p:sp>
      <p:sp>
        <p:nvSpPr>
          <p:cNvPr id="50" name="Text 4"/>
          <p:cNvSpPr/>
          <p:nvPr/>
        </p:nvSpPr>
        <p:spPr>
          <a:xfrm>
            <a:off x="521208" y="286207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为什么重要</a:t>
            </a:r>
            <a:endParaRPr lang="en-US" sz="1800" dirty="0"/>
          </a:p>
        </p:txBody>
      </p:sp>
      <p:sp>
        <p:nvSpPr>
          <p:cNvPr id="51" name="Text 5"/>
          <p:cNvSpPr/>
          <p:nvPr/>
        </p:nvSpPr>
        <p:spPr>
          <a:xfrm>
            <a:off x="576072" y="3300984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盐、酒精并非越多越好：兼顾口感、安全与成本。</a:t>
            </a:r>
            <a:endParaRPr lang="en-US" sz="1600" dirty="0"/>
          </a:p>
        </p:txBody>
      </p:sp>
      <p:sp>
        <p:nvSpPr>
          <p:cNvPr id="52" name="Text 6"/>
          <p:cNvSpPr/>
          <p:nvPr/>
        </p:nvSpPr>
        <p:spPr>
          <a:xfrm>
            <a:off x="576072" y="3863340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酒精抑菌不能替代卫生控制，且依赖均匀分布。</a:t>
            </a:r>
            <a:endParaRPr lang="en-US" sz="1600" dirty="0"/>
          </a:p>
        </p:txBody>
      </p:sp>
      <p:sp>
        <p:nvSpPr>
          <p:cNvPr id="53" name="Text 7"/>
          <p:cNvSpPr/>
          <p:nvPr/>
        </p:nvSpPr>
        <p:spPr>
          <a:xfrm>
            <a:off x="521208" y="451713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记录与验证</a:t>
            </a:r>
            <a:endParaRPr lang="en-US" sz="1800" dirty="0"/>
          </a:p>
        </p:txBody>
      </p:sp>
      <p:sp>
        <p:nvSpPr>
          <p:cNvPr id="54" name="Text 8"/>
          <p:cNvSpPr/>
          <p:nvPr/>
        </p:nvSpPr>
        <p:spPr>
          <a:xfrm>
            <a:off x="576072" y="4956048"/>
            <a:ext cx="3813048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记录每批实际添加量并复核偏差。</a:t>
            </a:r>
            <a:endParaRPr lang="en-US" sz="1600" dirty="0"/>
          </a:p>
        </p:txBody>
      </p:sp>
      <p:sp>
        <p:nvSpPr>
          <p:cNvPr id="55" name="Text 9"/>
          <p:cNvSpPr/>
          <p:nvPr/>
        </p:nvSpPr>
        <p:spPr>
          <a:xfrm>
            <a:off x="576072" y="5262372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和面后多位置取样，比较酒精残留或水分。</a:t>
            </a:r>
            <a:endParaRPr lang="en-US" sz="1600" dirty="0"/>
          </a:p>
        </p:txBody>
      </p:sp>
      <p:sp>
        <p:nvSpPr>
          <p:cNvPr id="56" name="Text 10"/>
          <p:cNvSpPr/>
          <p:nvPr/>
        </p:nvSpPr>
        <p:spPr>
          <a:xfrm>
            <a:off x="576072" y="5824728"/>
            <a:ext cx="3813048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一线要点：不能“一口咸、一口淡”。</a:t>
            </a:r>
            <a:endParaRPr lang="en-US" sz="1600" dirty="0"/>
          </a:p>
        </p:txBody>
      </p:sp>
      <p:sp>
        <p:nvSpPr>
          <p:cNvPr id="57" name="Shape 11"/>
          <p:cNvSpPr/>
          <p:nvPr/>
        </p:nvSpPr>
        <p:spPr>
          <a:xfrm>
            <a:off x="4663440" y="5266944"/>
            <a:ext cx="7059168" cy="103327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58" name="Text 12"/>
          <p:cNvSpPr/>
          <p:nvPr/>
        </p:nvSpPr>
        <p:spPr>
          <a:xfrm>
            <a:off x="4882896" y="5431536"/>
            <a:ext cx="6601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合规用量是底线；实际加入量与混合均匀度都要有记录、有复核、有验证。</a:t>
            </a:r>
            <a:endParaRPr lang="en-US" sz="1600" dirty="0"/>
          </a:p>
        </p:txBody>
      </p:sp>
      <p:sp>
        <p:nvSpPr>
          <p:cNvPr id="59" name="Text 13"/>
          <p:cNvSpPr/>
          <p:nvPr/>
        </p:nvSpPr>
        <p:spPr>
          <a:xfrm>
            <a:off x="11109960" y="6483096"/>
            <a:ext cx="594360" cy="19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60" name="Text 14"/>
          <p:cNvSpPr/>
          <p:nvPr/>
        </p:nvSpPr>
        <p:spPr>
          <a:xfrm>
            <a:off x="4672584" y="1271016"/>
            <a:ext cx="7031736" cy="387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准确加入与均匀分布，缺一不可</a:t>
            </a:r>
            <a:endParaRPr lang="en-US" sz="1900" dirty="0"/>
          </a:p>
        </p:txBody>
      </p:sp>
      <p:sp>
        <p:nvSpPr>
          <p:cNvPr id="61" name="Shape 15"/>
          <p:cNvSpPr/>
          <p:nvPr/>
        </p:nvSpPr>
        <p:spPr>
          <a:xfrm>
            <a:off x="4681728" y="1828800"/>
            <a:ext cx="1565910" cy="722376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62" name="Text 16"/>
          <p:cNvSpPr/>
          <p:nvPr/>
        </p:nvSpPr>
        <p:spPr>
          <a:xfrm>
            <a:off x="4736592" y="1938528"/>
            <a:ext cx="14561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配方确认</a:t>
            </a:r>
            <a:endParaRPr lang="en-US" sz="1600" dirty="0"/>
          </a:p>
        </p:txBody>
      </p:sp>
      <p:sp>
        <p:nvSpPr>
          <p:cNvPr id="63" name="Shape 17"/>
          <p:cNvSpPr/>
          <p:nvPr/>
        </p:nvSpPr>
        <p:spPr>
          <a:xfrm>
            <a:off x="6284214" y="2116836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4" name="Shape 18"/>
          <p:cNvSpPr/>
          <p:nvPr/>
        </p:nvSpPr>
        <p:spPr>
          <a:xfrm>
            <a:off x="6503670" y="1828800"/>
            <a:ext cx="1565910" cy="722376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65" name="Text 19"/>
          <p:cNvSpPr/>
          <p:nvPr/>
        </p:nvSpPr>
        <p:spPr>
          <a:xfrm>
            <a:off x="6558534" y="1938528"/>
            <a:ext cx="14561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称量复核</a:t>
            </a:r>
            <a:endParaRPr lang="en-US" sz="1600" dirty="0"/>
          </a:p>
        </p:txBody>
      </p:sp>
      <p:sp>
        <p:nvSpPr>
          <p:cNvPr id="66" name="Shape 20"/>
          <p:cNvSpPr/>
          <p:nvPr/>
        </p:nvSpPr>
        <p:spPr>
          <a:xfrm>
            <a:off x="8106156" y="2116836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7" name="Shape 21"/>
          <p:cNvSpPr/>
          <p:nvPr/>
        </p:nvSpPr>
        <p:spPr>
          <a:xfrm>
            <a:off x="8325612" y="1828800"/>
            <a:ext cx="1565910" cy="722376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68" name="Text 22"/>
          <p:cNvSpPr/>
          <p:nvPr/>
        </p:nvSpPr>
        <p:spPr>
          <a:xfrm>
            <a:off x="8380476" y="1938528"/>
            <a:ext cx="14561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混合加入</a:t>
            </a:r>
            <a:endParaRPr lang="en-US" sz="1600" dirty="0"/>
          </a:p>
        </p:txBody>
      </p:sp>
      <p:sp>
        <p:nvSpPr>
          <p:cNvPr id="69" name="Shape 23"/>
          <p:cNvSpPr/>
          <p:nvPr/>
        </p:nvSpPr>
        <p:spPr>
          <a:xfrm>
            <a:off x="9928098" y="2116836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0" name="Shape 24"/>
          <p:cNvSpPr/>
          <p:nvPr/>
        </p:nvSpPr>
        <p:spPr>
          <a:xfrm>
            <a:off x="10147554" y="1828800"/>
            <a:ext cx="1565910" cy="722376"/>
          </a:xfrm>
          <a:prstGeom prst="roundRect">
            <a:avLst/>
          </a:prstGeom>
          <a:solidFill>
            <a:srgbClr val="235C29"/>
          </a:solidFill>
          <a:ln w="12700">
            <a:solidFill>
              <a:srgbClr val="235C29"/>
            </a:solidFill>
            <a:prstDash val="solid"/>
          </a:ln>
        </p:spPr>
      </p:sp>
      <p:sp>
        <p:nvSpPr>
          <p:cNvPr id="71" name="Text 25"/>
          <p:cNvSpPr/>
          <p:nvPr/>
        </p:nvSpPr>
        <p:spPr>
          <a:xfrm>
            <a:off x="10202418" y="1938528"/>
            <a:ext cx="14561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多点验证</a:t>
            </a:r>
            <a:endParaRPr lang="en-US" sz="1600" dirty="0"/>
          </a:p>
        </p:txBody>
      </p:sp>
      <p:sp>
        <p:nvSpPr>
          <p:cNvPr id="72" name="Shape 26"/>
          <p:cNvSpPr/>
          <p:nvPr/>
        </p:nvSpPr>
        <p:spPr>
          <a:xfrm>
            <a:off x="4700016" y="2953512"/>
            <a:ext cx="1746504" cy="384048"/>
          </a:xfrm>
          <a:prstGeom prst="roundRect">
            <a:avLst/>
          </a:prstGeom>
          <a:solidFill>
            <a:srgbClr val="235C29"/>
          </a:solidFill>
          <a:ln w="12700">
            <a:solidFill>
              <a:srgbClr val="235C29"/>
            </a:solidFill>
            <a:prstDash val="solid"/>
          </a:ln>
        </p:spPr>
      </p:sp>
      <p:sp>
        <p:nvSpPr>
          <p:cNvPr id="73" name="Text 27"/>
          <p:cNvSpPr/>
          <p:nvPr/>
        </p:nvSpPr>
        <p:spPr>
          <a:xfrm>
            <a:off x="4745736" y="3026664"/>
            <a:ext cx="1655064" cy="26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物料项</a:t>
            </a:r>
            <a:endParaRPr lang="en-US" sz="1300" dirty="0"/>
          </a:p>
        </p:txBody>
      </p:sp>
      <p:sp>
        <p:nvSpPr>
          <p:cNvPr id="74" name="Shape 28"/>
          <p:cNvSpPr/>
          <p:nvPr/>
        </p:nvSpPr>
        <p:spPr>
          <a:xfrm>
            <a:off x="6574536" y="2953512"/>
            <a:ext cx="1746504" cy="384048"/>
          </a:xfrm>
          <a:prstGeom prst="roundRect">
            <a:avLst/>
          </a:prstGeom>
          <a:solidFill>
            <a:srgbClr val="235C29"/>
          </a:solidFill>
          <a:ln w="12700">
            <a:solidFill>
              <a:srgbClr val="235C29"/>
            </a:solidFill>
            <a:prstDash val="solid"/>
          </a:ln>
        </p:spPr>
      </p:sp>
      <p:sp>
        <p:nvSpPr>
          <p:cNvPr id="75" name="Text 29"/>
          <p:cNvSpPr/>
          <p:nvPr/>
        </p:nvSpPr>
        <p:spPr>
          <a:xfrm>
            <a:off x="6620256" y="3026664"/>
            <a:ext cx="1655064" cy="26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配方目标</a:t>
            </a:r>
            <a:endParaRPr lang="en-US" sz="1300" dirty="0"/>
          </a:p>
        </p:txBody>
      </p:sp>
      <p:sp>
        <p:nvSpPr>
          <p:cNvPr id="76" name="Shape 30"/>
          <p:cNvSpPr/>
          <p:nvPr/>
        </p:nvSpPr>
        <p:spPr>
          <a:xfrm>
            <a:off x="8449056" y="2953512"/>
            <a:ext cx="1527048" cy="384048"/>
          </a:xfrm>
          <a:prstGeom prst="roundRect">
            <a:avLst/>
          </a:prstGeom>
          <a:solidFill>
            <a:srgbClr val="235C29"/>
          </a:solidFill>
          <a:ln w="12700">
            <a:solidFill>
              <a:srgbClr val="235C29"/>
            </a:solidFill>
            <a:prstDash val="solid"/>
          </a:ln>
        </p:spPr>
      </p:sp>
      <p:sp>
        <p:nvSpPr>
          <p:cNvPr id="77" name="Text 31"/>
          <p:cNvSpPr/>
          <p:nvPr/>
        </p:nvSpPr>
        <p:spPr>
          <a:xfrm>
            <a:off x="8494776" y="3026664"/>
            <a:ext cx="1435608" cy="26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实际加入</a:t>
            </a:r>
            <a:endParaRPr lang="en-US" sz="1300" dirty="0"/>
          </a:p>
        </p:txBody>
      </p:sp>
      <p:sp>
        <p:nvSpPr>
          <p:cNvPr id="78" name="Shape 32"/>
          <p:cNvSpPr/>
          <p:nvPr/>
        </p:nvSpPr>
        <p:spPr>
          <a:xfrm>
            <a:off x="10104120" y="2953512"/>
            <a:ext cx="1600200" cy="384048"/>
          </a:xfrm>
          <a:prstGeom prst="roundRect">
            <a:avLst/>
          </a:prstGeom>
          <a:solidFill>
            <a:srgbClr val="235C29"/>
          </a:solidFill>
          <a:ln w="12700">
            <a:solidFill>
              <a:srgbClr val="235C29"/>
            </a:solidFill>
            <a:prstDash val="solid"/>
          </a:ln>
        </p:spPr>
      </p:sp>
      <p:sp>
        <p:nvSpPr>
          <p:cNvPr id="79" name="Text 33"/>
          <p:cNvSpPr/>
          <p:nvPr/>
        </p:nvSpPr>
        <p:spPr>
          <a:xfrm>
            <a:off x="10149840" y="3026664"/>
            <a:ext cx="1508760" cy="26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复核结果</a:t>
            </a:r>
            <a:endParaRPr lang="en-US" sz="1300" dirty="0"/>
          </a:p>
        </p:txBody>
      </p:sp>
      <p:sp>
        <p:nvSpPr>
          <p:cNvPr id="80" name="Shape 34"/>
          <p:cNvSpPr/>
          <p:nvPr/>
        </p:nvSpPr>
        <p:spPr>
          <a:xfrm>
            <a:off x="4700016" y="3511296"/>
            <a:ext cx="1746504" cy="38404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81" name="Text 35"/>
          <p:cNvSpPr/>
          <p:nvPr/>
        </p:nvSpPr>
        <p:spPr>
          <a:xfrm>
            <a:off x="4727448" y="3602736"/>
            <a:ext cx="1691640" cy="289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酒精 / 水</a:t>
            </a:r>
            <a:endParaRPr lang="en-US" sz="1400" dirty="0"/>
          </a:p>
        </p:txBody>
      </p:sp>
      <p:sp>
        <p:nvSpPr>
          <p:cNvPr id="82" name="Shape 36"/>
          <p:cNvSpPr/>
          <p:nvPr/>
        </p:nvSpPr>
        <p:spPr>
          <a:xfrm>
            <a:off x="6574536" y="3511296"/>
            <a:ext cx="1746504" cy="38404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83" name="Text 37"/>
          <p:cNvSpPr/>
          <p:nvPr/>
        </p:nvSpPr>
        <p:spPr>
          <a:xfrm>
            <a:off x="6601968" y="3602736"/>
            <a:ext cx="1691640" cy="289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按配方</a:t>
            </a:r>
            <a:endParaRPr lang="en-US" sz="1400" dirty="0"/>
          </a:p>
        </p:txBody>
      </p:sp>
      <p:sp>
        <p:nvSpPr>
          <p:cNvPr id="84" name="Shape 38"/>
          <p:cNvSpPr/>
          <p:nvPr/>
        </p:nvSpPr>
        <p:spPr>
          <a:xfrm>
            <a:off x="8449056" y="3511296"/>
            <a:ext cx="1527048" cy="38404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85" name="Text 39"/>
          <p:cNvSpPr/>
          <p:nvPr/>
        </p:nvSpPr>
        <p:spPr>
          <a:xfrm>
            <a:off x="8476488" y="3602736"/>
            <a:ext cx="1472184" cy="289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称量记录</a:t>
            </a:r>
            <a:endParaRPr lang="en-US" sz="1400" dirty="0"/>
          </a:p>
        </p:txBody>
      </p:sp>
      <p:sp>
        <p:nvSpPr>
          <p:cNvPr id="86" name="Shape 40"/>
          <p:cNvSpPr/>
          <p:nvPr/>
        </p:nvSpPr>
        <p:spPr>
          <a:xfrm>
            <a:off x="10104120" y="3511296"/>
            <a:ext cx="1600200" cy="38404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87" name="Text 41"/>
          <p:cNvSpPr/>
          <p:nvPr/>
        </p:nvSpPr>
        <p:spPr>
          <a:xfrm>
            <a:off x="10131552" y="3602736"/>
            <a:ext cx="1545336" cy="289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偏差复核</a:t>
            </a:r>
            <a:endParaRPr lang="en-US" sz="1400" dirty="0"/>
          </a:p>
        </p:txBody>
      </p:sp>
      <p:sp>
        <p:nvSpPr>
          <p:cNvPr id="88" name="Shape 42"/>
          <p:cNvSpPr/>
          <p:nvPr/>
        </p:nvSpPr>
        <p:spPr>
          <a:xfrm>
            <a:off x="4700016" y="3995928"/>
            <a:ext cx="1746504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43"/>
          <p:cNvSpPr/>
          <p:nvPr/>
        </p:nvSpPr>
        <p:spPr>
          <a:xfrm>
            <a:off x="4727448" y="4087368"/>
            <a:ext cx="1691640" cy="289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盐 / 添加剂</a:t>
            </a:r>
            <a:endParaRPr lang="en-US" sz="1400" dirty="0"/>
          </a:p>
        </p:txBody>
      </p:sp>
      <p:sp>
        <p:nvSpPr>
          <p:cNvPr id="90" name="Shape 44"/>
          <p:cNvSpPr/>
          <p:nvPr/>
        </p:nvSpPr>
        <p:spPr>
          <a:xfrm>
            <a:off x="6574536" y="3995928"/>
            <a:ext cx="1746504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45"/>
          <p:cNvSpPr/>
          <p:nvPr/>
        </p:nvSpPr>
        <p:spPr>
          <a:xfrm>
            <a:off x="6601968" y="4087368"/>
            <a:ext cx="1691640" cy="289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按配方</a:t>
            </a:r>
            <a:endParaRPr lang="en-US" sz="1400" dirty="0"/>
          </a:p>
        </p:txBody>
      </p:sp>
      <p:sp>
        <p:nvSpPr>
          <p:cNvPr id="92" name="Shape 46"/>
          <p:cNvSpPr/>
          <p:nvPr/>
        </p:nvSpPr>
        <p:spPr>
          <a:xfrm>
            <a:off x="8449056" y="3995928"/>
            <a:ext cx="152704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Text 47"/>
          <p:cNvSpPr/>
          <p:nvPr/>
        </p:nvSpPr>
        <p:spPr>
          <a:xfrm>
            <a:off x="8476488" y="4087368"/>
            <a:ext cx="1472184" cy="289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称量记录</a:t>
            </a:r>
            <a:endParaRPr lang="en-US" sz="1400" dirty="0"/>
          </a:p>
        </p:txBody>
      </p:sp>
      <p:sp>
        <p:nvSpPr>
          <p:cNvPr id="94" name="Shape 48"/>
          <p:cNvSpPr/>
          <p:nvPr/>
        </p:nvSpPr>
        <p:spPr>
          <a:xfrm>
            <a:off x="10104120" y="3995928"/>
            <a:ext cx="16002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Text 49"/>
          <p:cNvSpPr/>
          <p:nvPr/>
        </p:nvSpPr>
        <p:spPr>
          <a:xfrm>
            <a:off x="10131552" y="4087368"/>
            <a:ext cx="1545336" cy="289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偏差复核</a:t>
            </a:r>
            <a:endParaRPr lang="en-US" sz="1400" dirty="0"/>
          </a:p>
        </p:txBody>
      </p:sp>
      <p:sp>
        <p:nvSpPr>
          <p:cNvPr id="96" name="Text 50"/>
          <p:cNvSpPr/>
          <p:nvPr/>
        </p:nvSpPr>
        <p:spPr>
          <a:xfrm>
            <a:off x="4709160" y="4507992"/>
            <a:ext cx="6967728" cy="308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4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合规用量 ≠ 均匀分布；加得准确，还要混得均匀。</a:t>
            </a:r>
            <a:endParaRPr lang="en-US" sz="1500" dirty="0"/>
          </a:p>
        </p:txBody>
      </p:sp>
      <p:sp>
        <p:nvSpPr>
          <p:cNvPr id="97" name="Text 51"/>
          <p:cNvSpPr/>
          <p:nvPr/>
        </p:nvSpPr>
        <p:spPr>
          <a:xfrm>
            <a:off x="4681728" y="4818888"/>
            <a:ext cx="6995160" cy="23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记录表头示意；不代表实际生产数据</a:t>
            </a:r>
            <a:endParaRPr lang="en-US" sz="110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0352" y="118872"/>
            <a:ext cx="7132320" cy="643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和面</a:t>
            </a:r>
            <a:endParaRPr lang="en-US" sz="3200" dirty="0"/>
          </a:p>
        </p:txBody>
      </p:sp>
      <p:sp>
        <p:nvSpPr>
          <p:cNvPr id="47" name="Text 1"/>
          <p:cNvSpPr/>
          <p:nvPr/>
        </p:nvSpPr>
        <p:spPr>
          <a:xfrm>
            <a:off x="521208" y="120700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核心：均匀度</a:t>
            </a:r>
            <a:endParaRPr lang="en-US" sz="1800" dirty="0"/>
          </a:p>
        </p:txBody>
      </p:sp>
      <p:sp>
        <p:nvSpPr>
          <p:cNvPr id="48" name="Text 2"/>
          <p:cNvSpPr/>
          <p:nvPr/>
        </p:nvSpPr>
        <p:spPr>
          <a:xfrm>
            <a:off x="576072" y="1645920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水、酒精、盐与添加剂分布不均，会形成局部湿点和抑菌弱点。</a:t>
            </a:r>
            <a:endParaRPr lang="en-US" sz="1600" dirty="0"/>
          </a:p>
        </p:txBody>
      </p:sp>
      <p:sp>
        <p:nvSpPr>
          <p:cNvPr id="49" name="Text 3"/>
          <p:cNvSpPr/>
          <p:nvPr/>
        </p:nvSpPr>
        <p:spPr>
          <a:xfrm>
            <a:off x="576072" y="2208276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湿点可能延续到后工序，使成品局部 Aw 偏高。</a:t>
            </a:r>
            <a:endParaRPr lang="en-US" sz="1600" dirty="0"/>
          </a:p>
        </p:txBody>
      </p:sp>
      <p:sp>
        <p:nvSpPr>
          <p:cNvPr id="50" name="Text 4"/>
          <p:cNvSpPr/>
          <p:nvPr/>
        </p:nvSpPr>
        <p:spPr>
          <a:xfrm>
            <a:off x="521208" y="286207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一线理解</a:t>
            </a:r>
            <a:endParaRPr lang="en-US" sz="1800" dirty="0"/>
          </a:p>
        </p:txBody>
      </p:sp>
      <p:sp>
        <p:nvSpPr>
          <p:cNvPr id="51" name="Text 5"/>
          <p:cNvSpPr/>
          <p:nvPr/>
        </p:nvSpPr>
        <p:spPr>
          <a:xfrm>
            <a:off x="576072" y="3300984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关键不只在和面时间，而在“每一把面都差不多”。</a:t>
            </a:r>
            <a:endParaRPr lang="en-US" sz="1600" dirty="0"/>
          </a:p>
        </p:txBody>
      </p:sp>
      <p:sp>
        <p:nvSpPr>
          <p:cNvPr id="52" name="Text 6"/>
          <p:cNvSpPr/>
          <p:nvPr/>
        </p:nvSpPr>
        <p:spPr>
          <a:xfrm>
            <a:off x="576072" y="3863340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设备死角、残面与加水不稳定，可能形成湿面疙瘩。</a:t>
            </a:r>
            <a:endParaRPr lang="en-US" sz="1600" dirty="0"/>
          </a:p>
        </p:txBody>
      </p:sp>
      <p:sp>
        <p:nvSpPr>
          <p:cNvPr id="53" name="Text 7"/>
          <p:cNvSpPr/>
          <p:nvPr/>
        </p:nvSpPr>
        <p:spPr>
          <a:xfrm>
            <a:off x="521208" y="451713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验证与控制</a:t>
            </a:r>
            <a:endParaRPr lang="en-US" sz="1800" dirty="0"/>
          </a:p>
        </p:txBody>
      </p:sp>
      <p:sp>
        <p:nvSpPr>
          <p:cNvPr id="54" name="Text 8"/>
          <p:cNvSpPr/>
          <p:nvPr/>
        </p:nvSpPr>
        <p:spPr>
          <a:xfrm>
            <a:off x="576072" y="4956048"/>
            <a:ext cx="3813048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前、中、后及上、下位置取样测水分。</a:t>
            </a:r>
            <a:endParaRPr lang="en-US" sz="1600" dirty="0"/>
          </a:p>
        </p:txBody>
      </p:sp>
      <p:sp>
        <p:nvSpPr>
          <p:cNvPr id="55" name="Text 9"/>
          <p:cNvSpPr/>
          <p:nvPr/>
        </p:nvSpPr>
        <p:spPr>
          <a:xfrm>
            <a:off x="576072" y="5262372"/>
            <a:ext cx="3813048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先解决批内差异，再调整烘烤与配方。</a:t>
            </a:r>
            <a:endParaRPr lang="en-US" sz="1600" dirty="0"/>
          </a:p>
        </p:txBody>
      </p:sp>
      <p:sp>
        <p:nvSpPr>
          <p:cNvPr id="56" name="Shape 10"/>
          <p:cNvSpPr/>
          <p:nvPr/>
        </p:nvSpPr>
        <p:spPr>
          <a:xfrm>
            <a:off x="4663440" y="5266944"/>
            <a:ext cx="7059168" cy="103327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57" name="Text 11"/>
          <p:cNvSpPr/>
          <p:nvPr/>
        </p:nvSpPr>
        <p:spPr>
          <a:xfrm>
            <a:off x="4882896" y="5431536"/>
            <a:ext cx="6601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不要只看平均水分；多点取样识别局部差异，让均匀度成为和面控制的实际指标。</a:t>
            </a:r>
            <a:endParaRPr lang="en-US" sz="1600" dirty="0"/>
          </a:p>
        </p:txBody>
      </p:sp>
      <p:sp>
        <p:nvSpPr>
          <p:cNvPr id="58" name="Text 12"/>
          <p:cNvSpPr/>
          <p:nvPr/>
        </p:nvSpPr>
        <p:spPr>
          <a:xfrm>
            <a:off x="11109960" y="6483096"/>
            <a:ext cx="594360" cy="19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9" name="Text 13"/>
          <p:cNvSpPr/>
          <p:nvPr/>
        </p:nvSpPr>
        <p:spPr>
          <a:xfrm>
            <a:off x="4672584" y="1271016"/>
            <a:ext cx="7031736" cy="387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批次平均合格，不代表每一处都相同</a:t>
            </a:r>
            <a:endParaRPr lang="en-US" sz="1900" dirty="0"/>
          </a:p>
        </p:txBody>
      </p:sp>
      <p:sp>
        <p:nvSpPr>
          <p:cNvPr id="60" name="Text 14"/>
          <p:cNvSpPr/>
          <p:nvPr/>
        </p:nvSpPr>
        <p:spPr>
          <a:xfrm>
            <a:off x="4919472" y="1810512"/>
            <a:ext cx="3026664" cy="348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较均匀分布</a:t>
            </a:r>
            <a:endParaRPr lang="en-US" sz="1700" dirty="0"/>
          </a:p>
        </p:txBody>
      </p:sp>
      <p:sp>
        <p:nvSpPr>
          <p:cNvPr id="61" name="Shape 15"/>
          <p:cNvSpPr/>
          <p:nvPr/>
        </p:nvSpPr>
        <p:spPr>
          <a:xfrm>
            <a:off x="5440680" y="2331720"/>
            <a:ext cx="1984248" cy="1984248"/>
          </a:xfrm>
          <a:prstGeom prst="ellipse">
            <a:avLst/>
          </a:prstGeom>
          <a:solidFill>
            <a:srgbClr val="F1F7EF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2" name="Shape 16"/>
          <p:cNvSpPr/>
          <p:nvPr/>
        </p:nvSpPr>
        <p:spPr>
          <a:xfrm>
            <a:off x="5916168" y="2825496"/>
            <a:ext cx="164592" cy="164592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3" name="Shape 17"/>
          <p:cNvSpPr/>
          <p:nvPr/>
        </p:nvSpPr>
        <p:spPr>
          <a:xfrm>
            <a:off x="6528816" y="2715768"/>
            <a:ext cx="164592" cy="164592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4" name="Shape 18"/>
          <p:cNvSpPr/>
          <p:nvPr/>
        </p:nvSpPr>
        <p:spPr>
          <a:xfrm>
            <a:off x="6739128" y="3383280"/>
            <a:ext cx="164592" cy="164592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5" name="Shape 19"/>
          <p:cNvSpPr/>
          <p:nvPr/>
        </p:nvSpPr>
        <p:spPr>
          <a:xfrm>
            <a:off x="5815584" y="3474720"/>
            <a:ext cx="164592" cy="164592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6" name="Shape 20"/>
          <p:cNvSpPr/>
          <p:nvPr/>
        </p:nvSpPr>
        <p:spPr>
          <a:xfrm>
            <a:off x="6281928" y="3163824"/>
            <a:ext cx="164592" cy="164592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7" name="Text 21"/>
          <p:cNvSpPr/>
          <p:nvPr/>
        </p:nvSpPr>
        <p:spPr>
          <a:xfrm>
            <a:off x="8412480" y="1810512"/>
            <a:ext cx="3026664" cy="348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4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局部湿点 / 弱抑菌点</a:t>
            </a:r>
            <a:endParaRPr lang="en-US" sz="1700" dirty="0"/>
          </a:p>
        </p:txBody>
      </p:sp>
      <p:sp>
        <p:nvSpPr>
          <p:cNvPr id="68" name="Shape 22"/>
          <p:cNvSpPr/>
          <p:nvPr/>
        </p:nvSpPr>
        <p:spPr>
          <a:xfrm>
            <a:off x="8933688" y="2331720"/>
            <a:ext cx="1984248" cy="1984248"/>
          </a:xfrm>
          <a:prstGeom prst="ellipse">
            <a:avLst/>
          </a:prstGeom>
          <a:solidFill>
            <a:srgbClr val="F1F7EF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9" name="Shape 23"/>
          <p:cNvSpPr/>
          <p:nvPr/>
        </p:nvSpPr>
        <p:spPr>
          <a:xfrm>
            <a:off x="9409176" y="2825496"/>
            <a:ext cx="164592" cy="164592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0" name="Shape 24"/>
          <p:cNvSpPr/>
          <p:nvPr/>
        </p:nvSpPr>
        <p:spPr>
          <a:xfrm>
            <a:off x="10021824" y="2715768"/>
            <a:ext cx="164592" cy="164592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1" name="Shape 25"/>
          <p:cNvSpPr/>
          <p:nvPr/>
        </p:nvSpPr>
        <p:spPr>
          <a:xfrm>
            <a:off x="10232136" y="3383280"/>
            <a:ext cx="164592" cy="164592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2" name="Shape 26"/>
          <p:cNvSpPr/>
          <p:nvPr/>
        </p:nvSpPr>
        <p:spPr>
          <a:xfrm>
            <a:off x="9308592" y="3474720"/>
            <a:ext cx="164592" cy="164592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3" name="Shape 27"/>
          <p:cNvSpPr/>
          <p:nvPr/>
        </p:nvSpPr>
        <p:spPr>
          <a:xfrm>
            <a:off x="9774936" y="3163824"/>
            <a:ext cx="356616" cy="356616"/>
          </a:xfrm>
          <a:prstGeom prst="ellipse">
            <a:avLst/>
          </a:prstGeom>
          <a:solidFill>
            <a:srgbClr val="C4453C"/>
          </a:solidFill>
          <a:ln w="12700">
            <a:solidFill>
              <a:srgbClr val="C4453C"/>
            </a:solidFill>
            <a:prstDash val="solid"/>
          </a:ln>
        </p:spPr>
      </p:sp>
      <p:sp>
        <p:nvSpPr>
          <p:cNvPr id="74" name="Shape 28"/>
          <p:cNvSpPr/>
          <p:nvPr/>
        </p:nvSpPr>
        <p:spPr>
          <a:xfrm>
            <a:off x="4873752" y="4544568"/>
            <a:ext cx="1042416" cy="33832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75" name="Text 29"/>
          <p:cNvSpPr/>
          <p:nvPr/>
        </p:nvSpPr>
        <p:spPr>
          <a:xfrm>
            <a:off x="4873752" y="4608576"/>
            <a:ext cx="1042416" cy="26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</a:t>
            </a:r>
            <a:endParaRPr lang="en-US" sz="1300" dirty="0"/>
          </a:p>
        </p:txBody>
      </p:sp>
      <p:sp>
        <p:nvSpPr>
          <p:cNvPr id="76" name="Shape 30"/>
          <p:cNvSpPr/>
          <p:nvPr/>
        </p:nvSpPr>
        <p:spPr>
          <a:xfrm>
            <a:off x="6263640" y="4544568"/>
            <a:ext cx="1042416" cy="33832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77" name="Text 31"/>
          <p:cNvSpPr/>
          <p:nvPr/>
        </p:nvSpPr>
        <p:spPr>
          <a:xfrm>
            <a:off x="6263640" y="4608576"/>
            <a:ext cx="1042416" cy="26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</a:t>
            </a:r>
            <a:endParaRPr lang="en-US" sz="1300" dirty="0"/>
          </a:p>
        </p:txBody>
      </p:sp>
      <p:sp>
        <p:nvSpPr>
          <p:cNvPr id="78" name="Shape 32"/>
          <p:cNvSpPr/>
          <p:nvPr/>
        </p:nvSpPr>
        <p:spPr>
          <a:xfrm>
            <a:off x="7653528" y="4544568"/>
            <a:ext cx="1042416" cy="33832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79" name="Text 33"/>
          <p:cNvSpPr/>
          <p:nvPr/>
        </p:nvSpPr>
        <p:spPr>
          <a:xfrm>
            <a:off x="7653528" y="4608576"/>
            <a:ext cx="1042416" cy="26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</a:t>
            </a:r>
            <a:endParaRPr lang="en-US" sz="1300" dirty="0"/>
          </a:p>
        </p:txBody>
      </p:sp>
      <p:sp>
        <p:nvSpPr>
          <p:cNvPr id="80" name="Shape 34"/>
          <p:cNvSpPr/>
          <p:nvPr/>
        </p:nvSpPr>
        <p:spPr>
          <a:xfrm>
            <a:off x="9043416" y="4544568"/>
            <a:ext cx="1042416" cy="33832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81" name="Text 35"/>
          <p:cNvSpPr/>
          <p:nvPr/>
        </p:nvSpPr>
        <p:spPr>
          <a:xfrm>
            <a:off x="9043416" y="4608576"/>
            <a:ext cx="1042416" cy="26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</a:t>
            </a:r>
            <a:endParaRPr lang="en-US" sz="1300" dirty="0"/>
          </a:p>
        </p:txBody>
      </p:sp>
      <p:sp>
        <p:nvSpPr>
          <p:cNvPr id="82" name="Shape 36"/>
          <p:cNvSpPr/>
          <p:nvPr/>
        </p:nvSpPr>
        <p:spPr>
          <a:xfrm>
            <a:off x="10433304" y="4544568"/>
            <a:ext cx="1042416" cy="33832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83" name="Text 37"/>
          <p:cNvSpPr/>
          <p:nvPr/>
        </p:nvSpPr>
        <p:spPr>
          <a:xfrm>
            <a:off x="10433304" y="4608576"/>
            <a:ext cx="1042416" cy="26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</a:t>
            </a:r>
            <a:endParaRPr lang="en-US" sz="1300" dirty="0"/>
          </a:p>
        </p:txBody>
      </p:sp>
      <p:sp>
        <p:nvSpPr>
          <p:cNvPr id="84" name="Text 38"/>
          <p:cNvSpPr/>
          <p:nvPr/>
        </p:nvSpPr>
        <p:spPr>
          <a:xfrm>
            <a:off x="4681728" y="4818888"/>
            <a:ext cx="6995160" cy="23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水分 / 酒精 / 盐的分布示意；固定位置取样，比较位置间差异</a:t>
            </a:r>
            <a:endParaRPr lang="en-US" sz="1100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0352" y="118872"/>
            <a:ext cx="7132320" cy="643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熟化、压延、切面</a:t>
            </a:r>
            <a:endParaRPr lang="en-US" sz="3200" dirty="0"/>
          </a:p>
        </p:txBody>
      </p:sp>
      <p:sp>
        <p:nvSpPr>
          <p:cNvPr id="47" name="Text 1"/>
          <p:cNvSpPr/>
          <p:nvPr/>
        </p:nvSpPr>
        <p:spPr>
          <a:xfrm>
            <a:off x="521208" y="120700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时间与温度</a:t>
            </a:r>
            <a:endParaRPr lang="en-US" sz="1800" dirty="0"/>
          </a:p>
        </p:txBody>
      </p:sp>
      <p:sp>
        <p:nvSpPr>
          <p:cNvPr id="48" name="Text 2"/>
          <p:cNvSpPr/>
          <p:nvPr/>
        </p:nvSpPr>
        <p:spPr>
          <a:xfrm>
            <a:off x="576072" y="1645920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熟化停留过长、环境偏热，会增加微生物生长机会。</a:t>
            </a:r>
            <a:endParaRPr lang="en-US" sz="1600" dirty="0"/>
          </a:p>
        </p:txBody>
      </p:sp>
      <p:sp>
        <p:nvSpPr>
          <p:cNvPr id="49" name="Text 3"/>
          <p:cNvSpPr/>
          <p:nvPr/>
        </p:nvSpPr>
        <p:spPr>
          <a:xfrm>
            <a:off x="576072" y="2208276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熟化温度与时间按验证后的工艺窗口执行。</a:t>
            </a:r>
            <a:endParaRPr lang="en-US" sz="1600" dirty="0"/>
          </a:p>
        </p:txBody>
      </p:sp>
      <p:sp>
        <p:nvSpPr>
          <p:cNvPr id="50" name="Text 4"/>
          <p:cNvSpPr/>
          <p:nvPr/>
        </p:nvSpPr>
        <p:spPr>
          <a:xfrm>
            <a:off x="521208" y="286207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厚薄与规格</a:t>
            </a:r>
            <a:endParaRPr lang="en-US" sz="1800" dirty="0"/>
          </a:p>
        </p:txBody>
      </p:sp>
      <p:sp>
        <p:nvSpPr>
          <p:cNvPr id="51" name="Text 5"/>
          <p:cNvSpPr/>
          <p:nvPr/>
        </p:nvSpPr>
        <p:spPr>
          <a:xfrm>
            <a:off x="576072" y="3300984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面片厚度或切面规格不同，后续受热和失水也会不同。</a:t>
            </a:r>
            <a:endParaRPr lang="en-US" sz="1600" dirty="0"/>
          </a:p>
        </p:txBody>
      </p:sp>
      <p:sp>
        <p:nvSpPr>
          <p:cNvPr id="52" name="Text 6"/>
          <p:cNvSpPr/>
          <p:nvPr/>
        </p:nvSpPr>
        <p:spPr>
          <a:xfrm>
            <a:off x="576072" y="3863340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厚处可能表面已干、中心仍湿或受热不足。</a:t>
            </a:r>
            <a:endParaRPr lang="en-US" sz="1600" dirty="0"/>
          </a:p>
        </p:txBody>
      </p:sp>
      <p:sp>
        <p:nvSpPr>
          <p:cNvPr id="53" name="Text 7"/>
          <p:cNvSpPr/>
          <p:nvPr/>
        </p:nvSpPr>
        <p:spPr>
          <a:xfrm>
            <a:off x="521208" y="451713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一线理解与控制</a:t>
            </a:r>
            <a:endParaRPr lang="en-US" sz="1800" dirty="0"/>
          </a:p>
        </p:txBody>
      </p:sp>
      <p:sp>
        <p:nvSpPr>
          <p:cNvPr id="54" name="Text 8"/>
          <p:cNvSpPr/>
          <p:nvPr/>
        </p:nvSpPr>
        <p:spPr>
          <a:xfrm>
            <a:off x="576072" y="4956048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厚面像“棉被”：外面干，不代表里面也到位。</a:t>
            </a:r>
            <a:endParaRPr lang="en-US" sz="1600" dirty="0"/>
          </a:p>
        </p:txBody>
      </p:sp>
      <p:sp>
        <p:nvSpPr>
          <p:cNvPr id="55" name="Text 9"/>
          <p:cNvSpPr/>
          <p:nvPr/>
        </p:nvSpPr>
        <p:spPr>
          <a:xfrm>
            <a:off x="576072" y="5518404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批内厚度、切面尺寸尽量一致，控制后段工艺输入。</a:t>
            </a:r>
            <a:endParaRPr lang="en-US" sz="1600" dirty="0"/>
          </a:p>
        </p:txBody>
      </p:sp>
      <p:sp>
        <p:nvSpPr>
          <p:cNvPr id="56" name="Shape 10"/>
          <p:cNvSpPr/>
          <p:nvPr/>
        </p:nvSpPr>
        <p:spPr>
          <a:xfrm>
            <a:off x="4663440" y="5266944"/>
            <a:ext cx="7059168" cy="103327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57" name="Text 11"/>
          <p:cNvSpPr/>
          <p:nvPr/>
        </p:nvSpPr>
        <p:spPr>
          <a:xfrm>
            <a:off x="4882896" y="5431536"/>
            <a:ext cx="6601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把熟化时温、面片厚度和切面尺寸一起控制，为烘烤的均匀受热建立稳定输入。</a:t>
            </a:r>
            <a:endParaRPr lang="en-US" sz="1600" dirty="0"/>
          </a:p>
        </p:txBody>
      </p:sp>
      <p:sp>
        <p:nvSpPr>
          <p:cNvPr id="58" name="Text 12"/>
          <p:cNvSpPr/>
          <p:nvPr/>
        </p:nvSpPr>
        <p:spPr>
          <a:xfrm>
            <a:off x="11109960" y="6483096"/>
            <a:ext cx="594360" cy="19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59" name="Text 13"/>
          <p:cNvSpPr/>
          <p:nvPr/>
        </p:nvSpPr>
        <p:spPr>
          <a:xfrm>
            <a:off x="4672584" y="1271016"/>
            <a:ext cx="7031736" cy="387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时间、温度与规格共同决定后段工艺输入</a:t>
            </a:r>
            <a:endParaRPr lang="en-US" sz="1900" dirty="0"/>
          </a:p>
        </p:txBody>
      </p:sp>
      <p:sp>
        <p:nvSpPr>
          <p:cNvPr id="60" name="Shape 14"/>
          <p:cNvSpPr/>
          <p:nvPr/>
        </p:nvSpPr>
        <p:spPr>
          <a:xfrm>
            <a:off x="4690872" y="1801368"/>
            <a:ext cx="1559052" cy="630936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61" name="Text 15"/>
          <p:cNvSpPr/>
          <p:nvPr/>
        </p:nvSpPr>
        <p:spPr>
          <a:xfrm>
            <a:off x="4745736" y="1911096"/>
            <a:ext cx="14493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熟化</a:t>
            </a:r>
            <a:endParaRPr lang="en-US" sz="1600" dirty="0"/>
          </a:p>
        </p:txBody>
      </p:sp>
      <p:sp>
        <p:nvSpPr>
          <p:cNvPr id="62" name="Shape 16"/>
          <p:cNvSpPr/>
          <p:nvPr/>
        </p:nvSpPr>
        <p:spPr>
          <a:xfrm>
            <a:off x="6286500" y="2043684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3" name="Shape 17"/>
          <p:cNvSpPr/>
          <p:nvPr/>
        </p:nvSpPr>
        <p:spPr>
          <a:xfrm>
            <a:off x="6505956" y="1801368"/>
            <a:ext cx="1559052" cy="630936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64" name="Text 18"/>
          <p:cNvSpPr/>
          <p:nvPr/>
        </p:nvSpPr>
        <p:spPr>
          <a:xfrm>
            <a:off x="6560820" y="1911096"/>
            <a:ext cx="14493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压延</a:t>
            </a:r>
            <a:endParaRPr lang="en-US" sz="1600" dirty="0"/>
          </a:p>
        </p:txBody>
      </p:sp>
      <p:sp>
        <p:nvSpPr>
          <p:cNvPr id="65" name="Shape 19"/>
          <p:cNvSpPr/>
          <p:nvPr/>
        </p:nvSpPr>
        <p:spPr>
          <a:xfrm>
            <a:off x="8101584" y="2043684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6" name="Shape 20"/>
          <p:cNvSpPr/>
          <p:nvPr/>
        </p:nvSpPr>
        <p:spPr>
          <a:xfrm>
            <a:off x="8321040" y="1801368"/>
            <a:ext cx="1559052" cy="630936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67" name="Text 21"/>
          <p:cNvSpPr/>
          <p:nvPr/>
        </p:nvSpPr>
        <p:spPr>
          <a:xfrm>
            <a:off x="8375904" y="1911096"/>
            <a:ext cx="14493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切面</a:t>
            </a:r>
            <a:endParaRPr lang="en-US" sz="1600" dirty="0"/>
          </a:p>
        </p:txBody>
      </p:sp>
      <p:sp>
        <p:nvSpPr>
          <p:cNvPr id="68" name="Shape 22"/>
          <p:cNvSpPr/>
          <p:nvPr/>
        </p:nvSpPr>
        <p:spPr>
          <a:xfrm>
            <a:off x="9916668" y="2043684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9" name="Shape 23"/>
          <p:cNvSpPr/>
          <p:nvPr/>
        </p:nvSpPr>
        <p:spPr>
          <a:xfrm>
            <a:off x="10136124" y="1801368"/>
            <a:ext cx="1559052" cy="630936"/>
          </a:xfrm>
          <a:prstGeom prst="roundRect">
            <a:avLst/>
          </a:prstGeom>
          <a:solidFill>
            <a:srgbClr val="235C29"/>
          </a:solidFill>
          <a:ln w="12700">
            <a:solidFill>
              <a:srgbClr val="235C29"/>
            </a:solidFill>
            <a:prstDash val="solid"/>
          </a:ln>
        </p:spPr>
      </p:sp>
      <p:sp>
        <p:nvSpPr>
          <p:cNvPr id="70" name="Text 24"/>
          <p:cNvSpPr/>
          <p:nvPr/>
        </p:nvSpPr>
        <p:spPr>
          <a:xfrm>
            <a:off x="10190988" y="1911096"/>
            <a:ext cx="14493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烘烤</a:t>
            </a:r>
            <a:endParaRPr lang="en-US" sz="1600" dirty="0"/>
          </a:p>
        </p:txBody>
      </p:sp>
      <p:sp>
        <p:nvSpPr>
          <p:cNvPr id="71" name="Text 25"/>
          <p:cNvSpPr/>
          <p:nvPr/>
        </p:nvSpPr>
        <p:spPr>
          <a:xfrm>
            <a:off x="4864608" y="2788920"/>
            <a:ext cx="3227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厚薄一致：更利于均匀受热</a:t>
            </a:r>
            <a:endParaRPr lang="en-US" sz="1500" dirty="0"/>
          </a:p>
        </p:txBody>
      </p:sp>
      <p:sp>
        <p:nvSpPr>
          <p:cNvPr id="72" name="Shape 26"/>
          <p:cNvSpPr/>
          <p:nvPr/>
        </p:nvSpPr>
        <p:spPr>
          <a:xfrm>
            <a:off x="5065776" y="3410712"/>
            <a:ext cx="2816352" cy="14630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3" name="Shape 27"/>
          <p:cNvSpPr/>
          <p:nvPr/>
        </p:nvSpPr>
        <p:spPr>
          <a:xfrm>
            <a:off x="5065776" y="3831336"/>
            <a:ext cx="2816352" cy="14630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4" name="Shape 28"/>
          <p:cNvSpPr/>
          <p:nvPr/>
        </p:nvSpPr>
        <p:spPr>
          <a:xfrm>
            <a:off x="5065776" y="4251960"/>
            <a:ext cx="2816352" cy="14630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5" name="Text 29"/>
          <p:cNvSpPr/>
          <p:nvPr/>
        </p:nvSpPr>
        <p:spPr>
          <a:xfrm>
            <a:off x="8439912" y="2788920"/>
            <a:ext cx="3227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4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厚薄不一：受热可能不同</a:t>
            </a:r>
            <a:endParaRPr lang="en-US" sz="1500" dirty="0"/>
          </a:p>
        </p:txBody>
      </p:sp>
      <p:sp>
        <p:nvSpPr>
          <p:cNvPr id="76" name="Shape 30"/>
          <p:cNvSpPr/>
          <p:nvPr/>
        </p:nvSpPr>
        <p:spPr>
          <a:xfrm>
            <a:off x="8641080" y="3410712"/>
            <a:ext cx="2816352" cy="14630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7" name="Shape 31"/>
          <p:cNvSpPr/>
          <p:nvPr/>
        </p:nvSpPr>
        <p:spPr>
          <a:xfrm>
            <a:off x="8641080" y="3831336"/>
            <a:ext cx="2816352" cy="37490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8" name="Shape 32"/>
          <p:cNvSpPr/>
          <p:nvPr/>
        </p:nvSpPr>
        <p:spPr>
          <a:xfrm>
            <a:off x="9985248" y="3968496"/>
            <a:ext cx="118872" cy="118872"/>
          </a:xfrm>
          <a:prstGeom prst="ellipse">
            <a:avLst/>
          </a:prstGeom>
          <a:solidFill>
            <a:srgbClr val="E7A33B"/>
          </a:solidFill>
          <a:ln w="12700">
            <a:solidFill>
              <a:srgbClr val="E7A33B"/>
            </a:solidFill>
            <a:prstDash val="solid"/>
          </a:ln>
        </p:spPr>
      </p:sp>
      <p:sp>
        <p:nvSpPr>
          <p:cNvPr id="79" name="Shape 33"/>
          <p:cNvSpPr/>
          <p:nvPr/>
        </p:nvSpPr>
        <p:spPr>
          <a:xfrm>
            <a:off x="8641080" y="4251960"/>
            <a:ext cx="2816352" cy="14630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80" name="Text 34"/>
          <p:cNvSpPr/>
          <p:nvPr/>
        </p:nvSpPr>
        <p:spPr>
          <a:xfrm>
            <a:off x="8439912" y="4572000"/>
            <a:ext cx="3227832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4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厚处需关注中心温度与水分</a:t>
            </a:r>
            <a:endParaRPr lang="en-US" sz="1200" dirty="0"/>
          </a:p>
        </p:txBody>
      </p:sp>
      <p:sp>
        <p:nvSpPr>
          <p:cNvPr id="81" name="Text 35"/>
          <p:cNvSpPr/>
          <p:nvPr/>
        </p:nvSpPr>
        <p:spPr>
          <a:xfrm>
            <a:off x="4681728" y="4818888"/>
            <a:ext cx="6995160" cy="23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截面图为概念示意，不表示实测厚度或温度</a:t>
            </a:r>
            <a:endParaRPr lang="en-US" sz="1100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0352" y="118872"/>
            <a:ext cx="7132320" cy="643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烘烤</a:t>
            </a:r>
            <a:endParaRPr lang="en-US" sz="3200" dirty="0"/>
          </a:p>
        </p:txBody>
      </p:sp>
      <p:sp>
        <p:nvSpPr>
          <p:cNvPr id="47" name="Text 1"/>
          <p:cNvSpPr/>
          <p:nvPr/>
        </p:nvSpPr>
        <p:spPr>
          <a:xfrm>
            <a:off x="521208" y="120700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先区分测量对象</a:t>
            </a:r>
            <a:endParaRPr lang="en-US" sz="1800" dirty="0"/>
          </a:p>
        </p:txBody>
      </p:sp>
      <p:sp>
        <p:nvSpPr>
          <p:cNvPr id="48" name="Text 2"/>
          <p:cNvSpPr/>
          <p:nvPr/>
        </p:nvSpPr>
        <p:spPr>
          <a:xfrm>
            <a:off x="576072" y="1645920"/>
            <a:ext cx="381304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设备设定值、空气测点与产品温度不是同一概念。</a:t>
            </a:r>
            <a:endParaRPr lang="en-US" sz="1550" dirty="0"/>
          </a:p>
        </p:txBody>
      </p:sp>
      <p:sp>
        <p:nvSpPr>
          <p:cNvPr id="49" name="Text 3"/>
          <p:cNvSpPr/>
          <p:nvPr/>
        </p:nvSpPr>
        <p:spPr>
          <a:xfrm>
            <a:off x="576072" y="2192274"/>
            <a:ext cx="381304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风速、湿度、装载量、厚度和摆放密度会影响受热。</a:t>
            </a:r>
            <a:endParaRPr lang="en-US" sz="1550" dirty="0"/>
          </a:p>
        </p:txBody>
      </p:sp>
      <p:sp>
        <p:nvSpPr>
          <p:cNvPr id="50" name="Text 4"/>
          <p:cNvSpPr/>
          <p:nvPr/>
        </p:nvSpPr>
        <p:spPr>
          <a:xfrm>
            <a:off x="521208" y="283006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微生物控制逻辑</a:t>
            </a:r>
            <a:endParaRPr lang="en-US" sz="1800" dirty="0"/>
          </a:p>
        </p:txBody>
      </p:sp>
      <p:sp>
        <p:nvSpPr>
          <p:cNvPr id="51" name="Text 5"/>
          <p:cNvSpPr/>
          <p:nvPr/>
        </p:nvSpPr>
        <p:spPr>
          <a:xfrm>
            <a:off x="576072" y="3268980"/>
            <a:ext cx="381304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营养细胞与芽孢耐热性不同，不能用单一温度判断降菌。</a:t>
            </a:r>
            <a:endParaRPr lang="en-US" sz="1550" dirty="0"/>
          </a:p>
        </p:txBody>
      </p:sp>
      <p:sp>
        <p:nvSpPr>
          <p:cNvPr id="52" name="Text 6"/>
          <p:cNvSpPr/>
          <p:nvPr/>
        </p:nvSpPr>
        <p:spPr>
          <a:xfrm>
            <a:off x="576072" y="3815334"/>
            <a:ext cx="381304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短时烘烤不等于商业无菌；需结合目标菌与实际温时验证。</a:t>
            </a:r>
            <a:endParaRPr lang="en-US" sz="1550" dirty="0"/>
          </a:p>
        </p:txBody>
      </p:sp>
      <p:sp>
        <p:nvSpPr>
          <p:cNvPr id="53" name="Text 7"/>
          <p:cNvSpPr/>
          <p:nvPr/>
        </p:nvSpPr>
        <p:spPr>
          <a:xfrm>
            <a:off x="521208" y="44531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验证与巡检</a:t>
            </a:r>
            <a:endParaRPr lang="en-US" sz="1800" dirty="0"/>
          </a:p>
        </p:txBody>
      </p:sp>
      <p:sp>
        <p:nvSpPr>
          <p:cNvPr id="54" name="Text 8"/>
          <p:cNvSpPr/>
          <p:nvPr/>
        </p:nvSpPr>
        <p:spPr>
          <a:xfrm>
            <a:off x="576072" y="4892040"/>
            <a:ext cx="381304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做热分布与热渗透测试，定位产品冷点。</a:t>
            </a:r>
            <a:endParaRPr lang="en-US" sz="1550" dirty="0"/>
          </a:p>
        </p:txBody>
      </p:sp>
      <p:sp>
        <p:nvSpPr>
          <p:cNvPr id="55" name="Text 9"/>
          <p:cNvSpPr/>
          <p:nvPr/>
        </p:nvSpPr>
        <p:spPr>
          <a:xfrm>
            <a:off x="576072" y="5438394"/>
            <a:ext cx="3813048" cy="31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出烘比较表面/中心温度与水分。</a:t>
            </a:r>
            <a:endParaRPr lang="en-US" sz="1550" dirty="0"/>
          </a:p>
        </p:txBody>
      </p:sp>
      <p:sp>
        <p:nvSpPr>
          <p:cNvPr id="56" name="Text 10"/>
          <p:cNvSpPr/>
          <p:nvPr/>
        </p:nvSpPr>
        <p:spPr>
          <a:xfrm>
            <a:off x="576072" y="5736717"/>
            <a:ext cx="381304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55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检查各位置风速、湿度、装载是否一致。</a:t>
            </a:r>
            <a:endParaRPr lang="en-US" sz="1550" dirty="0"/>
          </a:p>
        </p:txBody>
      </p:sp>
      <p:sp>
        <p:nvSpPr>
          <p:cNvPr id="57" name="Shape 11"/>
          <p:cNvSpPr/>
          <p:nvPr/>
        </p:nvSpPr>
        <p:spPr>
          <a:xfrm>
            <a:off x="4663440" y="5266944"/>
            <a:ext cx="7059168" cy="103327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58" name="Text 12"/>
          <p:cNvSpPr/>
          <p:nvPr/>
        </p:nvSpPr>
        <p:spPr>
          <a:xfrm>
            <a:off x="4882896" y="5431536"/>
            <a:ext cx="6601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从“烤炉显示多少度”转向“产品冷点实际受热多久”；三区参数须经本线工艺验证。</a:t>
            </a:r>
            <a:endParaRPr lang="en-US" sz="1600" dirty="0"/>
          </a:p>
        </p:txBody>
      </p:sp>
      <p:sp>
        <p:nvSpPr>
          <p:cNvPr id="59" name="Text 13"/>
          <p:cNvSpPr/>
          <p:nvPr/>
        </p:nvSpPr>
        <p:spPr>
          <a:xfrm>
            <a:off x="11109960" y="6483096"/>
            <a:ext cx="594360" cy="19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60" name="Text 14"/>
          <p:cNvSpPr/>
          <p:nvPr/>
        </p:nvSpPr>
        <p:spPr>
          <a:xfrm>
            <a:off x="4672584" y="1271016"/>
            <a:ext cx="7031736" cy="387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三区工艺参数与产品实际受热分开核实</a:t>
            </a:r>
            <a:endParaRPr lang="en-US" sz="1900" dirty="0"/>
          </a:p>
        </p:txBody>
      </p:sp>
      <p:sp>
        <p:nvSpPr>
          <p:cNvPr id="61" name="Shape 15"/>
          <p:cNvSpPr/>
          <p:nvPr/>
        </p:nvSpPr>
        <p:spPr>
          <a:xfrm>
            <a:off x="4709160" y="1810512"/>
            <a:ext cx="2112264" cy="92354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62" name="Text 16"/>
          <p:cNvSpPr/>
          <p:nvPr/>
        </p:nvSpPr>
        <p:spPr>
          <a:xfrm>
            <a:off x="4709160" y="1947672"/>
            <a:ext cx="2112264" cy="289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前区</a:t>
            </a:r>
            <a:endParaRPr lang="en-US" sz="1400" dirty="0"/>
          </a:p>
        </p:txBody>
      </p:sp>
      <p:sp>
        <p:nvSpPr>
          <p:cNvPr id="63" name="Text 17"/>
          <p:cNvSpPr/>
          <p:nvPr/>
        </p:nvSpPr>
        <p:spPr>
          <a:xfrm>
            <a:off x="4709160" y="2359152"/>
            <a:ext cx="2112264" cy="427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90–100℃</a:t>
            </a:r>
            <a:endParaRPr lang="en-US" sz="2100" dirty="0"/>
          </a:p>
        </p:txBody>
      </p:sp>
      <p:sp>
        <p:nvSpPr>
          <p:cNvPr id="64" name="Shape 18"/>
          <p:cNvSpPr/>
          <p:nvPr/>
        </p:nvSpPr>
        <p:spPr>
          <a:xfrm>
            <a:off x="7077456" y="1810512"/>
            <a:ext cx="2112264" cy="923544"/>
          </a:xfrm>
          <a:prstGeom prst="roundRect">
            <a:avLst/>
          </a:prstGeom>
          <a:solidFill>
            <a:srgbClr val="FCF6EA"/>
          </a:solidFill>
          <a:ln w="12700">
            <a:solidFill>
              <a:srgbClr val="FCF6EA"/>
            </a:solidFill>
            <a:prstDash val="solid"/>
          </a:ln>
        </p:spPr>
      </p:sp>
      <p:sp>
        <p:nvSpPr>
          <p:cNvPr id="65" name="Text 19"/>
          <p:cNvSpPr/>
          <p:nvPr/>
        </p:nvSpPr>
        <p:spPr>
          <a:xfrm>
            <a:off x="7077456" y="1947672"/>
            <a:ext cx="2112264" cy="289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中区</a:t>
            </a:r>
            <a:endParaRPr lang="en-US" sz="1400" dirty="0"/>
          </a:p>
        </p:txBody>
      </p:sp>
      <p:sp>
        <p:nvSpPr>
          <p:cNvPr id="66" name="Text 20"/>
          <p:cNvSpPr/>
          <p:nvPr/>
        </p:nvSpPr>
        <p:spPr>
          <a:xfrm>
            <a:off x="7077456" y="2359152"/>
            <a:ext cx="2112264" cy="427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100–140℃</a:t>
            </a:r>
            <a:endParaRPr lang="en-US" sz="2100" dirty="0"/>
          </a:p>
        </p:txBody>
      </p:sp>
      <p:sp>
        <p:nvSpPr>
          <p:cNvPr id="67" name="Shape 21"/>
          <p:cNvSpPr/>
          <p:nvPr/>
        </p:nvSpPr>
        <p:spPr>
          <a:xfrm>
            <a:off x="9445752" y="1810512"/>
            <a:ext cx="2112264" cy="92354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68" name="Text 22"/>
          <p:cNvSpPr/>
          <p:nvPr/>
        </p:nvSpPr>
        <p:spPr>
          <a:xfrm>
            <a:off x="9445752" y="1947672"/>
            <a:ext cx="2112264" cy="289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后区</a:t>
            </a:r>
            <a:endParaRPr lang="en-US" sz="1400" dirty="0"/>
          </a:p>
        </p:txBody>
      </p:sp>
      <p:sp>
        <p:nvSpPr>
          <p:cNvPr id="69" name="Text 23"/>
          <p:cNvSpPr/>
          <p:nvPr/>
        </p:nvSpPr>
        <p:spPr>
          <a:xfrm>
            <a:off x="9445752" y="2359152"/>
            <a:ext cx="2112264" cy="427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90–100℃</a:t>
            </a:r>
            <a:endParaRPr lang="en-US" sz="2100" dirty="0"/>
          </a:p>
        </p:txBody>
      </p:sp>
      <p:sp>
        <p:nvSpPr>
          <p:cNvPr id="70" name="Text 24"/>
          <p:cNvSpPr/>
          <p:nvPr/>
        </p:nvSpPr>
        <p:spPr>
          <a:xfrm>
            <a:off x="4709160" y="2880360"/>
            <a:ext cx="6967728" cy="26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4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原稿参考时间：2.5–5 分钟；不是通用 HACCP 限值。</a:t>
            </a:r>
            <a:endParaRPr lang="en-US" sz="1300" dirty="0"/>
          </a:p>
        </p:txBody>
      </p:sp>
      <p:sp>
        <p:nvSpPr>
          <p:cNvPr id="71" name="Shape 25"/>
          <p:cNvSpPr/>
          <p:nvPr/>
        </p:nvSpPr>
        <p:spPr>
          <a:xfrm>
            <a:off x="4709160" y="3465576"/>
            <a:ext cx="1549908" cy="676656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72" name="Text 26"/>
          <p:cNvSpPr/>
          <p:nvPr/>
        </p:nvSpPr>
        <p:spPr>
          <a:xfrm>
            <a:off x="4764024" y="3575304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设备设定</a:t>
            </a:r>
            <a:endParaRPr lang="en-US" sz="1600" dirty="0"/>
          </a:p>
        </p:txBody>
      </p:sp>
      <p:sp>
        <p:nvSpPr>
          <p:cNvPr id="73" name="Shape 27"/>
          <p:cNvSpPr/>
          <p:nvPr/>
        </p:nvSpPr>
        <p:spPr>
          <a:xfrm>
            <a:off x="6295644" y="3730752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4" name="Shape 28"/>
          <p:cNvSpPr/>
          <p:nvPr/>
        </p:nvSpPr>
        <p:spPr>
          <a:xfrm>
            <a:off x="6515100" y="3465576"/>
            <a:ext cx="1549908" cy="676656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75" name="Text 29"/>
          <p:cNvSpPr/>
          <p:nvPr/>
        </p:nvSpPr>
        <p:spPr>
          <a:xfrm>
            <a:off x="6569964" y="3575304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空气测点</a:t>
            </a:r>
            <a:endParaRPr lang="en-US" sz="1600" dirty="0"/>
          </a:p>
        </p:txBody>
      </p:sp>
      <p:sp>
        <p:nvSpPr>
          <p:cNvPr id="76" name="Shape 30"/>
          <p:cNvSpPr/>
          <p:nvPr/>
        </p:nvSpPr>
        <p:spPr>
          <a:xfrm>
            <a:off x="8101584" y="3730752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7" name="Shape 31"/>
          <p:cNvSpPr/>
          <p:nvPr/>
        </p:nvSpPr>
        <p:spPr>
          <a:xfrm>
            <a:off x="8321040" y="3465576"/>
            <a:ext cx="1549908" cy="676656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78" name="Text 32"/>
          <p:cNvSpPr/>
          <p:nvPr/>
        </p:nvSpPr>
        <p:spPr>
          <a:xfrm>
            <a:off x="8375904" y="3575304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产品表面</a:t>
            </a:r>
            <a:endParaRPr lang="en-US" sz="1600" dirty="0"/>
          </a:p>
        </p:txBody>
      </p:sp>
      <p:sp>
        <p:nvSpPr>
          <p:cNvPr id="79" name="Shape 33"/>
          <p:cNvSpPr/>
          <p:nvPr/>
        </p:nvSpPr>
        <p:spPr>
          <a:xfrm>
            <a:off x="9907524" y="3730752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80" name="Shape 34"/>
          <p:cNvSpPr/>
          <p:nvPr/>
        </p:nvSpPr>
        <p:spPr>
          <a:xfrm>
            <a:off x="10126980" y="3465576"/>
            <a:ext cx="1549908" cy="676656"/>
          </a:xfrm>
          <a:prstGeom prst="roundRect">
            <a:avLst/>
          </a:prstGeom>
          <a:solidFill>
            <a:srgbClr val="235C29"/>
          </a:solidFill>
          <a:ln w="12700">
            <a:solidFill>
              <a:srgbClr val="235C29"/>
            </a:solidFill>
            <a:prstDash val="solid"/>
          </a:ln>
        </p:spPr>
      </p:sp>
      <p:sp>
        <p:nvSpPr>
          <p:cNvPr id="81" name="Text 35"/>
          <p:cNvSpPr/>
          <p:nvPr/>
        </p:nvSpPr>
        <p:spPr>
          <a:xfrm>
            <a:off x="10181844" y="3575304"/>
            <a:ext cx="1440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产品冷点</a:t>
            </a:r>
            <a:endParaRPr lang="en-US" sz="1600" dirty="0"/>
          </a:p>
        </p:txBody>
      </p:sp>
      <p:sp>
        <p:nvSpPr>
          <p:cNvPr id="82" name="Text 36"/>
          <p:cNvSpPr/>
          <p:nvPr/>
        </p:nvSpPr>
        <p:spPr>
          <a:xfrm>
            <a:off x="4700016" y="4489704"/>
            <a:ext cx="7013448" cy="289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热分布：找炉内差异    ｜    热渗透：测产品内部温度—时间</a:t>
            </a:r>
            <a:endParaRPr lang="en-US" sz="1400" dirty="0"/>
          </a:p>
        </p:txBody>
      </p:sp>
      <p:sp>
        <p:nvSpPr>
          <p:cNvPr id="83" name="Text 37"/>
          <p:cNvSpPr/>
          <p:nvPr/>
        </p:nvSpPr>
        <p:spPr>
          <a:xfrm>
            <a:off x="4681728" y="4818888"/>
            <a:ext cx="6995160" cy="23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具体限值应来自企业针对该产品与目标微生物的工艺验证</a:t>
            </a:r>
            <a:endParaRPr lang="en-US" sz="11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0352" y="118872"/>
            <a:ext cx="7132320" cy="643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冷却及回潮均匀</a:t>
            </a:r>
            <a:endParaRPr lang="en-US" sz="3200" dirty="0"/>
          </a:p>
        </p:txBody>
      </p:sp>
      <p:sp>
        <p:nvSpPr>
          <p:cNvPr id="47" name="Text 1"/>
          <p:cNvSpPr/>
          <p:nvPr/>
        </p:nvSpPr>
        <p:spPr>
          <a:xfrm>
            <a:off x="521208" y="120700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为什么关键</a:t>
            </a:r>
            <a:endParaRPr lang="en-US" sz="1800" dirty="0"/>
          </a:p>
        </p:txBody>
      </p:sp>
      <p:sp>
        <p:nvSpPr>
          <p:cNvPr id="48" name="Text 2"/>
          <p:cNvSpPr/>
          <p:nvPr/>
        </p:nvSpPr>
        <p:spPr>
          <a:xfrm>
            <a:off x="576072" y="1645920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烘烤后表干内湿，均湿用于促进水分重新分布。</a:t>
            </a:r>
            <a:endParaRPr lang="en-US" sz="1600" dirty="0"/>
          </a:p>
        </p:txBody>
      </p:sp>
      <p:sp>
        <p:nvSpPr>
          <p:cNvPr id="49" name="Text 3"/>
          <p:cNvSpPr/>
          <p:nvPr/>
        </p:nvSpPr>
        <p:spPr>
          <a:xfrm>
            <a:off x="576072" y="2208276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局部过干、过湿会影响质构与微生物控制。</a:t>
            </a:r>
            <a:endParaRPr lang="en-US" sz="1600" dirty="0"/>
          </a:p>
        </p:txBody>
      </p:sp>
      <p:sp>
        <p:nvSpPr>
          <p:cNvPr id="50" name="Text 4"/>
          <p:cNvSpPr/>
          <p:nvPr/>
        </p:nvSpPr>
        <p:spPr>
          <a:xfrm>
            <a:off x="521208" y="286207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需要警惕的变化</a:t>
            </a:r>
            <a:endParaRPr lang="en-US" sz="1800" dirty="0"/>
          </a:p>
        </p:txBody>
      </p:sp>
      <p:sp>
        <p:nvSpPr>
          <p:cNvPr id="51" name="Text 5"/>
          <p:cNvSpPr/>
          <p:nvPr/>
        </p:nvSpPr>
        <p:spPr>
          <a:xfrm>
            <a:off x="576072" y="3300984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温湿度波动或产品表面低于空气露点，可能凝露返潮。</a:t>
            </a:r>
            <a:endParaRPr lang="en-US" sz="1600" dirty="0"/>
          </a:p>
        </p:txBody>
      </p:sp>
      <p:sp>
        <p:nvSpPr>
          <p:cNvPr id="52" name="Text 6"/>
          <p:cNvSpPr/>
          <p:nvPr/>
        </p:nvSpPr>
        <p:spPr>
          <a:xfrm>
            <a:off x="576072" y="3863340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角落湿气重、表面发粘，应排查局部湿点。</a:t>
            </a:r>
            <a:endParaRPr lang="en-US" sz="1600" dirty="0"/>
          </a:p>
        </p:txBody>
      </p:sp>
      <p:sp>
        <p:nvSpPr>
          <p:cNvPr id="53" name="Text 7"/>
          <p:cNvSpPr/>
          <p:nvPr/>
        </p:nvSpPr>
        <p:spPr>
          <a:xfrm>
            <a:off x="521208" y="451713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验证与控制</a:t>
            </a:r>
            <a:endParaRPr lang="en-US" sz="1800" dirty="0"/>
          </a:p>
        </p:txBody>
      </p:sp>
      <p:sp>
        <p:nvSpPr>
          <p:cNvPr id="54" name="Text 8"/>
          <p:cNvSpPr/>
          <p:nvPr/>
        </p:nvSpPr>
        <p:spPr>
          <a:xfrm>
            <a:off x="576072" y="4956048"/>
            <a:ext cx="3813048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温湿度稳定，时限按验证方案执行。</a:t>
            </a:r>
            <a:endParaRPr lang="en-US" sz="1600" dirty="0"/>
          </a:p>
        </p:txBody>
      </p:sp>
      <p:sp>
        <p:nvSpPr>
          <p:cNvPr id="55" name="Text 9"/>
          <p:cNvSpPr/>
          <p:nvPr/>
        </p:nvSpPr>
        <p:spPr>
          <a:xfrm>
            <a:off x="576072" y="5262372"/>
            <a:ext cx="3813048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原稿提醒：&gt;25℃ 时更需控制时限。</a:t>
            </a:r>
            <a:endParaRPr lang="en-US" sz="1600" dirty="0"/>
          </a:p>
        </p:txBody>
      </p:sp>
      <p:sp>
        <p:nvSpPr>
          <p:cNvPr id="56" name="Text 10"/>
          <p:cNvSpPr/>
          <p:nvPr/>
        </p:nvSpPr>
        <p:spPr>
          <a:xfrm>
            <a:off x="576072" y="5568696"/>
            <a:ext cx="3813048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多位置测水分与 Aw，验证均匀性。</a:t>
            </a:r>
            <a:endParaRPr lang="en-US" sz="1600" dirty="0"/>
          </a:p>
        </p:txBody>
      </p:sp>
      <p:sp>
        <p:nvSpPr>
          <p:cNvPr id="57" name="Shape 11"/>
          <p:cNvSpPr/>
          <p:nvPr/>
        </p:nvSpPr>
        <p:spPr>
          <a:xfrm>
            <a:off x="4663440" y="5266944"/>
            <a:ext cx="7059168" cy="103327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58" name="Text 12"/>
          <p:cNvSpPr/>
          <p:nvPr/>
        </p:nvSpPr>
        <p:spPr>
          <a:xfrm>
            <a:off x="4882896" y="5431536"/>
            <a:ext cx="6601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均湿的目标是减少分布差异，而非让表面返潮；温湿度、停留时间与多点 Aw 一起监控。</a:t>
            </a:r>
            <a:endParaRPr lang="en-US" sz="1600" dirty="0"/>
          </a:p>
        </p:txBody>
      </p:sp>
      <p:sp>
        <p:nvSpPr>
          <p:cNvPr id="59" name="Text 13"/>
          <p:cNvSpPr/>
          <p:nvPr/>
        </p:nvSpPr>
        <p:spPr>
          <a:xfrm>
            <a:off x="11109960" y="6483096"/>
            <a:ext cx="594360" cy="19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60" name="Text 14"/>
          <p:cNvSpPr/>
          <p:nvPr/>
        </p:nvSpPr>
        <p:spPr>
          <a:xfrm>
            <a:off x="4672584" y="1271016"/>
            <a:ext cx="7031736" cy="387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期望的是均湿，风险是局部返潮与凝露</a:t>
            </a:r>
            <a:endParaRPr lang="en-US" sz="1900" dirty="0"/>
          </a:p>
        </p:txBody>
      </p:sp>
      <p:sp>
        <p:nvSpPr>
          <p:cNvPr id="61" name="Text 15"/>
          <p:cNvSpPr/>
          <p:nvPr/>
        </p:nvSpPr>
        <p:spPr>
          <a:xfrm>
            <a:off x="4828032" y="1837944"/>
            <a:ext cx="3182112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表干内湿</a:t>
            </a:r>
            <a:endParaRPr lang="en-US" sz="1800" dirty="0"/>
          </a:p>
        </p:txBody>
      </p:sp>
      <p:sp>
        <p:nvSpPr>
          <p:cNvPr id="62" name="Text 16"/>
          <p:cNvSpPr/>
          <p:nvPr/>
        </p:nvSpPr>
        <p:spPr>
          <a:xfrm>
            <a:off x="8357616" y="1837944"/>
            <a:ext cx="3182112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受控均湿</a:t>
            </a:r>
            <a:endParaRPr lang="en-US" sz="1800" dirty="0"/>
          </a:p>
        </p:txBody>
      </p:sp>
      <p:sp>
        <p:nvSpPr>
          <p:cNvPr id="63" name="Shape 17"/>
          <p:cNvSpPr/>
          <p:nvPr/>
        </p:nvSpPr>
        <p:spPr>
          <a:xfrm>
            <a:off x="4965192" y="2350008"/>
            <a:ext cx="2907792" cy="97840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4" name="Shape 18"/>
          <p:cNvSpPr/>
          <p:nvPr/>
        </p:nvSpPr>
        <p:spPr>
          <a:xfrm>
            <a:off x="8494776" y="2350008"/>
            <a:ext cx="2907792" cy="97840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5" name="Shape 19"/>
          <p:cNvSpPr/>
          <p:nvPr/>
        </p:nvSpPr>
        <p:spPr>
          <a:xfrm>
            <a:off x="5815584" y="2523744"/>
            <a:ext cx="1207008" cy="585216"/>
          </a:xfrm>
          <a:prstGeom prst="roundRect">
            <a:avLst/>
          </a:prstGeom>
          <a:solidFill>
            <a:srgbClr val="91B781"/>
          </a:solidFill>
          <a:ln w="12700">
            <a:solidFill>
              <a:srgbClr val="91B781"/>
            </a:solidFill>
            <a:prstDash val="solid"/>
          </a:ln>
        </p:spPr>
      </p:sp>
      <p:sp>
        <p:nvSpPr>
          <p:cNvPr id="66" name="Shape 20"/>
          <p:cNvSpPr/>
          <p:nvPr/>
        </p:nvSpPr>
        <p:spPr>
          <a:xfrm>
            <a:off x="8769096" y="2743200"/>
            <a:ext cx="137160" cy="137160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7" name="Shape 21"/>
          <p:cNvSpPr/>
          <p:nvPr/>
        </p:nvSpPr>
        <p:spPr>
          <a:xfrm>
            <a:off x="9180576" y="2743200"/>
            <a:ext cx="137160" cy="137160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8" name="Shape 22"/>
          <p:cNvSpPr/>
          <p:nvPr/>
        </p:nvSpPr>
        <p:spPr>
          <a:xfrm>
            <a:off x="9592056" y="2743200"/>
            <a:ext cx="137160" cy="137160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9" name="Shape 23"/>
          <p:cNvSpPr/>
          <p:nvPr/>
        </p:nvSpPr>
        <p:spPr>
          <a:xfrm>
            <a:off x="10003536" y="2743200"/>
            <a:ext cx="137160" cy="137160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0" name="Shape 24"/>
          <p:cNvSpPr/>
          <p:nvPr/>
        </p:nvSpPr>
        <p:spPr>
          <a:xfrm>
            <a:off x="10415016" y="2743200"/>
            <a:ext cx="137160" cy="137160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1" name="Shape 25"/>
          <p:cNvSpPr/>
          <p:nvPr/>
        </p:nvSpPr>
        <p:spPr>
          <a:xfrm>
            <a:off x="10826496" y="2743200"/>
            <a:ext cx="137160" cy="137160"/>
          </a:xfrm>
          <a:prstGeom prst="ellipse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2" name="Shape 26"/>
          <p:cNvSpPr/>
          <p:nvPr/>
        </p:nvSpPr>
        <p:spPr>
          <a:xfrm>
            <a:off x="8037576" y="2743200"/>
            <a:ext cx="246888" cy="210312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3" name="Shape 27"/>
          <p:cNvSpPr/>
          <p:nvPr/>
        </p:nvSpPr>
        <p:spPr>
          <a:xfrm>
            <a:off x="4928616" y="3685032"/>
            <a:ext cx="2916936" cy="694944"/>
          </a:xfrm>
          <a:prstGeom prst="roundRect">
            <a:avLst/>
          </a:prstGeom>
          <a:solidFill>
            <a:srgbClr val="FCF6EA"/>
          </a:solidFill>
          <a:ln w="12700">
            <a:solidFill>
              <a:srgbClr val="FCF6EA"/>
            </a:solidFill>
            <a:prstDash val="solid"/>
          </a:ln>
        </p:spPr>
      </p:sp>
      <p:sp>
        <p:nvSpPr>
          <p:cNvPr id="74" name="Text 28"/>
          <p:cNvSpPr/>
          <p:nvPr/>
        </p:nvSpPr>
        <p:spPr>
          <a:xfrm>
            <a:off x="5065776" y="3822192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温湿度稳定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停留时间受控</a:t>
            </a:r>
            <a:endParaRPr lang="en-US" sz="1400" dirty="0"/>
          </a:p>
        </p:txBody>
      </p:sp>
      <p:sp>
        <p:nvSpPr>
          <p:cNvPr id="75" name="Shape 29"/>
          <p:cNvSpPr/>
          <p:nvPr/>
        </p:nvSpPr>
        <p:spPr>
          <a:xfrm>
            <a:off x="8311896" y="3685032"/>
            <a:ext cx="3200400" cy="694944"/>
          </a:xfrm>
          <a:prstGeom prst="roundRect">
            <a:avLst/>
          </a:prstGeom>
          <a:solidFill>
            <a:srgbClr val="FBEEEE"/>
          </a:solidFill>
          <a:ln w="12700">
            <a:solidFill>
              <a:srgbClr val="FBEEEE"/>
            </a:solidFill>
            <a:prstDash val="solid"/>
          </a:ln>
        </p:spPr>
      </p:sp>
      <p:sp>
        <p:nvSpPr>
          <p:cNvPr id="76" name="Text 30"/>
          <p:cNvSpPr/>
          <p:nvPr/>
        </p:nvSpPr>
        <p:spPr>
          <a:xfrm>
            <a:off x="8430768" y="3803904"/>
            <a:ext cx="2962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4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波动 / 冷表面 / 局部湿气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44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排查凝露与湿点</a:t>
            </a:r>
            <a:endParaRPr lang="en-US" sz="1400" dirty="0"/>
          </a:p>
        </p:txBody>
      </p:sp>
      <p:sp>
        <p:nvSpPr>
          <p:cNvPr id="77" name="Text 31"/>
          <p:cNvSpPr/>
          <p:nvPr/>
        </p:nvSpPr>
        <p:spPr>
          <a:xfrm>
            <a:off x="4681728" y="4818888"/>
            <a:ext cx="6995160" cy="23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水分分布为概念示意；按位置检测水分与 Aw 验证均湿效果</a:t>
            </a:r>
            <a:endParaRPr lang="en-US" sz="110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0352" y="118872"/>
            <a:ext cx="7132320" cy="643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接面、周转、包装前暂存</a:t>
            </a:r>
            <a:endParaRPr lang="en-US" sz="3200" dirty="0"/>
          </a:p>
        </p:txBody>
      </p:sp>
      <p:sp>
        <p:nvSpPr>
          <p:cNvPr id="47" name="Text 1"/>
          <p:cNvSpPr/>
          <p:nvPr/>
        </p:nvSpPr>
        <p:spPr>
          <a:xfrm>
            <a:off x="521208" y="120700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风险：再污染与吸湿</a:t>
            </a:r>
            <a:endParaRPr lang="en-US" sz="1800" dirty="0"/>
          </a:p>
        </p:txBody>
      </p:sp>
      <p:sp>
        <p:nvSpPr>
          <p:cNvPr id="48" name="Text 2"/>
          <p:cNvSpPr/>
          <p:nvPr/>
        </p:nvSpPr>
        <p:spPr>
          <a:xfrm>
            <a:off x="576072" y="1645920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空气、工器具与手部接触都可能带来再污染。</a:t>
            </a:r>
            <a:endParaRPr lang="en-US" sz="1600" dirty="0"/>
          </a:p>
        </p:txBody>
      </p:sp>
      <p:sp>
        <p:nvSpPr>
          <p:cNvPr id="49" name="Text 3"/>
          <p:cNvSpPr/>
          <p:nvPr/>
        </p:nvSpPr>
        <p:spPr>
          <a:xfrm>
            <a:off x="576072" y="2208276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潮湿、高温环境及暴露时间会增加局部吸湿风险。</a:t>
            </a:r>
            <a:endParaRPr lang="en-US" sz="1600" dirty="0"/>
          </a:p>
        </p:txBody>
      </p:sp>
      <p:sp>
        <p:nvSpPr>
          <p:cNvPr id="50" name="Text 4"/>
          <p:cNvSpPr/>
          <p:nvPr/>
        </p:nvSpPr>
        <p:spPr>
          <a:xfrm>
            <a:off x="521208" y="286207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一线理解</a:t>
            </a:r>
            <a:endParaRPr lang="en-US" sz="1800" dirty="0"/>
          </a:p>
        </p:txBody>
      </p:sp>
      <p:sp>
        <p:nvSpPr>
          <p:cNvPr id="51" name="Text 5"/>
          <p:cNvSpPr/>
          <p:nvPr/>
        </p:nvSpPr>
        <p:spPr>
          <a:xfrm>
            <a:off x="576072" y="3300984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做好后的面条并非无菌；接面、装筐和等候都是暴露环节。</a:t>
            </a:r>
            <a:endParaRPr lang="en-US" sz="1600" dirty="0"/>
          </a:p>
        </p:txBody>
      </p:sp>
      <p:sp>
        <p:nvSpPr>
          <p:cNvPr id="52" name="Text 6"/>
          <p:cNvSpPr/>
          <p:nvPr/>
        </p:nvSpPr>
        <p:spPr>
          <a:xfrm>
            <a:off x="576072" y="3863340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暂存越久，环境与接触面的影响越需要关注。</a:t>
            </a:r>
            <a:endParaRPr lang="en-US" sz="1600" dirty="0"/>
          </a:p>
        </p:txBody>
      </p:sp>
      <p:sp>
        <p:nvSpPr>
          <p:cNvPr id="53" name="Text 7"/>
          <p:cNvSpPr/>
          <p:nvPr/>
        </p:nvSpPr>
        <p:spPr>
          <a:xfrm>
            <a:off x="521208" y="4517136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验证与控制</a:t>
            </a:r>
            <a:endParaRPr lang="en-US" sz="1800" dirty="0"/>
          </a:p>
        </p:txBody>
      </p:sp>
      <p:sp>
        <p:nvSpPr>
          <p:cNvPr id="54" name="Text 8"/>
          <p:cNvSpPr/>
          <p:nvPr/>
        </p:nvSpPr>
        <p:spPr>
          <a:xfrm>
            <a:off x="576072" y="4956048"/>
            <a:ext cx="3813048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缩短暂存时间，夏季尤其关注。</a:t>
            </a:r>
            <a:endParaRPr lang="en-US" sz="1600" dirty="0"/>
          </a:p>
        </p:txBody>
      </p:sp>
      <p:sp>
        <p:nvSpPr>
          <p:cNvPr id="55" name="Text 9"/>
          <p:cNvSpPr/>
          <p:nvPr/>
        </p:nvSpPr>
        <p:spPr>
          <a:xfrm>
            <a:off x="576072" y="5262372"/>
            <a:ext cx="3813048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工器具清洗消毒，避免徒手直接接触。</a:t>
            </a:r>
            <a:endParaRPr lang="en-US" sz="1600" dirty="0"/>
          </a:p>
        </p:txBody>
      </p:sp>
      <p:sp>
        <p:nvSpPr>
          <p:cNvPr id="56" name="Text 10"/>
          <p:cNvSpPr/>
          <p:nvPr/>
        </p:nvSpPr>
        <p:spPr>
          <a:xfrm>
            <a:off x="576072" y="5568696"/>
            <a:ext cx="3813048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原稿建议 &lt;25℃；实际时温按验证窗口。</a:t>
            </a:r>
            <a:endParaRPr lang="en-US" sz="1600" dirty="0"/>
          </a:p>
        </p:txBody>
      </p:sp>
      <p:sp>
        <p:nvSpPr>
          <p:cNvPr id="57" name="Shape 11"/>
          <p:cNvSpPr/>
          <p:nvPr/>
        </p:nvSpPr>
        <p:spPr>
          <a:xfrm>
            <a:off x="4663440" y="5266944"/>
            <a:ext cx="7059168" cy="103327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58" name="Text 12"/>
          <p:cNvSpPr/>
          <p:nvPr/>
        </p:nvSpPr>
        <p:spPr>
          <a:xfrm>
            <a:off x="4882896" y="5431536"/>
            <a:ext cx="6601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缩短暴露＋控制接触面卫生＋稳定温湿度，减少包装前的再污染和局部吸湿。</a:t>
            </a:r>
            <a:endParaRPr lang="en-US" sz="1600" dirty="0"/>
          </a:p>
        </p:txBody>
      </p:sp>
      <p:sp>
        <p:nvSpPr>
          <p:cNvPr id="59" name="Text 13"/>
          <p:cNvSpPr/>
          <p:nvPr/>
        </p:nvSpPr>
        <p:spPr>
          <a:xfrm>
            <a:off x="11109960" y="6483096"/>
            <a:ext cx="594360" cy="19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60" name="Text 14"/>
          <p:cNvSpPr/>
          <p:nvPr/>
        </p:nvSpPr>
        <p:spPr>
          <a:xfrm>
            <a:off x="4672584" y="1271016"/>
            <a:ext cx="7031736" cy="387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包装前：减少暴露与接触带来的风险</a:t>
            </a:r>
            <a:endParaRPr lang="en-US" sz="1900" dirty="0"/>
          </a:p>
        </p:txBody>
      </p:sp>
      <p:sp>
        <p:nvSpPr>
          <p:cNvPr id="61" name="Shape 15"/>
          <p:cNvSpPr/>
          <p:nvPr/>
        </p:nvSpPr>
        <p:spPr>
          <a:xfrm>
            <a:off x="4690872" y="1801368"/>
            <a:ext cx="1561338" cy="64922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62" name="Text 16"/>
          <p:cNvSpPr/>
          <p:nvPr/>
        </p:nvSpPr>
        <p:spPr>
          <a:xfrm>
            <a:off x="4745736" y="1911096"/>
            <a:ext cx="145161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接面</a:t>
            </a:r>
            <a:endParaRPr lang="en-US" sz="1600" dirty="0"/>
          </a:p>
        </p:txBody>
      </p:sp>
      <p:sp>
        <p:nvSpPr>
          <p:cNvPr id="63" name="Shape 17"/>
          <p:cNvSpPr/>
          <p:nvPr/>
        </p:nvSpPr>
        <p:spPr>
          <a:xfrm>
            <a:off x="6288786" y="2052828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4" name="Shape 18"/>
          <p:cNvSpPr/>
          <p:nvPr/>
        </p:nvSpPr>
        <p:spPr>
          <a:xfrm>
            <a:off x="6508242" y="1801368"/>
            <a:ext cx="1561338" cy="64922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65" name="Text 19"/>
          <p:cNvSpPr/>
          <p:nvPr/>
        </p:nvSpPr>
        <p:spPr>
          <a:xfrm>
            <a:off x="6563106" y="1911096"/>
            <a:ext cx="145161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装筐</a:t>
            </a:r>
            <a:endParaRPr lang="en-US" sz="1600" dirty="0"/>
          </a:p>
        </p:txBody>
      </p:sp>
      <p:sp>
        <p:nvSpPr>
          <p:cNvPr id="66" name="Shape 20"/>
          <p:cNvSpPr/>
          <p:nvPr/>
        </p:nvSpPr>
        <p:spPr>
          <a:xfrm>
            <a:off x="8106156" y="2052828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7" name="Shape 21"/>
          <p:cNvSpPr/>
          <p:nvPr/>
        </p:nvSpPr>
        <p:spPr>
          <a:xfrm>
            <a:off x="8325612" y="1801368"/>
            <a:ext cx="1561338" cy="64922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68" name="Text 22"/>
          <p:cNvSpPr/>
          <p:nvPr/>
        </p:nvSpPr>
        <p:spPr>
          <a:xfrm>
            <a:off x="8380476" y="1911096"/>
            <a:ext cx="145161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暂存</a:t>
            </a:r>
            <a:endParaRPr lang="en-US" sz="1600" dirty="0"/>
          </a:p>
        </p:txBody>
      </p:sp>
      <p:sp>
        <p:nvSpPr>
          <p:cNvPr id="69" name="Shape 23"/>
          <p:cNvSpPr/>
          <p:nvPr/>
        </p:nvSpPr>
        <p:spPr>
          <a:xfrm>
            <a:off x="9923526" y="2052828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0" name="Shape 24"/>
          <p:cNvSpPr/>
          <p:nvPr/>
        </p:nvSpPr>
        <p:spPr>
          <a:xfrm>
            <a:off x="10142982" y="1801368"/>
            <a:ext cx="1561338" cy="649224"/>
          </a:xfrm>
          <a:prstGeom prst="roundRect">
            <a:avLst/>
          </a:prstGeom>
          <a:solidFill>
            <a:srgbClr val="235C29"/>
          </a:solidFill>
          <a:ln w="12700">
            <a:solidFill>
              <a:srgbClr val="235C29"/>
            </a:solidFill>
            <a:prstDash val="solid"/>
          </a:ln>
        </p:spPr>
      </p:sp>
      <p:sp>
        <p:nvSpPr>
          <p:cNvPr id="71" name="Text 25"/>
          <p:cNvSpPr/>
          <p:nvPr/>
        </p:nvSpPr>
        <p:spPr>
          <a:xfrm>
            <a:off x="10197846" y="1911096"/>
            <a:ext cx="145161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包装</a:t>
            </a:r>
            <a:endParaRPr lang="en-US" sz="1600" dirty="0"/>
          </a:p>
        </p:txBody>
      </p:sp>
      <p:sp>
        <p:nvSpPr>
          <p:cNvPr id="72" name="Shape 26"/>
          <p:cNvSpPr/>
          <p:nvPr/>
        </p:nvSpPr>
        <p:spPr>
          <a:xfrm>
            <a:off x="4727448" y="2880360"/>
            <a:ext cx="2103120" cy="151790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73" name="Text 27"/>
          <p:cNvSpPr/>
          <p:nvPr/>
        </p:nvSpPr>
        <p:spPr>
          <a:xfrm>
            <a:off x="4855464" y="3008376"/>
            <a:ext cx="1847088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空气</a:t>
            </a:r>
            <a:endParaRPr lang="en-US" sz="1800" dirty="0"/>
          </a:p>
        </p:txBody>
      </p:sp>
      <p:sp>
        <p:nvSpPr>
          <p:cNvPr id="74" name="Text 28"/>
          <p:cNvSpPr/>
          <p:nvPr/>
        </p:nvSpPr>
        <p:spPr>
          <a:xfrm>
            <a:off x="4855464" y="3566160"/>
            <a:ext cx="18470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环境落菌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暴露时间</a:t>
            </a:r>
            <a:endParaRPr lang="en-US" sz="1600" dirty="0"/>
          </a:p>
        </p:txBody>
      </p:sp>
      <p:sp>
        <p:nvSpPr>
          <p:cNvPr id="75" name="Shape 29"/>
          <p:cNvSpPr/>
          <p:nvPr/>
        </p:nvSpPr>
        <p:spPr>
          <a:xfrm>
            <a:off x="7104888" y="2880360"/>
            <a:ext cx="2103120" cy="151790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76" name="Text 30"/>
          <p:cNvSpPr/>
          <p:nvPr/>
        </p:nvSpPr>
        <p:spPr>
          <a:xfrm>
            <a:off x="7232904" y="3008376"/>
            <a:ext cx="1847088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接触面</a:t>
            </a:r>
            <a:endParaRPr lang="en-US" sz="1800" dirty="0"/>
          </a:p>
        </p:txBody>
      </p:sp>
      <p:sp>
        <p:nvSpPr>
          <p:cNvPr id="77" name="Text 31"/>
          <p:cNvSpPr/>
          <p:nvPr/>
        </p:nvSpPr>
        <p:spPr>
          <a:xfrm>
            <a:off x="7232904" y="3566160"/>
            <a:ext cx="18470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工器具 / 手部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交叉污染</a:t>
            </a:r>
            <a:endParaRPr lang="en-US" sz="1600" dirty="0"/>
          </a:p>
        </p:txBody>
      </p:sp>
      <p:sp>
        <p:nvSpPr>
          <p:cNvPr id="78" name="Shape 32"/>
          <p:cNvSpPr/>
          <p:nvPr/>
        </p:nvSpPr>
        <p:spPr>
          <a:xfrm>
            <a:off x="9482328" y="2880360"/>
            <a:ext cx="2103120" cy="1517904"/>
          </a:xfrm>
          <a:prstGeom prst="roundRect">
            <a:avLst/>
          </a:prstGeom>
          <a:solidFill>
            <a:srgbClr val="FCF6EA"/>
          </a:solidFill>
          <a:ln w="12700">
            <a:solidFill>
              <a:srgbClr val="FCF6EA"/>
            </a:solidFill>
            <a:prstDash val="solid"/>
          </a:ln>
        </p:spPr>
      </p:sp>
      <p:sp>
        <p:nvSpPr>
          <p:cNvPr id="79" name="Text 33"/>
          <p:cNvSpPr/>
          <p:nvPr/>
        </p:nvSpPr>
        <p:spPr>
          <a:xfrm>
            <a:off x="9610344" y="3008376"/>
            <a:ext cx="1847088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温湿度</a:t>
            </a:r>
            <a:endParaRPr lang="en-US" sz="1800" dirty="0"/>
          </a:p>
        </p:txBody>
      </p:sp>
      <p:sp>
        <p:nvSpPr>
          <p:cNvPr id="80" name="Text 34"/>
          <p:cNvSpPr/>
          <p:nvPr/>
        </p:nvSpPr>
        <p:spPr>
          <a:xfrm>
            <a:off x="9610344" y="3566160"/>
            <a:ext cx="18470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表面吸湿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 Aw 变化</a:t>
            </a:r>
            <a:endParaRPr lang="en-US" sz="1600" dirty="0"/>
          </a:p>
        </p:txBody>
      </p:sp>
      <p:sp>
        <p:nvSpPr>
          <p:cNvPr id="81" name="Text 35"/>
          <p:cNvSpPr/>
          <p:nvPr/>
        </p:nvSpPr>
        <p:spPr>
          <a:xfrm>
            <a:off x="4681728" y="4818888"/>
            <a:ext cx="6995160" cy="23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缩短暂存、清洗消毒工器具、规范人员接触、控制环境条件</a:t>
            </a:r>
            <a:endParaRPr lang="en-US" sz="1100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0352" y="118872"/>
            <a:ext cx="7132320" cy="643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包装材料及仓储</a:t>
            </a:r>
            <a:endParaRPr lang="en-US" sz="3200" dirty="0"/>
          </a:p>
        </p:txBody>
      </p:sp>
      <p:sp>
        <p:nvSpPr>
          <p:cNvPr id="47" name="Text 1"/>
          <p:cNvSpPr/>
          <p:nvPr/>
        </p:nvSpPr>
        <p:spPr>
          <a:xfrm>
            <a:off x="521208" y="120700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包装不是封上就保险</a:t>
            </a:r>
            <a:endParaRPr lang="en-US" sz="1800" dirty="0"/>
          </a:p>
        </p:txBody>
      </p:sp>
      <p:sp>
        <p:nvSpPr>
          <p:cNvPr id="48" name="Text 2"/>
          <p:cNvSpPr/>
          <p:nvPr/>
        </p:nvSpPr>
        <p:spPr>
          <a:xfrm>
            <a:off x="576072" y="1645920"/>
            <a:ext cx="3813048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封口不严，湿气与空气可能进入。</a:t>
            </a:r>
            <a:endParaRPr lang="en-US" sz="1600" dirty="0"/>
          </a:p>
        </p:txBody>
      </p:sp>
      <p:sp>
        <p:nvSpPr>
          <p:cNvPr id="49" name="Text 3"/>
          <p:cNvSpPr/>
          <p:nvPr/>
        </p:nvSpPr>
        <p:spPr>
          <a:xfrm>
            <a:off x="576072" y="1952244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不同包材阻湿性能不同，不能只看外观或厚度。</a:t>
            </a:r>
            <a:endParaRPr lang="en-US" sz="1600" dirty="0"/>
          </a:p>
        </p:txBody>
      </p:sp>
      <p:sp>
        <p:nvSpPr>
          <p:cNvPr id="50" name="Text 4"/>
          <p:cNvSpPr/>
          <p:nvPr/>
        </p:nvSpPr>
        <p:spPr>
          <a:xfrm>
            <a:off x="521208" y="2606040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产品温度与仓储</a:t>
            </a:r>
            <a:endParaRPr lang="en-US" sz="1800" dirty="0"/>
          </a:p>
        </p:txBody>
      </p:sp>
      <p:sp>
        <p:nvSpPr>
          <p:cNvPr id="51" name="Text 5"/>
          <p:cNvSpPr/>
          <p:nvPr/>
        </p:nvSpPr>
        <p:spPr>
          <a:xfrm>
            <a:off x="576072" y="3044952"/>
            <a:ext cx="3813048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产品过热即包装，袋内可能凝露。</a:t>
            </a:r>
            <a:endParaRPr lang="en-US" sz="1600" dirty="0"/>
          </a:p>
        </p:txBody>
      </p:sp>
      <p:sp>
        <p:nvSpPr>
          <p:cNvPr id="52" name="Text 6"/>
          <p:cNvSpPr/>
          <p:nvPr/>
        </p:nvSpPr>
        <p:spPr>
          <a:xfrm>
            <a:off x="576072" y="3351276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在适宜生长范围内，升温可能加快残存菌生长。</a:t>
            </a:r>
            <a:endParaRPr lang="en-US" sz="1600" dirty="0"/>
          </a:p>
        </p:txBody>
      </p:sp>
      <p:sp>
        <p:nvSpPr>
          <p:cNvPr id="53" name="Text 7"/>
          <p:cNvSpPr/>
          <p:nvPr/>
        </p:nvSpPr>
        <p:spPr>
          <a:xfrm>
            <a:off x="521208" y="4005072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验证与控制</a:t>
            </a:r>
            <a:endParaRPr lang="en-US" sz="1800" dirty="0"/>
          </a:p>
        </p:txBody>
      </p:sp>
      <p:sp>
        <p:nvSpPr>
          <p:cNvPr id="54" name="Text 8"/>
          <p:cNvSpPr/>
          <p:nvPr/>
        </p:nvSpPr>
        <p:spPr>
          <a:xfrm>
            <a:off x="576072" y="4443984"/>
            <a:ext cx="3813048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检查封口质量，做密封性抽检。</a:t>
            </a:r>
            <a:endParaRPr lang="en-US" sz="1600" dirty="0"/>
          </a:p>
        </p:txBody>
      </p:sp>
      <p:sp>
        <p:nvSpPr>
          <p:cNvPr id="55" name="Text 9"/>
          <p:cNvSpPr/>
          <p:nvPr/>
        </p:nvSpPr>
        <p:spPr>
          <a:xfrm>
            <a:off x="576072" y="4750308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包装前产品温度降至接近室温，并防凝露。</a:t>
            </a:r>
            <a:endParaRPr lang="en-US" sz="1600" dirty="0"/>
          </a:p>
        </p:txBody>
      </p:sp>
      <p:sp>
        <p:nvSpPr>
          <p:cNvPr id="56" name="Text 10"/>
          <p:cNvSpPr/>
          <p:nvPr/>
        </p:nvSpPr>
        <p:spPr>
          <a:xfrm>
            <a:off x="576072" y="5312664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仓储阴凉、避暴晒高温；结合包材评价留样变化。</a:t>
            </a:r>
            <a:endParaRPr lang="en-US" sz="1600" dirty="0"/>
          </a:p>
        </p:txBody>
      </p:sp>
      <p:sp>
        <p:nvSpPr>
          <p:cNvPr id="57" name="Shape 11"/>
          <p:cNvSpPr/>
          <p:nvPr/>
        </p:nvSpPr>
        <p:spPr>
          <a:xfrm>
            <a:off x="4663440" y="5266944"/>
            <a:ext cx="7059168" cy="103327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58" name="Text 12"/>
          <p:cNvSpPr/>
          <p:nvPr/>
        </p:nvSpPr>
        <p:spPr>
          <a:xfrm>
            <a:off x="4882896" y="5431536"/>
            <a:ext cx="6601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产品冷却、包材阻湿、封口完整性与仓储温度形成组合控制；包装本身不能替代工艺验证。</a:t>
            </a:r>
            <a:endParaRPr lang="en-US" sz="1600" dirty="0"/>
          </a:p>
        </p:txBody>
      </p:sp>
      <p:sp>
        <p:nvSpPr>
          <p:cNvPr id="59" name="Text 13"/>
          <p:cNvSpPr/>
          <p:nvPr/>
        </p:nvSpPr>
        <p:spPr>
          <a:xfrm>
            <a:off x="11109960" y="6483096"/>
            <a:ext cx="594360" cy="19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60" name="Text 14"/>
          <p:cNvSpPr/>
          <p:nvPr/>
        </p:nvSpPr>
        <p:spPr>
          <a:xfrm>
            <a:off x="4672584" y="1271016"/>
            <a:ext cx="7031736" cy="387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包装与储藏是组合控制，不是最后一道保险</a:t>
            </a:r>
            <a:endParaRPr lang="en-US" sz="1900" dirty="0"/>
          </a:p>
        </p:txBody>
      </p:sp>
      <p:sp>
        <p:nvSpPr>
          <p:cNvPr id="61" name="Shape 15"/>
          <p:cNvSpPr/>
          <p:nvPr/>
        </p:nvSpPr>
        <p:spPr>
          <a:xfrm>
            <a:off x="4690872" y="1801368"/>
            <a:ext cx="1559052" cy="64922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62" name="Text 16"/>
          <p:cNvSpPr/>
          <p:nvPr/>
        </p:nvSpPr>
        <p:spPr>
          <a:xfrm>
            <a:off x="4745736" y="1911096"/>
            <a:ext cx="14493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产品先冷却</a:t>
            </a:r>
            <a:endParaRPr lang="en-US" sz="1600" dirty="0"/>
          </a:p>
        </p:txBody>
      </p:sp>
      <p:sp>
        <p:nvSpPr>
          <p:cNvPr id="63" name="Shape 17"/>
          <p:cNvSpPr/>
          <p:nvPr/>
        </p:nvSpPr>
        <p:spPr>
          <a:xfrm>
            <a:off x="6286500" y="2052828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4" name="Shape 18"/>
          <p:cNvSpPr/>
          <p:nvPr/>
        </p:nvSpPr>
        <p:spPr>
          <a:xfrm>
            <a:off x="6505956" y="1801368"/>
            <a:ext cx="1559052" cy="64922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65" name="Text 19"/>
          <p:cNvSpPr/>
          <p:nvPr/>
        </p:nvSpPr>
        <p:spPr>
          <a:xfrm>
            <a:off x="6560820" y="1911096"/>
            <a:ext cx="14493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确认包材阻湿</a:t>
            </a:r>
            <a:endParaRPr lang="en-US" sz="1600" dirty="0"/>
          </a:p>
        </p:txBody>
      </p:sp>
      <p:sp>
        <p:nvSpPr>
          <p:cNvPr id="66" name="Shape 20"/>
          <p:cNvSpPr/>
          <p:nvPr/>
        </p:nvSpPr>
        <p:spPr>
          <a:xfrm>
            <a:off x="8101584" y="2052828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7" name="Shape 21"/>
          <p:cNvSpPr/>
          <p:nvPr/>
        </p:nvSpPr>
        <p:spPr>
          <a:xfrm>
            <a:off x="8321040" y="1801368"/>
            <a:ext cx="1559052" cy="64922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68" name="Text 22"/>
          <p:cNvSpPr/>
          <p:nvPr/>
        </p:nvSpPr>
        <p:spPr>
          <a:xfrm>
            <a:off x="8375904" y="1911096"/>
            <a:ext cx="14493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密封性抽检</a:t>
            </a:r>
            <a:endParaRPr lang="en-US" sz="1600" dirty="0"/>
          </a:p>
        </p:txBody>
      </p:sp>
      <p:sp>
        <p:nvSpPr>
          <p:cNvPr id="69" name="Shape 23"/>
          <p:cNvSpPr/>
          <p:nvPr/>
        </p:nvSpPr>
        <p:spPr>
          <a:xfrm>
            <a:off x="9916668" y="2052828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0" name="Shape 24"/>
          <p:cNvSpPr/>
          <p:nvPr/>
        </p:nvSpPr>
        <p:spPr>
          <a:xfrm>
            <a:off x="10136124" y="1801368"/>
            <a:ext cx="1559052" cy="649224"/>
          </a:xfrm>
          <a:prstGeom prst="roundRect">
            <a:avLst/>
          </a:prstGeom>
          <a:solidFill>
            <a:srgbClr val="235C29"/>
          </a:solidFill>
          <a:ln w="12700">
            <a:solidFill>
              <a:srgbClr val="235C29"/>
            </a:solidFill>
            <a:prstDash val="solid"/>
          </a:ln>
        </p:spPr>
      </p:sp>
      <p:sp>
        <p:nvSpPr>
          <p:cNvPr id="71" name="Text 25"/>
          <p:cNvSpPr/>
          <p:nvPr/>
        </p:nvSpPr>
        <p:spPr>
          <a:xfrm>
            <a:off x="10190988" y="1911096"/>
            <a:ext cx="14493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阴凉仓储</a:t>
            </a:r>
            <a:endParaRPr lang="en-US" sz="1600" dirty="0"/>
          </a:p>
        </p:txBody>
      </p:sp>
      <p:sp>
        <p:nvSpPr>
          <p:cNvPr id="72" name="Text 26"/>
          <p:cNvSpPr/>
          <p:nvPr/>
        </p:nvSpPr>
        <p:spPr>
          <a:xfrm>
            <a:off x="5138928" y="2798064"/>
            <a:ext cx="2560320" cy="348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受控包装</a:t>
            </a:r>
            <a:endParaRPr lang="en-US" sz="1700" dirty="0"/>
          </a:p>
        </p:txBody>
      </p:sp>
      <p:sp>
        <p:nvSpPr>
          <p:cNvPr id="73" name="Shape 27"/>
          <p:cNvSpPr/>
          <p:nvPr/>
        </p:nvSpPr>
        <p:spPr>
          <a:xfrm>
            <a:off x="5532120" y="3255264"/>
            <a:ext cx="1773936" cy="1143000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4" name="Shape 28"/>
          <p:cNvSpPr/>
          <p:nvPr/>
        </p:nvSpPr>
        <p:spPr>
          <a:xfrm>
            <a:off x="5660136" y="3474720"/>
            <a:ext cx="1517904" cy="0"/>
          </a:xfrm>
          <a:prstGeom prst="line">
            <a:avLst/>
          </a:prstGeom>
          <a:solidFill>
            <a:srgbClr val="FFFFFF"/>
          </a:solidFill>
          <a:ln w="25400">
            <a:solidFill>
              <a:srgbClr val="378534"/>
            </a:solidFill>
            <a:prstDash val="solid"/>
          </a:ln>
        </p:spPr>
      </p:sp>
      <p:sp>
        <p:nvSpPr>
          <p:cNvPr id="75" name="Shape 29"/>
          <p:cNvSpPr/>
          <p:nvPr/>
        </p:nvSpPr>
        <p:spPr>
          <a:xfrm>
            <a:off x="5824728" y="3694176"/>
            <a:ext cx="1207008" cy="0"/>
          </a:xfrm>
          <a:prstGeom prst="line">
            <a:avLst/>
          </a:prstGeom>
          <a:solidFill>
            <a:srgbClr val="FFFFFF"/>
          </a:solidFill>
          <a:ln w="25400">
            <a:solidFill>
              <a:srgbClr val="E7A33B"/>
            </a:solidFill>
            <a:prstDash val="solid"/>
          </a:ln>
        </p:spPr>
      </p:sp>
      <p:sp>
        <p:nvSpPr>
          <p:cNvPr id="76" name="Shape 30"/>
          <p:cNvSpPr/>
          <p:nvPr/>
        </p:nvSpPr>
        <p:spPr>
          <a:xfrm>
            <a:off x="5824728" y="3822192"/>
            <a:ext cx="1207008" cy="0"/>
          </a:xfrm>
          <a:prstGeom prst="line">
            <a:avLst/>
          </a:prstGeom>
          <a:solidFill>
            <a:srgbClr val="FFFFFF"/>
          </a:solidFill>
          <a:ln w="25400">
            <a:solidFill>
              <a:srgbClr val="E7A33B"/>
            </a:solidFill>
            <a:prstDash val="solid"/>
          </a:ln>
        </p:spPr>
      </p:sp>
      <p:sp>
        <p:nvSpPr>
          <p:cNvPr id="77" name="Shape 31"/>
          <p:cNvSpPr/>
          <p:nvPr/>
        </p:nvSpPr>
        <p:spPr>
          <a:xfrm>
            <a:off x="5824728" y="3950208"/>
            <a:ext cx="1207008" cy="0"/>
          </a:xfrm>
          <a:prstGeom prst="line">
            <a:avLst/>
          </a:prstGeom>
          <a:solidFill>
            <a:srgbClr val="FFFFFF"/>
          </a:solidFill>
          <a:ln w="25400">
            <a:solidFill>
              <a:srgbClr val="E7A33B"/>
            </a:solidFill>
            <a:prstDash val="solid"/>
          </a:ln>
        </p:spPr>
      </p:sp>
      <p:sp>
        <p:nvSpPr>
          <p:cNvPr id="78" name="Shape 32"/>
          <p:cNvSpPr/>
          <p:nvPr/>
        </p:nvSpPr>
        <p:spPr>
          <a:xfrm>
            <a:off x="5824728" y="4078224"/>
            <a:ext cx="1207008" cy="0"/>
          </a:xfrm>
          <a:prstGeom prst="line">
            <a:avLst/>
          </a:prstGeom>
          <a:solidFill>
            <a:srgbClr val="FFFFFF"/>
          </a:solidFill>
          <a:ln w="25400">
            <a:solidFill>
              <a:srgbClr val="E7A33B"/>
            </a:solidFill>
            <a:prstDash val="solid"/>
          </a:ln>
        </p:spPr>
      </p:sp>
      <p:sp>
        <p:nvSpPr>
          <p:cNvPr id="79" name="Text 33"/>
          <p:cNvSpPr/>
          <p:nvPr/>
        </p:nvSpPr>
        <p:spPr>
          <a:xfrm>
            <a:off x="5047488" y="4535424"/>
            <a:ext cx="274320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冷却到位＋封口完整</a:t>
            </a:r>
            <a:endParaRPr lang="en-US" sz="1200" dirty="0"/>
          </a:p>
        </p:txBody>
      </p:sp>
      <p:sp>
        <p:nvSpPr>
          <p:cNvPr id="80" name="Text 34"/>
          <p:cNvSpPr/>
          <p:nvPr/>
        </p:nvSpPr>
        <p:spPr>
          <a:xfrm>
            <a:off x="8412480" y="2798064"/>
            <a:ext cx="2560320" cy="348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4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需排查的变化</a:t>
            </a:r>
            <a:endParaRPr lang="en-US" sz="1700" dirty="0"/>
          </a:p>
        </p:txBody>
      </p:sp>
      <p:sp>
        <p:nvSpPr>
          <p:cNvPr id="81" name="Shape 35"/>
          <p:cNvSpPr/>
          <p:nvPr/>
        </p:nvSpPr>
        <p:spPr>
          <a:xfrm>
            <a:off x="8805672" y="3255264"/>
            <a:ext cx="1773936" cy="1143000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C4453C"/>
            </a:solidFill>
            <a:prstDash val="solid"/>
          </a:ln>
        </p:spPr>
      </p:sp>
      <p:sp>
        <p:nvSpPr>
          <p:cNvPr id="82" name="Shape 36"/>
          <p:cNvSpPr/>
          <p:nvPr/>
        </p:nvSpPr>
        <p:spPr>
          <a:xfrm>
            <a:off x="8933688" y="3474720"/>
            <a:ext cx="1517904" cy="0"/>
          </a:xfrm>
          <a:prstGeom prst="line">
            <a:avLst/>
          </a:prstGeom>
          <a:solidFill>
            <a:srgbClr val="FFFFFF"/>
          </a:solidFill>
          <a:ln w="25400">
            <a:solidFill>
              <a:srgbClr val="C4453C"/>
            </a:solidFill>
            <a:prstDash val="solid"/>
          </a:ln>
        </p:spPr>
      </p:sp>
      <p:sp>
        <p:nvSpPr>
          <p:cNvPr id="83" name="Shape 37"/>
          <p:cNvSpPr/>
          <p:nvPr/>
        </p:nvSpPr>
        <p:spPr>
          <a:xfrm>
            <a:off x="9098280" y="3694176"/>
            <a:ext cx="1207008" cy="0"/>
          </a:xfrm>
          <a:prstGeom prst="line">
            <a:avLst/>
          </a:prstGeom>
          <a:solidFill>
            <a:srgbClr val="FFFFFF"/>
          </a:solidFill>
          <a:ln w="25400">
            <a:solidFill>
              <a:srgbClr val="E7A33B"/>
            </a:solidFill>
            <a:prstDash val="solid"/>
          </a:ln>
        </p:spPr>
      </p:sp>
      <p:sp>
        <p:nvSpPr>
          <p:cNvPr id="84" name="Shape 38"/>
          <p:cNvSpPr/>
          <p:nvPr/>
        </p:nvSpPr>
        <p:spPr>
          <a:xfrm>
            <a:off x="9098280" y="3822192"/>
            <a:ext cx="1207008" cy="0"/>
          </a:xfrm>
          <a:prstGeom prst="line">
            <a:avLst/>
          </a:prstGeom>
          <a:solidFill>
            <a:srgbClr val="FFFFFF"/>
          </a:solidFill>
          <a:ln w="25400">
            <a:solidFill>
              <a:srgbClr val="E7A33B"/>
            </a:solidFill>
            <a:prstDash val="solid"/>
          </a:ln>
        </p:spPr>
      </p:sp>
      <p:sp>
        <p:nvSpPr>
          <p:cNvPr id="85" name="Shape 39"/>
          <p:cNvSpPr/>
          <p:nvPr/>
        </p:nvSpPr>
        <p:spPr>
          <a:xfrm>
            <a:off x="9098280" y="3950208"/>
            <a:ext cx="1207008" cy="0"/>
          </a:xfrm>
          <a:prstGeom prst="line">
            <a:avLst/>
          </a:prstGeom>
          <a:solidFill>
            <a:srgbClr val="FFFFFF"/>
          </a:solidFill>
          <a:ln w="25400">
            <a:solidFill>
              <a:srgbClr val="E7A33B"/>
            </a:solidFill>
            <a:prstDash val="solid"/>
          </a:ln>
        </p:spPr>
      </p:sp>
      <p:sp>
        <p:nvSpPr>
          <p:cNvPr id="86" name="Shape 40"/>
          <p:cNvSpPr/>
          <p:nvPr/>
        </p:nvSpPr>
        <p:spPr>
          <a:xfrm>
            <a:off x="9098280" y="4078224"/>
            <a:ext cx="1207008" cy="0"/>
          </a:xfrm>
          <a:prstGeom prst="line">
            <a:avLst/>
          </a:prstGeom>
          <a:solidFill>
            <a:srgbClr val="FFFFFF"/>
          </a:solidFill>
          <a:ln w="25400">
            <a:solidFill>
              <a:srgbClr val="E7A33B"/>
            </a:solidFill>
            <a:prstDash val="solid"/>
          </a:ln>
        </p:spPr>
      </p:sp>
      <p:sp>
        <p:nvSpPr>
          <p:cNvPr id="87" name="Shape 41"/>
          <p:cNvSpPr/>
          <p:nvPr/>
        </p:nvSpPr>
        <p:spPr>
          <a:xfrm>
            <a:off x="9006840" y="3593592"/>
            <a:ext cx="100584" cy="100584"/>
          </a:xfrm>
          <a:prstGeom prst="ellipse">
            <a:avLst/>
          </a:prstGeom>
          <a:solidFill>
            <a:srgbClr val="C4453C"/>
          </a:solidFill>
          <a:ln w="12700">
            <a:solidFill>
              <a:srgbClr val="C4453C"/>
            </a:solidFill>
            <a:prstDash val="solid"/>
          </a:ln>
        </p:spPr>
      </p:sp>
      <p:sp>
        <p:nvSpPr>
          <p:cNvPr id="88" name="Shape 42"/>
          <p:cNvSpPr/>
          <p:nvPr/>
        </p:nvSpPr>
        <p:spPr>
          <a:xfrm>
            <a:off x="10131552" y="3666744"/>
            <a:ext cx="100584" cy="100584"/>
          </a:xfrm>
          <a:prstGeom prst="ellipse">
            <a:avLst/>
          </a:prstGeom>
          <a:solidFill>
            <a:srgbClr val="C4453C"/>
          </a:solidFill>
          <a:ln w="12700">
            <a:solidFill>
              <a:srgbClr val="C4453C"/>
            </a:solidFill>
            <a:prstDash val="solid"/>
          </a:ln>
        </p:spPr>
      </p:sp>
      <p:sp>
        <p:nvSpPr>
          <p:cNvPr id="89" name="Shape 43"/>
          <p:cNvSpPr/>
          <p:nvPr/>
        </p:nvSpPr>
        <p:spPr>
          <a:xfrm>
            <a:off x="8549640" y="3675888"/>
            <a:ext cx="173736" cy="155448"/>
          </a:xfrm>
          <a:prstGeom prst="chevron">
            <a:avLst/>
          </a:prstGeom>
          <a:solidFill>
            <a:srgbClr val="C4453C"/>
          </a:solidFill>
          <a:ln w="12700">
            <a:solidFill>
              <a:srgbClr val="C4453C"/>
            </a:solidFill>
            <a:prstDash val="solid"/>
          </a:ln>
        </p:spPr>
      </p:sp>
      <p:sp>
        <p:nvSpPr>
          <p:cNvPr id="90" name="Text 44"/>
          <p:cNvSpPr/>
          <p:nvPr/>
        </p:nvSpPr>
        <p:spPr>
          <a:xfrm>
            <a:off x="8321040" y="4535424"/>
            <a:ext cx="274320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4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封口异常 / 凝露 / 储藏升温</a:t>
            </a:r>
            <a:endParaRPr lang="en-US" sz="1200" dirty="0"/>
          </a:p>
        </p:txBody>
      </p:sp>
      <p:sp>
        <p:nvSpPr>
          <p:cNvPr id="91" name="Text 45"/>
          <p:cNvSpPr/>
          <p:nvPr/>
        </p:nvSpPr>
        <p:spPr>
          <a:xfrm>
            <a:off x="4681728" y="4818888"/>
            <a:ext cx="6995160" cy="23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包装图为示意；阻湿性能与封口效果应通过验证确认</a:t>
            </a:r>
            <a:endParaRPr lang="en-US" sz="1100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0352" y="118872"/>
            <a:ext cx="7132320" cy="643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设备死角、白布、人员卫生</a:t>
            </a:r>
            <a:endParaRPr lang="en-US" sz="3200" dirty="0"/>
          </a:p>
        </p:txBody>
      </p:sp>
      <p:sp>
        <p:nvSpPr>
          <p:cNvPr id="47" name="Text 1"/>
          <p:cNvSpPr/>
          <p:nvPr/>
        </p:nvSpPr>
        <p:spPr>
          <a:xfrm>
            <a:off x="521208" y="120700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清洁与消毒分开控制</a:t>
            </a:r>
            <a:endParaRPr lang="en-US" sz="1800" dirty="0"/>
          </a:p>
        </p:txBody>
      </p:sp>
      <p:sp>
        <p:nvSpPr>
          <p:cNvPr id="48" name="Text 2"/>
          <p:cNvSpPr/>
          <p:nvPr/>
        </p:nvSpPr>
        <p:spPr>
          <a:xfrm>
            <a:off x="576072" y="1645920"/>
            <a:ext cx="3813048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清洁去污后，再按方法消毒。</a:t>
            </a:r>
            <a:endParaRPr lang="en-US" sz="1600" dirty="0"/>
          </a:p>
        </p:txBody>
      </p:sp>
      <p:sp>
        <p:nvSpPr>
          <p:cNvPr id="49" name="Text 3"/>
          <p:cNvSpPr/>
          <p:nvPr/>
        </p:nvSpPr>
        <p:spPr>
          <a:xfrm>
            <a:off x="576072" y="1952244"/>
            <a:ext cx="3813048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有机物影响消毒；目视洁净需验证。</a:t>
            </a:r>
            <a:endParaRPr lang="en-US" sz="1600" dirty="0"/>
          </a:p>
        </p:txBody>
      </p:sp>
      <p:sp>
        <p:nvSpPr>
          <p:cNvPr id="50" name="Text 4"/>
          <p:cNvSpPr/>
          <p:nvPr/>
        </p:nvSpPr>
        <p:spPr>
          <a:xfrm>
            <a:off x="521208" y="235000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三类重点对象</a:t>
            </a:r>
            <a:endParaRPr lang="en-US" sz="1800" dirty="0"/>
          </a:p>
        </p:txBody>
      </p:sp>
      <p:sp>
        <p:nvSpPr>
          <p:cNvPr id="51" name="Text 5"/>
          <p:cNvSpPr/>
          <p:nvPr/>
        </p:nvSpPr>
        <p:spPr>
          <a:xfrm>
            <a:off x="576072" y="2788920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设备：桨叶、辊边、刀缝、输送带及回潮角落。</a:t>
            </a:r>
            <a:endParaRPr lang="en-US" sz="1600" dirty="0"/>
          </a:p>
        </p:txBody>
      </p:sp>
      <p:sp>
        <p:nvSpPr>
          <p:cNvPr id="52" name="Text 6"/>
          <p:cNvSpPr/>
          <p:nvPr/>
        </p:nvSpPr>
        <p:spPr>
          <a:xfrm>
            <a:off x="576072" y="3351276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白布：清洗消毒、充分干燥、清洁存放，防晾晒再污染。</a:t>
            </a:r>
            <a:endParaRPr lang="en-US" sz="1600" dirty="0"/>
          </a:p>
        </p:txBody>
      </p:sp>
      <p:sp>
        <p:nvSpPr>
          <p:cNvPr id="53" name="Text 7"/>
          <p:cNvSpPr/>
          <p:nvPr/>
        </p:nvSpPr>
        <p:spPr>
          <a:xfrm>
            <a:off x="576072" y="3913632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人员：洗手消毒、更衣和规范接触产品。</a:t>
            </a:r>
            <a:endParaRPr lang="en-US" sz="1600" dirty="0"/>
          </a:p>
        </p:txBody>
      </p:sp>
      <p:sp>
        <p:nvSpPr>
          <p:cNvPr id="54" name="Text 8"/>
          <p:cNvSpPr/>
          <p:nvPr/>
        </p:nvSpPr>
        <p:spPr>
          <a:xfrm>
            <a:off x="521208" y="4567428"/>
            <a:ext cx="3867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执行与验证</a:t>
            </a:r>
            <a:endParaRPr lang="en-US" sz="1800" dirty="0"/>
          </a:p>
        </p:txBody>
      </p:sp>
      <p:sp>
        <p:nvSpPr>
          <p:cNvPr id="55" name="Text 9"/>
          <p:cNvSpPr/>
          <p:nvPr/>
        </p:nvSpPr>
        <p:spPr>
          <a:xfrm>
            <a:off x="576072" y="5006340"/>
            <a:ext cx="3813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每班拆洗可拆部件；制剂按标签确定浓度、接触时间与漂洗。</a:t>
            </a:r>
            <a:endParaRPr lang="en-US" sz="1600" dirty="0"/>
          </a:p>
        </p:txBody>
      </p:sp>
      <p:sp>
        <p:nvSpPr>
          <p:cNvPr id="56" name="Text 10"/>
          <p:cNvSpPr/>
          <p:nvPr/>
        </p:nvSpPr>
        <p:spPr>
          <a:xfrm>
            <a:off x="576072" y="5568696"/>
            <a:ext cx="3813048" cy="328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晒干控潮，不能证明消毒合格。</a:t>
            </a:r>
            <a:endParaRPr lang="en-US" sz="1600" dirty="0"/>
          </a:p>
        </p:txBody>
      </p:sp>
      <p:sp>
        <p:nvSpPr>
          <p:cNvPr id="57" name="Shape 11"/>
          <p:cNvSpPr/>
          <p:nvPr/>
        </p:nvSpPr>
        <p:spPr>
          <a:xfrm>
            <a:off x="4663440" y="5266944"/>
            <a:ext cx="7059168" cy="103327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58" name="Text 12"/>
          <p:cNvSpPr/>
          <p:nvPr/>
        </p:nvSpPr>
        <p:spPr>
          <a:xfrm>
            <a:off x="4882896" y="5431536"/>
            <a:ext cx="6601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把“去污—消毒—干燥—防再污染”连成闭环，并以适用卫生检测验证执行效果。</a:t>
            </a:r>
            <a:endParaRPr lang="en-US" sz="1600" dirty="0"/>
          </a:p>
        </p:txBody>
      </p:sp>
      <p:sp>
        <p:nvSpPr>
          <p:cNvPr id="59" name="Text 13"/>
          <p:cNvSpPr/>
          <p:nvPr/>
        </p:nvSpPr>
        <p:spPr>
          <a:xfrm>
            <a:off x="11109960" y="6483096"/>
            <a:ext cx="594360" cy="19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2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60" name="Text 14"/>
          <p:cNvSpPr/>
          <p:nvPr/>
        </p:nvSpPr>
        <p:spPr>
          <a:xfrm>
            <a:off x="4672584" y="1271016"/>
            <a:ext cx="7031736" cy="387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清洁、消毒、干燥与防再污染形成闭环</a:t>
            </a:r>
            <a:endParaRPr lang="en-US" sz="1900" dirty="0"/>
          </a:p>
        </p:txBody>
      </p:sp>
      <p:sp>
        <p:nvSpPr>
          <p:cNvPr id="61" name="Shape 15"/>
          <p:cNvSpPr/>
          <p:nvPr/>
        </p:nvSpPr>
        <p:spPr>
          <a:xfrm>
            <a:off x="4690872" y="1801368"/>
            <a:ext cx="1559052" cy="64922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62" name="Text 16"/>
          <p:cNvSpPr/>
          <p:nvPr/>
        </p:nvSpPr>
        <p:spPr>
          <a:xfrm>
            <a:off x="4745736" y="1911096"/>
            <a:ext cx="14493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先去残面污物</a:t>
            </a:r>
            <a:endParaRPr lang="en-US" sz="1600" dirty="0"/>
          </a:p>
        </p:txBody>
      </p:sp>
      <p:sp>
        <p:nvSpPr>
          <p:cNvPr id="63" name="Shape 17"/>
          <p:cNvSpPr/>
          <p:nvPr/>
        </p:nvSpPr>
        <p:spPr>
          <a:xfrm>
            <a:off x="6286500" y="2052828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4" name="Shape 18"/>
          <p:cNvSpPr/>
          <p:nvPr/>
        </p:nvSpPr>
        <p:spPr>
          <a:xfrm>
            <a:off x="6505956" y="1801368"/>
            <a:ext cx="1559052" cy="64922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65" name="Text 19"/>
          <p:cNvSpPr/>
          <p:nvPr/>
        </p:nvSpPr>
        <p:spPr>
          <a:xfrm>
            <a:off x="6560820" y="1911096"/>
            <a:ext cx="14493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再合规消毒</a:t>
            </a:r>
            <a:endParaRPr lang="en-US" sz="1600" dirty="0"/>
          </a:p>
        </p:txBody>
      </p:sp>
      <p:sp>
        <p:nvSpPr>
          <p:cNvPr id="66" name="Shape 20"/>
          <p:cNvSpPr/>
          <p:nvPr/>
        </p:nvSpPr>
        <p:spPr>
          <a:xfrm>
            <a:off x="8101584" y="2052828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67" name="Shape 21"/>
          <p:cNvSpPr/>
          <p:nvPr/>
        </p:nvSpPr>
        <p:spPr>
          <a:xfrm>
            <a:off x="8321040" y="1801368"/>
            <a:ext cx="1559052" cy="64922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68" name="Text 22"/>
          <p:cNvSpPr/>
          <p:nvPr/>
        </p:nvSpPr>
        <p:spPr>
          <a:xfrm>
            <a:off x="8375904" y="1911096"/>
            <a:ext cx="14493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充分干燥</a:t>
            </a:r>
            <a:endParaRPr lang="en-US" sz="1600" dirty="0"/>
          </a:p>
        </p:txBody>
      </p:sp>
      <p:sp>
        <p:nvSpPr>
          <p:cNvPr id="69" name="Shape 23"/>
          <p:cNvSpPr/>
          <p:nvPr/>
        </p:nvSpPr>
        <p:spPr>
          <a:xfrm>
            <a:off x="9916668" y="2052828"/>
            <a:ext cx="182880" cy="155448"/>
          </a:xfrm>
          <a:prstGeom prst="chevron">
            <a:avLst/>
          </a:prstGeom>
          <a:solidFill>
            <a:srgbClr val="378534"/>
          </a:solidFill>
          <a:ln w="12700">
            <a:solidFill>
              <a:srgbClr val="378534"/>
            </a:solidFill>
            <a:prstDash val="solid"/>
          </a:ln>
        </p:spPr>
      </p:sp>
      <p:sp>
        <p:nvSpPr>
          <p:cNvPr id="70" name="Shape 24"/>
          <p:cNvSpPr/>
          <p:nvPr/>
        </p:nvSpPr>
        <p:spPr>
          <a:xfrm>
            <a:off x="10136124" y="1801368"/>
            <a:ext cx="1559052" cy="649224"/>
          </a:xfrm>
          <a:prstGeom prst="roundRect">
            <a:avLst/>
          </a:prstGeom>
          <a:solidFill>
            <a:srgbClr val="235C29"/>
          </a:solidFill>
          <a:ln w="12700">
            <a:solidFill>
              <a:srgbClr val="235C29"/>
            </a:solidFill>
            <a:prstDash val="solid"/>
          </a:ln>
        </p:spPr>
      </p:sp>
      <p:sp>
        <p:nvSpPr>
          <p:cNvPr id="71" name="Text 25"/>
          <p:cNvSpPr/>
          <p:nvPr/>
        </p:nvSpPr>
        <p:spPr>
          <a:xfrm>
            <a:off x="10190988" y="1911096"/>
            <a:ext cx="14493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清洁存放</a:t>
            </a:r>
            <a:endParaRPr lang="en-US" sz="1600" dirty="0"/>
          </a:p>
        </p:txBody>
      </p:sp>
      <p:sp>
        <p:nvSpPr>
          <p:cNvPr id="72" name="Shape 26"/>
          <p:cNvSpPr/>
          <p:nvPr/>
        </p:nvSpPr>
        <p:spPr>
          <a:xfrm>
            <a:off x="4709160" y="2862072"/>
            <a:ext cx="2121408" cy="157276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73" name="Text 27"/>
          <p:cNvSpPr/>
          <p:nvPr/>
        </p:nvSpPr>
        <p:spPr>
          <a:xfrm>
            <a:off x="4837176" y="2990088"/>
            <a:ext cx="186537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</a:t>
            </a:r>
            <a:endParaRPr lang="en-US" sz="1800" dirty="0"/>
          </a:p>
        </p:txBody>
      </p:sp>
      <p:sp>
        <p:nvSpPr>
          <p:cNvPr id="74" name="Text 28"/>
          <p:cNvSpPr/>
          <p:nvPr/>
        </p:nvSpPr>
        <p:spPr>
          <a:xfrm>
            <a:off x="4837176" y="3547872"/>
            <a:ext cx="18653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桨叶 / 辊边 / 刀缝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输送带 / 回潮角落</a:t>
            </a:r>
            <a:endParaRPr lang="en-US" sz="1600" dirty="0"/>
          </a:p>
        </p:txBody>
      </p:sp>
      <p:sp>
        <p:nvSpPr>
          <p:cNvPr id="75" name="Shape 29"/>
          <p:cNvSpPr/>
          <p:nvPr/>
        </p:nvSpPr>
        <p:spPr>
          <a:xfrm>
            <a:off x="7086600" y="2862072"/>
            <a:ext cx="2121408" cy="157276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76" name="Text 30"/>
          <p:cNvSpPr/>
          <p:nvPr/>
        </p:nvSpPr>
        <p:spPr>
          <a:xfrm>
            <a:off x="7214616" y="2990088"/>
            <a:ext cx="186537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白布</a:t>
            </a:r>
            <a:endParaRPr lang="en-US" sz="1800" dirty="0"/>
          </a:p>
        </p:txBody>
      </p:sp>
      <p:sp>
        <p:nvSpPr>
          <p:cNvPr id="77" name="Text 31"/>
          <p:cNvSpPr/>
          <p:nvPr/>
        </p:nvSpPr>
        <p:spPr>
          <a:xfrm>
            <a:off x="7214616" y="3547872"/>
            <a:ext cx="18653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清洗与消毒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干燥、清洁晾晒存放</a:t>
            </a:r>
            <a:endParaRPr lang="en-US" sz="1600" dirty="0"/>
          </a:p>
        </p:txBody>
      </p:sp>
      <p:sp>
        <p:nvSpPr>
          <p:cNvPr id="78" name="Shape 32"/>
          <p:cNvSpPr/>
          <p:nvPr/>
        </p:nvSpPr>
        <p:spPr>
          <a:xfrm>
            <a:off x="9464040" y="2862072"/>
            <a:ext cx="2121408" cy="157276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/>
            </a:solidFill>
            <a:prstDash val="solid"/>
          </a:ln>
        </p:spPr>
      </p:sp>
      <p:sp>
        <p:nvSpPr>
          <p:cNvPr id="79" name="Text 33"/>
          <p:cNvSpPr/>
          <p:nvPr/>
        </p:nvSpPr>
        <p:spPr>
          <a:xfrm>
            <a:off x="9592056" y="2990088"/>
            <a:ext cx="186537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人员</a:t>
            </a:r>
            <a:endParaRPr lang="en-US" sz="1800" dirty="0"/>
          </a:p>
        </p:txBody>
      </p:sp>
      <p:sp>
        <p:nvSpPr>
          <p:cNvPr id="80" name="Text 34"/>
          <p:cNvSpPr/>
          <p:nvPr/>
        </p:nvSpPr>
        <p:spPr>
          <a:xfrm>
            <a:off x="9592056" y="3547872"/>
            <a:ext cx="18653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洗手消毒 / 更衣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规范产品接触</a:t>
            </a:r>
            <a:endParaRPr lang="en-US" sz="1600" dirty="0"/>
          </a:p>
        </p:txBody>
      </p:sp>
      <p:sp>
        <p:nvSpPr>
          <p:cNvPr id="81" name="Text 35"/>
          <p:cNvSpPr/>
          <p:nvPr/>
        </p:nvSpPr>
        <p:spPr>
          <a:xfrm>
            <a:off x="4709160" y="4681728"/>
            <a:ext cx="6958584" cy="308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453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清洁 ≠ 消毒    ｜    晒干 ≠ 卫生效果验证</a:t>
            </a:r>
            <a:endParaRPr lang="en-US" sz="1500" dirty="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1942</Words>
  <Application>WPS 演示</Application>
  <PresentationFormat>宽屏</PresentationFormat>
  <Paragraphs>125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汉仪大宋简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原料验收与和面控制要点｜统一风格版</dc:title>
  <dc:creator/>
  <cp:lastModifiedBy>zoaod</cp:lastModifiedBy>
  <cp:revision>157</cp:revision>
  <dcterms:created xsi:type="dcterms:W3CDTF">2019-06-19T02:08:00Z</dcterms:created>
  <dcterms:modified xsi:type="dcterms:W3CDTF">2026-10-12T16:03:52Z</dcterms:modified>
  <dc:subject>参考核心控制-水分活度-Aw的版式，九页逐页重排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9E3FEA8E12F641009FBA9BFB943C0E01_11</vt:lpwstr>
  </property>
</Properties>
</file>