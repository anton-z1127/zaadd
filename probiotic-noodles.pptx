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依据：用户提供的《益生菌半干面开发方向探索PPT.pptx》，保留开发背景以外的产品设想、两条技术路线、应用参考、策略和定位。未添加实验数据或功效结论。面食及实验室图片为AI生成的概念配图，不代表实际样品或实验现场。所有技术路线和图形为可编辑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依据：用户提供的《益生菌半干面开发方向探索PPT.pptx》，保留开发背景以外的产品设想、两条技术路线、应用参考、策略和定位。未添加实验数据或功效结论。面食及实验室图片为AI生成的概念配图，不代表实际样品或实验现场。所有技术路线和图形为可编辑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依据：用户提供的《益生菌半干面开发方向探索PPT.pptx》，保留开发背景以外的产品设想、两条技术路线、应用参考、策略和定位。未添加实验数据或功效结论。面食及实验室图片为AI生成的概念配图，不代表实际样品或实验现场。所有技术路线和图形为可编辑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依据：用户提供的《益生菌半干面开发方向探索PPT.pptx》，保留开发背景以外的产品设想、两条技术路线、应用参考、策略和定位。未添加实验数据或功效结论。面食及实验室图片为AI生成的概念配图，不代表实际样品或实验现场。所有技术路线和图形为可编辑对象。具体热稳定性与作用评价需按成分、工艺和最终产品验证；“更适合”是研发路线判断，并非已完成的功效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依据：用户提供的《益生菌半干面开发方向探索PPT.pptx》，保留开发背景以外的产品设想、两条技术路线、应用参考、策略和定位。未添加实验数据或功效结论。面食及实验室图片为AI生成的概念配图，不代表实际样品或实验现场。所有技术路线和图形为可编辑对象。原稿列举的应用方向用作研发参考，未虚构品牌或商业化证据。耐热性和稳定性受菌株与工艺影响。后生元概念参照 ISAPP 共识：Salminen et al., Nature Reviews Gastroenterology &amp; Hepatology (2021), DOI 10.1038/s41575-021-00440-6。此处未将单独纯化代谢物直接定义为后生元。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依据：用户提供的《益生菌半干面开发方向探索PPT.pptx》，保留开发背景以外的产品设想、两条技术路线、应用参考、策略和定位。未添加实验数据或功效结论。面食及实验室图片为AI生成的概念配图，不代表实际样品或实验现场。所有技术路线和图形为可编辑对象。沿用原稿优劣势比较；将代谢产物型“稳定性高”表述为研发潜力，实际稳定性需依据成分及工艺评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依据：用户提供的《益生菌半干面开发方向探索PPT.pptx》，保留开发背景以外的产品设想、两条技术路线、应用参考、策略和定位。未添加实验数据或功效结论。面食及实验室图片为AI生成的概念配图，不代表实际样品或实验现场。所有技术路线和图形为可编辑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依据：用户提供的《益生菌半干面开发方向探索PPT.pptx》，保留开发背景以外的产品设想、两条技术路线、应用参考、策略和定位。未添加实验数据或功效结论。面食及实验室图片为AI生成的概念配图，不代表实际样品或实验现场。所有技术路线和图形为可编辑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生成的半干面概念配图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38928" cy="6858000"/>
          </a:xfrm>
          <a:prstGeom prst="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713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INNOVATION  /  R&amp;D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0936" y="1883664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5800" b="1" dirty="0">
                <a:solidFill>
                  <a:srgbClr val="163D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</a:t>
            </a:r>
            <a:endParaRPr lang="en-US" sz="580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5800" b="1" dirty="0">
                <a:solidFill>
                  <a:srgbClr val="163D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半干面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94944" y="4160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开发方向探索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94944" y="497433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从活菌递送到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功能代谢物赋能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94944" y="6016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面食概念配图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64008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  /  开发方向探索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297680" y="634593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PRODUCT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产品设想：主食功能化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7512" y="168249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将益生菌技术融入日常主食，探索具有肠道健康价值的新型功能食品。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496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传统主食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493008" y="2624328"/>
            <a:ext cx="393192" cy="228600"/>
          </a:xfrm>
          <a:prstGeom prst="chevron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42816" y="24963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功能化升级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379208" y="2624328"/>
            <a:ext cx="393192" cy="228600"/>
          </a:xfrm>
          <a:prstGeom prst="chevron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01584" y="24963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肠道健康食品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58368" y="3465576"/>
            <a:ext cx="5257800" cy="2029968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70332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36776" y="3721608"/>
            <a:ext cx="4005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活菌型益生菌半干面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1832" y="4535424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围绕活菌在加工、储藏和煮制后的存活展开。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2784" y="3465576"/>
            <a:ext cx="5257800" cy="2029968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370332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51192" y="3721608"/>
            <a:ext cx="4005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功能代谢产物型半干面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56248" y="4535424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围绕发酵产生的功能成分与产品应用展开。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" y="58155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“吃面”成为益生菌摄入的新场景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" y="64008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  /  开发方向探索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34593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ROUTE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路线一：活菌型益生菌半干面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7512" y="168249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核心任务：让目标菌株经加工、储藏与煮制后，仍满足产品的活菌递送目标。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" y="2459736"/>
            <a:ext cx="2368296" cy="914400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6883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益生菌添加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54680" y="2798064"/>
            <a:ext cx="201168" cy="228600"/>
          </a:xfrm>
          <a:prstGeom prst="chevron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添加时点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04088" y="445312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选择适合的添加时间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93008" y="2459736"/>
            <a:ext cx="2368296" cy="914400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6883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面制品加工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80176" y="2798064"/>
            <a:ext cx="201168" cy="228600"/>
          </a:xfrm>
          <a:prstGeom prst="chevron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加工损失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529584" y="445312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关注加工过程菌损失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18504" y="2459736"/>
            <a:ext cx="2368296" cy="914400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6883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储藏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805672" y="2798064"/>
            <a:ext cx="201168" cy="228600"/>
          </a:xfrm>
          <a:prstGeom prst="chevron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保质期保持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355080" y="445312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关注储藏期菌数变化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0" y="2459736"/>
            <a:ext cx="2368296" cy="914400"/>
          </a:xfrm>
          <a:prstGeom prst="roundRect">
            <a:avLst/>
          </a:prstGeom>
          <a:solidFill>
            <a:srgbClr val="163D30"/>
          </a:solidFill>
          <a:ln w="12700">
            <a:solidFill>
              <a:srgbClr val="163D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26883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消费者摄入活菌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80576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煮制损失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180576" y="4453128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评估高温对活菌的影响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7512" y="5413248"/>
            <a:ext cx="10844784" cy="621792"/>
          </a:xfrm>
          <a:prstGeom prst="roundRect">
            <a:avLst/>
          </a:prstGeom>
          <a:solidFill>
            <a:srgbClr val="F5F1E7"/>
          </a:solidFill>
          <a:ln w="12700">
            <a:solidFill>
              <a:srgbClr val="F5F1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577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7C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重点方向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862072" y="5522976"/>
            <a:ext cx="8211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耐加工  ·  耐储藏  ·  耐热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58368" y="64008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  /  开发方向探索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34593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ROUTE 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路线二：功能代谢产物型半干面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7512" y="168249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不依赖产品中的活菌持续存活，探索更适合热加工食品的成分应用路径。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" y="2359152"/>
            <a:ext cx="2368296" cy="850392"/>
          </a:xfrm>
          <a:prstGeom prst="roundRect">
            <a:avLst/>
          </a:prstGeom>
          <a:solidFill>
            <a:srgbClr val="163D30"/>
          </a:solidFill>
          <a:ln w="12700">
            <a:solidFill>
              <a:srgbClr val="163D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58775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益生菌发酵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154680" y="2670048"/>
            <a:ext cx="201168" cy="228600"/>
          </a:xfrm>
          <a:prstGeom prst="chevron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93008" y="2359152"/>
            <a:ext cx="2368296" cy="850392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258775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产生功能物质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80176" y="2670048"/>
            <a:ext cx="201168" cy="228600"/>
          </a:xfrm>
          <a:prstGeom prst="chevron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18504" y="2359152"/>
            <a:ext cx="2368296" cy="850392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258775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 / 保留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805672" y="2670048"/>
            <a:ext cx="201168" cy="228600"/>
          </a:xfrm>
          <a:prstGeom prst="chevron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2359152"/>
            <a:ext cx="2368296" cy="850392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587752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添加至产品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94944" y="368503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关注的功能成分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67512" y="4379976"/>
            <a:ext cx="2368296" cy="1453896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572000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502005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胞外多糖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" y="5532120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93008" y="4379976"/>
            <a:ext cx="2368296" cy="1453896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4572000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66744" y="502005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有机酸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66744" y="5532120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ACIDS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18504" y="4379976"/>
            <a:ext cx="2368296" cy="1453896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572000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502005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生物活性肽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492240" y="5532120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BIOACTIVE PEPTIDES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0" y="4379976"/>
            <a:ext cx="2368296" cy="1453896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17736" y="4572000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17736" y="502005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细菌素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317736" y="5532120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BACTERIOCINS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" y="64008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  /  开发方向探索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81360" y="634593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APPLICATION 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应用参考与可行性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7512" y="168249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从耐受性菌株与后生元应用中寻找面制品的开发切入点。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" y="2359152"/>
            <a:ext cx="5239512" cy="3410712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91072" y="2359152"/>
            <a:ext cx="5239512" cy="3410712"/>
          </a:xfrm>
          <a:prstGeom prst="roundRect">
            <a:avLst/>
          </a:prstGeom>
          <a:solidFill>
            <a:srgbClr val="F5F1E7"/>
          </a:solidFill>
          <a:ln w="12700">
            <a:solidFill>
              <a:srgbClr val="F5F1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2606040"/>
            <a:ext cx="891540" cy="891540"/>
          </a:xfrm>
          <a:prstGeom prst="ellipse">
            <a:avLst/>
          </a:prstGeom>
          <a:solidFill>
            <a:srgbClr val="D7E8A9"/>
          </a:solidFill>
          <a:ln w="12700">
            <a:solidFill>
              <a:srgbClr val="D7E8A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1500000">
            <a:off x="1116117" y="2905597"/>
            <a:ext cx="499262" cy="192573"/>
          </a:xfrm>
          <a:prstGeom prst="roundRect">
            <a:avLst/>
          </a:prstGeom>
          <a:solidFill>
            <a:srgbClr val="163D30"/>
          </a:solidFill>
          <a:ln w="12700">
            <a:solidFill>
              <a:srgbClr val="163D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0086" y="2934127"/>
            <a:ext cx="114117" cy="114117"/>
          </a:xfrm>
          <a:prstGeom prst="ellipse">
            <a:avLst/>
          </a:prstGeom>
          <a:solidFill>
            <a:srgbClr val="D7E8A9"/>
          </a:solidFill>
          <a:ln w="12700">
            <a:solidFill>
              <a:srgbClr val="D7E8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1852" y="3176626"/>
            <a:ext cx="49926" cy="49926"/>
          </a:xfrm>
          <a:prstGeom prst="ellipse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2585" y="2805745"/>
            <a:ext cx="57059" cy="57059"/>
          </a:xfrm>
          <a:prstGeom prst="ellipse">
            <a:avLst/>
          </a:prstGeom>
          <a:solidFill>
            <a:srgbClr val="32644D"/>
          </a:solidFill>
          <a:ln w="12700">
            <a:solidFill>
              <a:srgbClr val="3264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670048"/>
            <a:ext cx="3584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凝结芽孢杆菌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020824" y="3200400"/>
            <a:ext cx="3593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Bacillus coagulans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3739896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芽孢结构  /  耐热与储藏稳定性潜力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9264" y="4489704"/>
            <a:ext cx="46085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应用参考：益生菌意大利面、小麦类食品。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谷物与面制品作为递送载体具有探索基础。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74536" y="2706624"/>
            <a:ext cx="1335024" cy="356616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27432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应用方向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74536" y="3246120"/>
            <a:ext cx="4590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后生元 Postbiotics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574536" y="3986784"/>
            <a:ext cx="4599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后生元饮品  /  功能食品  /  营养补充剂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74536" y="4828032"/>
            <a:ext cx="4590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无需维持活菌数量，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为半干面等热加工食品提供探索思路。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" y="5971032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概念边界：纯化代谢物不直接等同于后生元；后生元需包含失活微生物及／或其组分，并有宿主健康益处。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64008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  /  开发方向探索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34593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ROUTE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两条路线：优势与研发挑战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7512" y="168249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将消费者认知、加工稳定性与功能评价放在同一框架内比较。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7512" y="2386584"/>
            <a:ext cx="5239512" cy="3621024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88336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活菌型路线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9264" y="3255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关键：活菌递送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" y="382219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92808" y="3776472"/>
            <a:ext cx="3703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消费者认知强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“益生菌”概念明确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485546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C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92808" y="4809744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加工损失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储藏稳定性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煮制灭活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1072" y="2386584"/>
            <a:ext cx="5239512" cy="3621024"/>
          </a:xfrm>
          <a:prstGeom prst="roundRect">
            <a:avLst/>
          </a:prstGeom>
          <a:solidFill>
            <a:srgbClr val="F5F1E7"/>
          </a:solidFill>
          <a:ln w="12700">
            <a:solidFill>
              <a:srgbClr val="F5F1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688336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代谢产物型路线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92824" y="3255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关键：功能成分应用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92824" y="382219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16368" y="3776472"/>
            <a:ext cx="37033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稳定性潜力较高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便于探索工业化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92824" y="485546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C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挑战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16368" y="4809744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功能评价体系建立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产品概念教育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" y="64008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  /  开发方向探索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34593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326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DEVELOPMENT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38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开发策略：短期探索，长期构建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7512" y="168249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让可行性验证逐步走向更稳定的功能主食体系。</a:t>
            </a:r>
            <a:endParaRPr lang="en-US" sz="1700" dirty="0"/>
          </a:p>
        </p:txBody>
      </p:sp>
      <p:pic>
        <p:nvPicPr>
          <p:cNvPr id="5" name="Image 0" descr="AI生成的食品发酵研发概念配图">    </p:cNvPr>
          <p:cNvPicPr>
            <a:picLocks noChangeAspect="1"/>
          </p:cNvPicPr>
          <p:nvPr/>
        </p:nvPicPr>
        <p:blipFill>
          <a:blip r:embed="rId1"/>
          <a:srcRect l="12127" r="12127" t="0" b="0"/>
          <a:stretch/>
        </p:blipFill>
        <p:spPr>
          <a:xfrm>
            <a:off x="6611112" y="2386584"/>
            <a:ext cx="4910328" cy="3648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" y="2386584"/>
            <a:ext cx="5449824" cy="1636776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1832" y="2670048"/>
            <a:ext cx="1051560" cy="356616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706624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50976" y="3246120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探索耐热益生菌活菌型产品</a:t>
            </a:r>
            <a:endParaRPr lang="en-US" sz="2500" dirty="0"/>
          </a:p>
        </p:txBody>
      </p:sp>
      <p:sp>
        <p:nvSpPr>
          <p:cNvPr id="10" name="Shape 7"/>
          <p:cNvSpPr/>
          <p:nvPr/>
        </p:nvSpPr>
        <p:spPr>
          <a:xfrm>
            <a:off x="667512" y="4398264"/>
            <a:ext cx="5449824" cy="1636776"/>
          </a:xfrm>
          <a:prstGeom prst="roundRect">
            <a:avLst/>
          </a:prstGeom>
          <a:solidFill>
            <a:srgbClr val="F5F1E7"/>
          </a:solidFill>
          <a:ln w="12700">
            <a:solidFill>
              <a:srgbClr val="F5F1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4672584"/>
            <a:ext cx="1051560" cy="356616"/>
          </a:xfrm>
          <a:prstGeom prst="roundRect">
            <a:avLst/>
          </a:prstGeom>
          <a:solidFill>
            <a:srgbClr val="EFF5ED"/>
          </a:solidFill>
          <a:ln w="12700">
            <a:solidFill>
              <a:srgbClr val="EFF5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4709160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50976" y="5175504"/>
            <a:ext cx="4882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结合后生元技术，开发更稳定的</a:t>
            </a:r>
            <a:endParaRPr lang="en-US" sz="2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3264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功能主食体系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629400" y="6099048"/>
            <a:ext cx="4864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食品发酵研发 · 概念配图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" y="64008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  /  开发方向探索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81360" y="634593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577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7E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PRODUCT 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335024"/>
            <a:ext cx="10872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不止于“添加菌”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94944" y="2414016"/>
            <a:ext cx="10780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7E8A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探索主食功能化的新路径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3721608"/>
            <a:ext cx="3328416" cy="1984248"/>
          </a:xfrm>
          <a:prstGeom prst="roundRect">
            <a:avLst/>
          </a:prstGeom>
          <a:solidFill>
            <a:srgbClr val="244D3B"/>
          </a:solidFill>
          <a:ln w="12700">
            <a:solidFill>
              <a:srgbClr val="244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977640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52628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健康主食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96112" y="523951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AC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以日常主食为产品载体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9704" y="3721608"/>
            <a:ext cx="3328416" cy="1984248"/>
          </a:xfrm>
          <a:prstGeom prst="roundRect">
            <a:avLst/>
          </a:prstGeom>
          <a:solidFill>
            <a:srgbClr val="244D3B"/>
          </a:solidFill>
          <a:ln w="12700">
            <a:solidFill>
              <a:srgbClr val="244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977640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452628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肠道健康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709160" y="523951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AC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以功能价值为研发目标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02752" y="3721608"/>
            <a:ext cx="3328416" cy="1984248"/>
          </a:xfrm>
          <a:prstGeom prst="roundRect">
            <a:avLst/>
          </a:prstGeom>
          <a:solidFill>
            <a:srgbClr val="244D3B"/>
          </a:solidFill>
          <a:ln w="12700">
            <a:solidFill>
              <a:srgbClr val="244D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3977640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22208" y="452628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工业可实现性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8522208" y="523951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AC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以稳定加工为落地要求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" y="64008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CEC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益生菌半干面  /  开发方向探索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345936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EC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益生菌半干面开发方向探索</dc:title>
  <dc:subject>从活菌递送到功能代谢物赋能</dc:subject>
  <dc:creator>食品研发</dc:creator>
  <cp:lastModifiedBy>食品研发</cp:lastModifiedBy>
  <cp:revision>1</cp:revision>
  <dcterms:created xsi:type="dcterms:W3CDTF">2026-10-12T12:33:01Z</dcterms:created>
  <dcterms:modified xsi:type="dcterms:W3CDTF">2026-10-12T12:33:01Z</dcterms:modified>
</cp:coreProperties>
</file>