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5"/>
    <p:sldId id="258" r:id="rId6"/>
  </p:sldIdLst>
  <p:sldSz cx="12193588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  <Relationship Id="rId5" Type="http://schemas.openxmlformats.org/officeDocument/2006/relationships/slide" Target="slides/slide2.xml"/>
  <Relationship Id="rId6" Type="http://schemas.openxmlformats.org/officeDocument/2006/relationships/slide" Target="slides/slide3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B2E08B-AD2C-4D1A-8069-18B1AC00D4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7680" y="607320"/>
            <a:ext cx="10969920" cy="7066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600" b="0" u="none" strike="noStrike">
                <a:solidFill>
                  <a:srgbClr val="262626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262626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7680" y="1490040"/>
            <a:ext cx="10969920" cy="4759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Wingdings" charset="2"/>
              <a:buChar char="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30000"/>
              </a:lnSpc>
              <a:spcAft>
                <a:spcPts val="1001"/>
              </a:spcAft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30000"/>
              </a:lnSpc>
              <a:spcAft>
                <a:spcPts val="1001"/>
              </a:spcAft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595959"/>
              </a:solidFill>
              <a:effectLst/>
              <a:uFillTx/>
              <a:latin typeface="Arial"/>
            </a:endParaRPr>
          </a:p>
          <a:p>
            <a:pPr marL="914400" lvl="1" indent="-457200" algn="l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595959"/>
              </a:solidFill>
              <a:effectLst/>
              <a:uFillTx/>
              <a:latin typeface="Arial"/>
            </a:endParaRPr>
          </a:p>
          <a:p>
            <a:pPr marL="914400" lvl="2" algn="l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595959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Wingdings" charset="2"/>
              <a:buChar char="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595959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595959"/>
              </a:solidFill>
              <a:effectLst/>
              <a:uFillTx/>
              <a:latin typeface="Arial"/>
            </a:endParaRPr>
          </a:p>
          <a:p>
            <a:pPr marL="2057400" lvl="5" indent="-228600" algn="l">
              <a:lnSpc>
                <a:spcPct val="130000"/>
              </a:lnSpc>
              <a:spcAft>
                <a:spcPts val="1001"/>
              </a:spcAft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595959"/>
              </a:solidFill>
              <a:effectLst/>
              <a:uFillTx/>
              <a:latin typeface="Arial"/>
            </a:endParaRPr>
          </a:p>
          <a:p>
            <a:pPr marL="2057400" lvl="6" indent="-228600" algn="l">
              <a:lnSpc>
                <a:spcPct val="130000"/>
              </a:lnSpc>
              <a:spcAft>
                <a:spcPts val="1001"/>
              </a:spcAft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595959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612720" y="6314760"/>
            <a:ext cx="2698560" cy="316080"/>
          </a:xfrm>
          <a:prstGeom prst="rect">
            <a:avLst/>
          </a:prstGeom>
          <a:noFill/>
          <a:ln w="3816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1000" b="0" u="none" strike="noStrike">
                <a:solidFill>
                  <a:srgbClr val="898989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E0026DC-15E2-45B6-B516-5D920DF69354}" type="datetime">
              <a:rPr lang="zh-CN" sz="1000" b="0" u="none" strike="noStrike">
                <a:solidFill>
                  <a:srgbClr val="898989"/>
                </a:solidFill>
                <a:effectLst/>
                <a:uFillTx/>
                <a:latin typeface="Arial"/>
              </a:rPr>
              <a:t>26/10/12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116240" y="6314760"/>
            <a:ext cx="3959280" cy="316080"/>
          </a:xfrm>
          <a:prstGeom prst="rect">
            <a:avLst/>
          </a:prstGeom>
          <a:noFill/>
          <a:ln w="3816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876880" y="6314760"/>
            <a:ext cx="2700360" cy="316080"/>
          </a:xfrm>
          <a:prstGeom prst="rect">
            <a:avLst/>
          </a:prstGeom>
          <a:noFill/>
          <a:ln w="3816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1000" b="0" u="none" strike="noStrike">
                <a:solidFill>
                  <a:srgbClr val="898989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F2D307C-22CC-44D2-901A-49E1341A3829}" type="slidenum">
              <a:rPr lang="zh-CN" sz="1000" b="0" u="none" strike="noStrike">
                <a:solidFill>
                  <a:srgbClr val="898989"/>
                </a:solidFill>
                <a:effectLst/>
                <a:uFillTx/>
                <a:latin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Relationship Id="rId100" Type="http://schemas.openxmlformats.org/officeDocument/2006/relationships/image" Target="../media/content_1_image-1-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Relationship Id="rId100" Type="http://schemas.openxmlformats.org/officeDocument/2006/relationships/hyperlink" Target="https://www.bigelowtea.com/products/lemon-ginger-plus-probiotics-herbal-tea" TargetMode="External"/><Relationship Id="rId101" Type="http://schemas.openxmlformats.org/officeDocument/2006/relationships/hyperlink" Target="https://www.bc30probiotic.com/" TargetMode="External"/><Relationship Id="rId102" Type="http://schemas.openxmlformats.org/officeDocument/2006/relationships/hyperlink" Target="https://www.calpis-shop.jp/" TargetMode="External"/><Relationship Id="rId103" Type="http://schemas.openxmlformats.org/officeDocument/2006/relationships/hyperlink" Target="https://doi.org/10.1093/ajcn/64.5.767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33"/>
          <p:cNvSpPr/>
          <p:nvPr/>
        </p:nvSpPr>
        <p:spPr>
          <a:xfrm>
            <a:off x="253800" y="179280"/>
            <a:ext cx="165240" cy="441360"/>
          </a:xfrm>
          <a:prstGeom prst="rect">
            <a:avLst/>
          </a:prstGeom>
          <a:gradFill rotWithShape="0">
            <a:gsLst>
              <a:gs pos="0">
                <a:srgbClr val="56AD3C"/>
              </a:gs>
              <a:gs pos="100000">
                <a:srgbClr val="51B534"/>
              </a:gs>
            </a:gsLst>
            <a:lin ang="10800000"/>
          </a:gra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矩形 34"/>
          <p:cNvSpPr/>
          <p:nvPr/>
        </p:nvSpPr>
        <p:spPr>
          <a:xfrm>
            <a:off x="125280" y="174600"/>
            <a:ext cx="76320" cy="446040"/>
          </a:xfrm>
          <a:prstGeom prst="rect">
            <a:avLst/>
          </a:prstGeom>
          <a:gradFill rotWithShape="0">
            <a:gsLst>
              <a:gs pos="0">
                <a:srgbClr val="56AD3C"/>
              </a:gs>
              <a:gs pos="100000">
                <a:srgbClr val="51B534"/>
              </a:gs>
            </a:gsLst>
            <a:lin ang="10800000"/>
          </a:gra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图片 44"/>
          <p:cNvPicPr/>
          <p:nvPr/>
        </p:nvPicPr>
        <p:blipFill>
          <a:blip r:embed="rId1"/>
          <a:stretch/>
        </p:blipFill>
        <p:spPr>
          <a:xfrm>
            <a:off x="7764120" y="114120"/>
            <a:ext cx="1860840" cy="652320"/>
          </a:xfrm>
          <a:prstGeom prst="rect">
            <a:avLst/>
          </a:prstGeom>
          <a:noFill/>
          <a:ln w="38160">
            <a:noFill/>
          </a:ln>
        </p:spPr>
      </p:pic>
      <p:grpSp>
        <p:nvGrpSpPr>
          <p:cNvPr id="10" name="组合 38"/>
          <p:cNvGrpSpPr/>
          <p:nvPr/>
        </p:nvGrpSpPr>
        <p:grpSpPr>
          <a:xfrm>
            <a:off x="9721800" y="129960"/>
            <a:ext cx="2435040" cy="601560"/>
            <a:chOff x="9721800" y="129960"/>
            <a:chExt cx="2435040" cy="601560"/>
          </a:xfrm>
        </p:grpSpPr>
        <p:pic>
          <p:nvPicPr>
            <p:cNvPr id="11" name="图片 39"/>
            <p:cNvPicPr/>
            <p:nvPr/>
          </p:nvPicPr>
          <p:blipFill>
            <a:blip r:embed="rId2"/>
            <a:stretch/>
          </p:blipFill>
          <p:spPr>
            <a:xfrm>
              <a:off x="9721800" y="129960"/>
              <a:ext cx="838080" cy="601560"/>
            </a:xfrm>
            <a:prstGeom prst="rect">
              <a:avLst/>
            </a:prstGeom>
            <a:noFill/>
            <a:ln w="38160">
              <a:noFill/>
            </a:ln>
          </p:spPr>
        </p:pic>
        <p:pic>
          <p:nvPicPr>
            <p:cNvPr id="12" name="图片 40"/>
            <p:cNvPicPr/>
            <p:nvPr/>
          </p:nvPicPr>
          <p:blipFill>
            <a:blip r:embed="rId3"/>
            <a:srcRect l="3302" t="0" r="0" b="-95"/>
            <a:stretch/>
          </p:blipFill>
          <p:spPr>
            <a:xfrm>
              <a:off x="10550880" y="129960"/>
              <a:ext cx="1605960" cy="601560"/>
            </a:xfrm>
            <a:prstGeom prst="rect">
              <a:avLst/>
            </a:prstGeom>
            <a:noFill/>
            <a:ln w="38160">
              <a:noFill/>
            </a:ln>
          </p:spPr>
        </p:pic>
      </p:grpSp>
      <p:sp>
        <p:nvSpPr>
          <p:cNvPr id="13" name="Text 0"/>
          <p:cNvSpPr/>
          <p:nvPr/>
        </p:nvSpPr>
        <p:spPr>
          <a:xfrm>
            <a:off x="521208" y="173736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产品设想</a:t>
            </a:r>
            <a:endParaRPr lang="en-US" sz="2900" dirty="0"/>
          </a:p>
        </p:txBody>
      </p:sp>
      <p:sp>
        <p:nvSpPr>
          <p:cNvPr id="14" name="Text 1"/>
          <p:cNvSpPr/>
          <p:nvPr/>
        </p:nvSpPr>
        <p:spPr>
          <a:xfrm>
            <a:off x="594360" y="64282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66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益生菌半干面研发探索</a:t>
            </a:r>
            <a:endParaRPr lang="en-US" sz="1000" dirty="0"/>
          </a:p>
        </p:txBody>
      </p:sp>
      <p:sp>
        <p:nvSpPr>
          <p:cNvPr id="15" name="Text 2"/>
          <p:cNvSpPr/>
          <p:nvPr/>
        </p:nvSpPr>
        <p:spPr>
          <a:xfrm>
            <a:off x="10972800" y="64008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Shape 3"/>
          <p:cNvSpPr/>
          <p:nvPr/>
        </p:nvSpPr>
        <p:spPr>
          <a:xfrm>
            <a:off x="603504" y="1280160"/>
            <a:ext cx="1645920" cy="32918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17" name="Text 4"/>
          <p:cNvSpPr/>
          <p:nvPr/>
        </p:nvSpPr>
        <p:spPr>
          <a:xfrm>
            <a:off x="704088" y="131673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功能主食探索</a:t>
            </a:r>
            <a:endParaRPr lang="en-US" sz="1100" dirty="0"/>
          </a:p>
        </p:txBody>
      </p:sp>
      <p:sp>
        <p:nvSpPr>
          <p:cNvPr id="18" name="Text 5"/>
          <p:cNvSpPr/>
          <p:nvPr/>
        </p:nvSpPr>
        <p:spPr>
          <a:xfrm>
            <a:off x="594360" y="1901952"/>
            <a:ext cx="5760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益生菌半干面</a:t>
            </a:r>
            <a:endParaRPr lang="en-US" sz="3700" dirty="0"/>
          </a:p>
        </p:txBody>
      </p:sp>
      <p:sp>
        <p:nvSpPr>
          <p:cNvPr id="19" name="Text 6"/>
          <p:cNvSpPr/>
          <p:nvPr/>
        </p:nvSpPr>
        <p:spPr>
          <a:xfrm>
            <a:off x="630936" y="2889504"/>
            <a:ext cx="5897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将益生菌技术融入日常主食，</a:t>
            </a:r>
            <a:endParaRPr lang="en-US" sz="2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探索具有肠道健康价值的新型功能食品。</a:t>
            </a:r>
            <a:endParaRPr lang="en-US" sz="2200" dirty="0"/>
          </a:p>
        </p:txBody>
      </p:sp>
      <p:sp>
        <p:nvSpPr>
          <p:cNvPr id="20" name="Shape 7"/>
          <p:cNvSpPr/>
          <p:nvPr/>
        </p:nvSpPr>
        <p:spPr>
          <a:xfrm>
            <a:off x="621792" y="4197096"/>
            <a:ext cx="2660904" cy="1316736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21" name="Text 8"/>
          <p:cNvSpPr/>
          <p:nvPr/>
        </p:nvSpPr>
        <p:spPr>
          <a:xfrm>
            <a:off x="804672" y="4416552"/>
            <a:ext cx="22951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活菌型</a:t>
            </a:r>
            <a:endParaRPr lang="en-US" sz="2500" dirty="0"/>
          </a:p>
        </p:txBody>
      </p:sp>
      <p:sp>
        <p:nvSpPr>
          <p:cNvPr id="22" name="Text 9"/>
          <p:cNvSpPr/>
          <p:nvPr/>
        </p:nvSpPr>
        <p:spPr>
          <a:xfrm>
            <a:off x="804672" y="499262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66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以活菌递送为核心</a:t>
            </a:r>
            <a:endParaRPr lang="en-US" sz="1500" dirty="0"/>
          </a:p>
        </p:txBody>
      </p:sp>
      <p:sp>
        <p:nvSpPr>
          <p:cNvPr id="23" name="Shape 10"/>
          <p:cNvSpPr/>
          <p:nvPr/>
        </p:nvSpPr>
        <p:spPr>
          <a:xfrm>
            <a:off x="3611880" y="4197096"/>
            <a:ext cx="2660904" cy="1316736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24" name="Text 11"/>
          <p:cNvSpPr/>
          <p:nvPr/>
        </p:nvSpPr>
        <p:spPr>
          <a:xfrm>
            <a:off x="3794760" y="4416552"/>
            <a:ext cx="22951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功能成分型</a:t>
            </a:r>
            <a:endParaRPr lang="en-US" sz="2500" dirty="0"/>
          </a:p>
        </p:txBody>
      </p:sp>
      <p:sp>
        <p:nvSpPr>
          <p:cNvPr id="25" name="Text 12"/>
          <p:cNvSpPr/>
          <p:nvPr/>
        </p:nvSpPr>
        <p:spPr>
          <a:xfrm>
            <a:off x="3794760" y="499262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66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以发酵功能成分为核心</a:t>
            </a:r>
            <a:endParaRPr lang="en-US" sz="1500" dirty="0"/>
          </a:p>
        </p:txBody>
      </p:sp>
      <p:pic>
        <p:nvPicPr>
          <p:cNvPr id="26" name="Image 0" descr="AI生成的半干面概念配图">    </p:cNvPr>
          <p:cNvPicPr>
            <a:picLocks noChangeAspect="1"/>
          </p:cNvPicPr>
          <p:nvPr/>
        </p:nvPicPr>
        <p:blipFill>
          <a:blip r:embed="rId100"/>
          <a:srcRect l="18879" r="18879" t="0" b="0"/>
          <a:stretch/>
        </p:blipFill>
        <p:spPr>
          <a:xfrm>
            <a:off x="6839712" y="1344168"/>
            <a:ext cx="4773168" cy="4315968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6858000" y="5751576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6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面食概念配图</a:t>
            </a:r>
            <a:endParaRPr lang="en-US" sz="1000" dirty="0"/>
          </a:p>
        </p:txBody>
      </p:sp>
      <p:sp>
        <p:nvSpPr>
          <p:cNvPr id="28" name="Text 14"/>
          <p:cNvSpPr/>
          <p:nvPr/>
        </p:nvSpPr>
        <p:spPr>
          <a:xfrm>
            <a:off x="640080" y="6007608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健康主食  +  肠道健康  +  工业可实现性</a:t>
            </a:r>
            <a:endParaRPr lang="en-US" sz="2200" dirty="0"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33"/>
          <p:cNvSpPr/>
          <p:nvPr/>
        </p:nvSpPr>
        <p:spPr>
          <a:xfrm>
            <a:off x="253800" y="179280"/>
            <a:ext cx="165240" cy="441360"/>
          </a:xfrm>
          <a:prstGeom prst="rect">
            <a:avLst/>
          </a:prstGeom>
          <a:gradFill rotWithShape="0">
            <a:gsLst>
              <a:gs pos="0">
                <a:srgbClr val="56AD3C"/>
              </a:gs>
              <a:gs pos="100000">
                <a:srgbClr val="51B534"/>
              </a:gs>
            </a:gsLst>
            <a:lin ang="10800000"/>
          </a:gra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矩形 34"/>
          <p:cNvSpPr/>
          <p:nvPr/>
        </p:nvSpPr>
        <p:spPr>
          <a:xfrm>
            <a:off x="125280" y="174600"/>
            <a:ext cx="76320" cy="446040"/>
          </a:xfrm>
          <a:prstGeom prst="rect">
            <a:avLst/>
          </a:prstGeom>
          <a:gradFill rotWithShape="0">
            <a:gsLst>
              <a:gs pos="0">
                <a:srgbClr val="56AD3C"/>
              </a:gs>
              <a:gs pos="100000">
                <a:srgbClr val="51B534"/>
              </a:gs>
            </a:gsLst>
            <a:lin ang="10800000"/>
          </a:gra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图片 44"/>
          <p:cNvPicPr/>
          <p:nvPr/>
        </p:nvPicPr>
        <p:blipFill>
          <a:blip r:embed="rId1"/>
          <a:stretch/>
        </p:blipFill>
        <p:spPr>
          <a:xfrm>
            <a:off x="7764120" y="114120"/>
            <a:ext cx="1860840" cy="652320"/>
          </a:xfrm>
          <a:prstGeom prst="rect">
            <a:avLst/>
          </a:prstGeom>
          <a:noFill/>
          <a:ln w="38160">
            <a:noFill/>
          </a:ln>
        </p:spPr>
      </p:pic>
      <p:grpSp>
        <p:nvGrpSpPr>
          <p:cNvPr id="10" name="组合 38"/>
          <p:cNvGrpSpPr/>
          <p:nvPr/>
        </p:nvGrpSpPr>
        <p:grpSpPr>
          <a:xfrm>
            <a:off x="9721800" y="129960"/>
            <a:ext cx="2435040" cy="601560"/>
            <a:chOff x="9721800" y="129960"/>
            <a:chExt cx="2435040" cy="601560"/>
          </a:xfrm>
        </p:grpSpPr>
        <p:pic>
          <p:nvPicPr>
            <p:cNvPr id="11" name="图片 39"/>
            <p:cNvPicPr/>
            <p:nvPr/>
          </p:nvPicPr>
          <p:blipFill>
            <a:blip r:embed="rId2"/>
            <a:stretch/>
          </p:blipFill>
          <p:spPr>
            <a:xfrm>
              <a:off x="9721800" y="129960"/>
              <a:ext cx="838080" cy="601560"/>
            </a:xfrm>
            <a:prstGeom prst="rect">
              <a:avLst/>
            </a:prstGeom>
            <a:noFill/>
            <a:ln w="38160">
              <a:noFill/>
            </a:ln>
          </p:spPr>
        </p:pic>
        <p:pic>
          <p:nvPicPr>
            <p:cNvPr id="12" name="图片 40"/>
            <p:cNvPicPr/>
            <p:nvPr/>
          </p:nvPicPr>
          <p:blipFill>
            <a:blip r:embed="rId3"/>
            <a:srcRect l="3302" t="0" r="0" b="-95"/>
            <a:stretch/>
          </p:blipFill>
          <p:spPr>
            <a:xfrm>
              <a:off x="10550880" y="129960"/>
              <a:ext cx="1605960" cy="601560"/>
            </a:xfrm>
            <a:prstGeom prst="rect">
              <a:avLst/>
            </a:prstGeom>
            <a:noFill/>
            <a:ln w="38160">
              <a:noFill/>
            </a:ln>
          </p:spPr>
        </p:pic>
      </p:grpSp>
      <p:sp>
        <p:nvSpPr>
          <p:cNvPr id="13" name="Text 0"/>
          <p:cNvSpPr/>
          <p:nvPr/>
        </p:nvSpPr>
        <p:spPr>
          <a:xfrm>
            <a:off x="521208" y="173736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两条技术路线：优势与可能的问题</a:t>
            </a:r>
            <a:endParaRPr lang="en-US" sz="2900" dirty="0"/>
          </a:p>
        </p:txBody>
      </p:sp>
      <p:sp>
        <p:nvSpPr>
          <p:cNvPr id="14" name="Text 1"/>
          <p:cNvSpPr/>
          <p:nvPr/>
        </p:nvSpPr>
        <p:spPr>
          <a:xfrm>
            <a:off x="594360" y="64282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66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益生菌半干面研发探索</a:t>
            </a:r>
            <a:endParaRPr lang="en-US" sz="1000" dirty="0"/>
          </a:p>
        </p:txBody>
      </p:sp>
      <p:sp>
        <p:nvSpPr>
          <p:cNvPr id="15" name="Text 2"/>
          <p:cNvSpPr/>
          <p:nvPr/>
        </p:nvSpPr>
        <p:spPr>
          <a:xfrm>
            <a:off x="10972800" y="64008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Shape 3"/>
          <p:cNvSpPr/>
          <p:nvPr/>
        </p:nvSpPr>
        <p:spPr>
          <a:xfrm>
            <a:off x="594360" y="1271016"/>
            <a:ext cx="1554480" cy="32918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17" name="Text 4"/>
          <p:cNvSpPr/>
          <p:nvPr/>
        </p:nvSpPr>
        <p:spPr>
          <a:xfrm>
            <a:off x="694944" y="130759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活菌递送</a:t>
            </a:r>
            <a:endParaRPr lang="en-US" sz="1100" dirty="0"/>
          </a:p>
        </p:txBody>
      </p:sp>
      <p:sp>
        <p:nvSpPr>
          <p:cNvPr id="18" name="Text 5"/>
          <p:cNvSpPr/>
          <p:nvPr/>
        </p:nvSpPr>
        <p:spPr>
          <a:xfrm>
            <a:off x="594360" y="1819656"/>
            <a:ext cx="51755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活菌型益生菌半干面</a:t>
            </a:r>
            <a:endParaRPr lang="en-US" sz="2600" dirty="0"/>
          </a:p>
        </p:txBody>
      </p:sp>
      <p:sp>
        <p:nvSpPr>
          <p:cNvPr id="19" name="Shape 6"/>
          <p:cNvSpPr/>
          <p:nvPr/>
        </p:nvSpPr>
        <p:spPr>
          <a:xfrm>
            <a:off x="594360" y="2606040"/>
            <a:ext cx="1508760" cy="65836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20" name="Text 7"/>
          <p:cNvSpPr/>
          <p:nvPr/>
        </p:nvSpPr>
        <p:spPr>
          <a:xfrm>
            <a:off x="649224" y="2761488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添加活菌</a:t>
            </a:r>
            <a:endParaRPr lang="en-US" sz="1700" dirty="0"/>
          </a:p>
        </p:txBody>
      </p:sp>
      <p:sp>
        <p:nvSpPr>
          <p:cNvPr id="21" name="Shape 8"/>
          <p:cNvSpPr/>
          <p:nvPr/>
        </p:nvSpPr>
        <p:spPr>
          <a:xfrm>
            <a:off x="2176272" y="2816352"/>
            <a:ext cx="274320" cy="228600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22" name="Shape 9"/>
          <p:cNvSpPr/>
          <p:nvPr/>
        </p:nvSpPr>
        <p:spPr>
          <a:xfrm>
            <a:off x="2414016" y="2606040"/>
            <a:ext cx="1508760" cy="65836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23" name="Text 10"/>
          <p:cNvSpPr/>
          <p:nvPr/>
        </p:nvSpPr>
        <p:spPr>
          <a:xfrm>
            <a:off x="2468880" y="2761488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加工 / 储藏</a:t>
            </a:r>
            <a:endParaRPr lang="en-US" sz="1700" dirty="0"/>
          </a:p>
        </p:txBody>
      </p:sp>
      <p:sp>
        <p:nvSpPr>
          <p:cNvPr id="24" name="Shape 11"/>
          <p:cNvSpPr/>
          <p:nvPr/>
        </p:nvSpPr>
        <p:spPr>
          <a:xfrm>
            <a:off x="3995928" y="2816352"/>
            <a:ext cx="274320" cy="228600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25" name="Shape 12"/>
          <p:cNvSpPr/>
          <p:nvPr/>
        </p:nvSpPr>
        <p:spPr>
          <a:xfrm>
            <a:off x="4233672" y="2606040"/>
            <a:ext cx="1508760" cy="65836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26" name="Text 13"/>
          <p:cNvSpPr/>
          <p:nvPr/>
        </p:nvSpPr>
        <p:spPr>
          <a:xfrm>
            <a:off x="4288536" y="2761488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煮制后摄入</a:t>
            </a:r>
            <a:endParaRPr lang="en-US" sz="1700" dirty="0"/>
          </a:p>
        </p:txBody>
      </p:sp>
      <p:sp>
        <p:nvSpPr>
          <p:cNvPr id="27" name="Text 14"/>
          <p:cNvSpPr/>
          <p:nvPr/>
        </p:nvSpPr>
        <p:spPr>
          <a:xfrm>
            <a:off x="594360" y="363016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</a:t>
            </a:r>
            <a:endParaRPr lang="en-US" sz="1800" dirty="0"/>
          </a:p>
        </p:txBody>
      </p:sp>
      <p:sp>
        <p:nvSpPr>
          <p:cNvPr id="28" name="Text 15"/>
          <p:cNvSpPr/>
          <p:nvPr/>
        </p:nvSpPr>
        <p:spPr>
          <a:xfrm>
            <a:off x="1527048" y="3584448"/>
            <a:ext cx="43708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“益生菌”概念明确，消费者易理解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耐受性菌株或芽孢可提供开发切入点</a:t>
            </a:r>
            <a:endParaRPr lang="en-US" sz="1700" dirty="0"/>
          </a:p>
        </p:txBody>
      </p:sp>
      <p:sp>
        <p:nvSpPr>
          <p:cNvPr id="29" name="Text 16"/>
          <p:cNvSpPr/>
          <p:nvPr/>
        </p:nvSpPr>
        <p:spPr>
          <a:xfrm>
            <a:off x="594360" y="4626864"/>
            <a:ext cx="923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D372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可能问题</a:t>
            </a:r>
            <a:endParaRPr lang="en-US" sz="1600" dirty="0"/>
          </a:p>
        </p:txBody>
      </p:sp>
      <p:sp>
        <p:nvSpPr>
          <p:cNvPr id="30" name="Text 17"/>
          <p:cNvSpPr/>
          <p:nvPr/>
        </p:nvSpPr>
        <p:spPr>
          <a:xfrm>
            <a:off x="1527048" y="4581144"/>
            <a:ext cx="43708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添加时点与加工损失</a:t>
            </a:r>
            <a:endParaRPr lang="en-US" sz="1600" dirty="0"/>
          </a:p>
          <a:p>
            <a:pPr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储藏期菌数保持、煮制高温损失</a:t>
            </a:r>
            <a:endParaRPr lang="en-US" sz="1600" dirty="0"/>
          </a:p>
          <a:p>
            <a:pPr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需验证菌株安全性与实际摄入活菌量</a:t>
            </a:r>
            <a:endParaRPr lang="en-US" sz="1600" dirty="0"/>
          </a:p>
        </p:txBody>
      </p:sp>
      <p:sp>
        <p:nvSpPr>
          <p:cNvPr id="31" name="Shape 18"/>
          <p:cNvSpPr/>
          <p:nvPr/>
        </p:nvSpPr>
        <p:spPr>
          <a:xfrm>
            <a:off x="594360" y="5870448"/>
            <a:ext cx="5193792" cy="356616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32" name="Text 19"/>
          <p:cNvSpPr/>
          <p:nvPr/>
        </p:nvSpPr>
        <p:spPr>
          <a:xfrm>
            <a:off x="722376" y="590702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重点：耐加工、耐储藏、耐热菌株</a:t>
            </a:r>
            <a:endParaRPr lang="en-US" sz="1300" dirty="0"/>
          </a:p>
        </p:txBody>
      </p:sp>
      <p:sp>
        <p:nvSpPr>
          <p:cNvPr id="33" name="Shape 20"/>
          <p:cNvSpPr/>
          <p:nvPr/>
        </p:nvSpPr>
        <p:spPr>
          <a:xfrm>
            <a:off x="6409944" y="1271016"/>
            <a:ext cx="1554480" cy="32918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34" name="Text 21"/>
          <p:cNvSpPr/>
          <p:nvPr/>
        </p:nvSpPr>
        <p:spPr>
          <a:xfrm>
            <a:off x="6510528" y="130759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功能成分应用</a:t>
            </a:r>
            <a:endParaRPr lang="en-US" sz="1100" dirty="0"/>
          </a:p>
        </p:txBody>
      </p:sp>
      <p:sp>
        <p:nvSpPr>
          <p:cNvPr id="35" name="Text 22"/>
          <p:cNvSpPr/>
          <p:nvPr/>
        </p:nvSpPr>
        <p:spPr>
          <a:xfrm>
            <a:off x="6409944" y="1819656"/>
            <a:ext cx="51755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功能代谢产物型半干面</a:t>
            </a:r>
            <a:endParaRPr lang="en-US" sz="2600" dirty="0"/>
          </a:p>
        </p:txBody>
      </p:sp>
      <p:sp>
        <p:nvSpPr>
          <p:cNvPr id="36" name="Shape 23"/>
          <p:cNvSpPr/>
          <p:nvPr/>
        </p:nvSpPr>
        <p:spPr>
          <a:xfrm>
            <a:off x="6409944" y="2606040"/>
            <a:ext cx="1508760" cy="65836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37" name="Text 24"/>
          <p:cNvSpPr/>
          <p:nvPr/>
        </p:nvSpPr>
        <p:spPr>
          <a:xfrm>
            <a:off x="6464808" y="2761488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益生菌发酵</a:t>
            </a:r>
            <a:endParaRPr lang="en-US" sz="1700" dirty="0"/>
          </a:p>
        </p:txBody>
      </p:sp>
      <p:sp>
        <p:nvSpPr>
          <p:cNvPr id="38" name="Shape 25"/>
          <p:cNvSpPr/>
          <p:nvPr/>
        </p:nvSpPr>
        <p:spPr>
          <a:xfrm>
            <a:off x="7991856" y="2816352"/>
            <a:ext cx="274320" cy="228600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39" name="Shape 26"/>
          <p:cNvSpPr/>
          <p:nvPr/>
        </p:nvSpPr>
        <p:spPr>
          <a:xfrm>
            <a:off x="8229600" y="2606040"/>
            <a:ext cx="1508760" cy="65836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40" name="Text 27"/>
          <p:cNvSpPr/>
          <p:nvPr/>
        </p:nvSpPr>
        <p:spPr>
          <a:xfrm>
            <a:off x="8284464" y="2761488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提取 / 保留</a:t>
            </a:r>
            <a:endParaRPr lang="en-US" sz="1700" dirty="0"/>
          </a:p>
        </p:txBody>
      </p:sp>
      <p:sp>
        <p:nvSpPr>
          <p:cNvPr id="41" name="Shape 28"/>
          <p:cNvSpPr/>
          <p:nvPr/>
        </p:nvSpPr>
        <p:spPr>
          <a:xfrm>
            <a:off x="9811512" y="2816352"/>
            <a:ext cx="274320" cy="228600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42" name="Shape 29"/>
          <p:cNvSpPr/>
          <p:nvPr/>
        </p:nvSpPr>
        <p:spPr>
          <a:xfrm>
            <a:off x="10049256" y="2606040"/>
            <a:ext cx="1508760" cy="65836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43" name="Text 30"/>
          <p:cNvSpPr/>
          <p:nvPr/>
        </p:nvSpPr>
        <p:spPr>
          <a:xfrm>
            <a:off x="10104120" y="2761488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加入面制品</a:t>
            </a:r>
            <a:endParaRPr lang="en-US" sz="1700" dirty="0"/>
          </a:p>
        </p:txBody>
      </p:sp>
      <p:sp>
        <p:nvSpPr>
          <p:cNvPr id="44" name="Text 31"/>
          <p:cNvSpPr/>
          <p:nvPr/>
        </p:nvSpPr>
        <p:spPr>
          <a:xfrm>
            <a:off x="6409944" y="363016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</a:t>
            </a:r>
            <a:endParaRPr lang="en-US" sz="1800" dirty="0"/>
          </a:p>
        </p:txBody>
      </p:sp>
      <p:sp>
        <p:nvSpPr>
          <p:cNvPr id="45" name="Text 32"/>
          <p:cNvSpPr/>
          <p:nvPr/>
        </p:nvSpPr>
        <p:spPr>
          <a:xfrm>
            <a:off x="7342632" y="3584448"/>
            <a:ext cx="43708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不依赖产品中的活菌存活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具备适配热加工与工业化的探索潜力</a:t>
            </a:r>
            <a:endParaRPr lang="en-US" sz="1700" dirty="0"/>
          </a:p>
        </p:txBody>
      </p:sp>
      <p:sp>
        <p:nvSpPr>
          <p:cNvPr id="46" name="Text 33"/>
          <p:cNvSpPr/>
          <p:nvPr/>
        </p:nvSpPr>
        <p:spPr>
          <a:xfrm>
            <a:off x="6409944" y="4626864"/>
            <a:ext cx="923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D372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可能问题</a:t>
            </a:r>
            <a:endParaRPr lang="en-US" sz="1600" dirty="0"/>
          </a:p>
        </p:txBody>
      </p:sp>
      <p:sp>
        <p:nvSpPr>
          <p:cNvPr id="47" name="Text 34"/>
          <p:cNvSpPr/>
          <p:nvPr/>
        </p:nvSpPr>
        <p:spPr>
          <a:xfrm>
            <a:off x="7342632" y="4581144"/>
            <a:ext cx="43708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成分种类、含量与加工稳定性</a:t>
            </a:r>
            <a:endParaRPr lang="en-US" sz="1600" dirty="0"/>
          </a:p>
          <a:p>
            <a:pPr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建立功能评价体系与合规表达</a:t>
            </a:r>
            <a:endParaRPr lang="en-US" sz="1600" dirty="0"/>
          </a:p>
          <a:p>
            <a:pPr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EPS / 有机酸 / 活性肽 / 细菌素的适配性</a:t>
            </a:r>
            <a:endParaRPr lang="en-US" sz="1600" dirty="0"/>
          </a:p>
        </p:txBody>
      </p:sp>
      <p:sp>
        <p:nvSpPr>
          <p:cNvPr id="48" name="Shape 35"/>
          <p:cNvSpPr/>
          <p:nvPr/>
        </p:nvSpPr>
        <p:spPr>
          <a:xfrm>
            <a:off x="6409944" y="5870448"/>
            <a:ext cx="5193792" cy="356616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6537960" y="590702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重点：成分稳定性与功能验证</a:t>
            </a:r>
            <a:endParaRPr lang="en-US" sz="1300" dirty="0"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33"/>
          <p:cNvSpPr/>
          <p:nvPr/>
        </p:nvSpPr>
        <p:spPr>
          <a:xfrm>
            <a:off x="253800" y="179280"/>
            <a:ext cx="165240" cy="441360"/>
          </a:xfrm>
          <a:prstGeom prst="rect">
            <a:avLst/>
          </a:prstGeom>
          <a:gradFill rotWithShape="0">
            <a:gsLst>
              <a:gs pos="0">
                <a:srgbClr val="56AD3C"/>
              </a:gs>
              <a:gs pos="100000">
                <a:srgbClr val="51B534"/>
              </a:gs>
            </a:gsLst>
            <a:lin ang="10800000"/>
          </a:gra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矩形 34"/>
          <p:cNvSpPr/>
          <p:nvPr/>
        </p:nvSpPr>
        <p:spPr>
          <a:xfrm>
            <a:off x="125280" y="174600"/>
            <a:ext cx="76320" cy="446040"/>
          </a:xfrm>
          <a:prstGeom prst="rect">
            <a:avLst/>
          </a:prstGeom>
          <a:gradFill rotWithShape="0">
            <a:gsLst>
              <a:gs pos="0">
                <a:srgbClr val="56AD3C"/>
              </a:gs>
              <a:gs pos="100000">
                <a:srgbClr val="51B534"/>
              </a:gs>
            </a:gsLst>
            <a:lin ang="10800000"/>
          </a:gra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图片 44"/>
          <p:cNvPicPr/>
          <p:nvPr/>
        </p:nvPicPr>
        <p:blipFill>
          <a:blip r:embed="rId1"/>
          <a:stretch/>
        </p:blipFill>
        <p:spPr>
          <a:xfrm>
            <a:off x="7764120" y="114120"/>
            <a:ext cx="1860840" cy="652320"/>
          </a:xfrm>
          <a:prstGeom prst="rect">
            <a:avLst/>
          </a:prstGeom>
          <a:noFill/>
          <a:ln w="38160">
            <a:noFill/>
          </a:ln>
        </p:spPr>
      </p:pic>
      <p:grpSp>
        <p:nvGrpSpPr>
          <p:cNvPr id="10" name="组合 38"/>
          <p:cNvGrpSpPr/>
          <p:nvPr/>
        </p:nvGrpSpPr>
        <p:grpSpPr>
          <a:xfrm>
            <a:off x="9721800" y="129960"/>
            <a:ext cx="2435040" cy="601560"/>
            <a:chOff x="9721800" y="129960"/>
            <a:chExt cx="2435040" cy="601560"/>
          </a:xfrm>
        </p:grpSpPr>
        <p:pic>
          <p:nvPicPr>
            <p:cNvPr id="11" name="图片 39"/>
            <p:cNvPicPr/>
            <p:nvPr/>
          </p:nvPicPr>
          <p:blipFill>
            <a:blip r:embed="rId2"/>
            <a:stretch/>
          </p:blipFill>
          <p:spPr>
            <a:xfrm>
              <a:off x="9721800" y="129960"/>
              <a:ext cx="838080" cy="601560"/>
            </a:xfrm>
            <a:prstGeom prst="rect">
              <a:avLst/>
            </a:prstGeom>
            <a:noFill/>
            <a:ln w="38160">
              <a:noFill/>
            </a:ln>
          </p:spPr>
        </p:pic>
        <p:pic>
          <p:nvPicPr>
            <p:cNvPr id="12" name="图片 40"/>
            <p:cNvPicPr/>
            <p:nvPr/>
          </p:nvPicPr>
          <p:blipFill>
            <a:blip r:embed="rId3"/>
            <a:srcRect l="3302" t="0" r="0" b="-95"/>
            <a:stretch/>
          </p:blipFill>
          <p:spPr>
            <a:xfrm>
              <a:off x="10550880" y="129960"/>
              <a:ext cx="1605960" cy="601560"/>
            </a:xfrm>
            <a:prstGeom prst="rect">
              <a:avLst/>
            </a:prstGeom>
            <a:noFill/>
            <a:ln w="38160">
              <a:noFill/>
            </a:ln>
          </p:spPr>
        </p:pic>
      </p:grpSp>
      <p:sp>
        <p:nvSpPr>
          <p:cNvPr id="13" name="Text 0"/>
          <p:cNvSpPr/>
          <p:nvPr/>
        </p:nvSpPr>
        <p:spPr>
          <a:xfrm>
            <a:off x="521208" y="173736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两条技术路线的引用参考</a:t>
            </a:r>
            <a:endParaRPr lang="en-US" sz="2900" dirty="0"/>
          </a:p>
        </p:txBody>
      </p:sp>
      <p:sp>
        <p:nvSpPr>
          <p:cNvPr id="14" name="Text 1"/>
          <p:cNvSpPr/>
          <p:nvPr/>
        </p:nvSpPr>
        <p:spPr>
          <a:xfrm>
            <a:off x="594360" y="64282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66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益生菌半干面研发探索</a:t>
            </a:r>
            <a:endParaRPr lang="en-US" sz="1000" dirty="0"/>
          </a:p>
        </p:txBody>
      </p:sp>
      <p:sp>
        <p:nvSpPr>
          <p:cNvPr id="15" name="Text 2"/>
          <p:cNvSpPr/>
          <p:nvPr/>
        </p:nvSpPr>
        <p:spPr>
          <a:xfrm>
            <a:off x="10972800" y="64008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3"/>
          <p:cNvSpPr/>
          <p:nvPr/>
        </p:nvSpPr>
        <p:spPr>
          <a:xfrm>
            <a:off x="621792" y="1170432"/>
            <a:ext cx="10917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866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商业参考与技术依据分别呈现；案例不代表半干面已完成验证。</a:t>
            </a:r>
            <a:endParaRPr lang="en-US" sz="1800" dirty="0"/>
          </a:p>
        </p:txBody>
      </p:sp>
      <p:sp>
        <p:nvSpPr>
          <p:cNvPr id="17" name="Shape 4"/>
          <p:cNvSpPr/>
          <p:nvPr/>
        </p:nvSpPr>
        <p:spPr>
          <a:xfrm>
            <a:off x="594360" y="1792224"/>
            <a:ext cx="1828800" cy="32918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18" name="Text 5"/>
          <p:cNvSpPr/>
          <p:nvPr/>
        </p:nvSpPr>
        <p:spPr>
          <a:xfrm>
            <a:off x="694944" y="182880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活菌路线参考</a:t>
            </a:r>
            <a:endParaRPr lang="en-US" sz="1100" dirty="0"/>
          </a:p>
        </p:txBody>
      </p:sp>
      <p:sp>
        <p:nvSpPr>
          <p:cNvPr id="19" name="Shape 6"/>
          <p:cNvSpPr/>
          <p:nvPr/>
        </p:nvSpPr>
        <p:spPr>
          <a:xfrm>
            <a:off x="594360" y="2441448"/>
            <a:ext cx="1517904" cy="2002536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20" name="Text 7"/>
          <p:cNvSpPr/>
          <p:nvPr/>
        </p:nvSpPr>
        <p:spPr>
          <a:xfrm>
            <a:off x="740664" y="3072384"/>
            <a:ext cx="1225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66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官网原图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866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待获取</a:t>
            </a:r>
            <a:endParaRPr lang="en-US" sz="1600" dirty="0"/>
          </a:p>
        </p:txBody>
      </p:sp>
      <p:sp>
        <p:nvSpPr>
          <p:cNvPr id="21" name="Text 8"/>
          <p:cNvSpPr/>
          <p:nvPr/>
        </p:nvSpPr>
        <p:spPr>
          <a:xfrm>
            <a:off x="2377440" y="2514600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5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Bigelow</a:t>
            </a:r>
            <a:endParaRPr lang="en-US" sz="2400" dirty="0"/>
          </a:p>
        </p:txBody>
      </p:sp>
      <p:sp>
        <p:nvSpPr>
          <p:cNvPr id="22" name="Text 9"/>
          <p:cNvSpPr/>
          <p:nvPr/>
        </p:nvSpPr>
        <p:spPr>
          <a:xfrm>
            <a:off x="2377440" y="3008376"/>
            <a:ext cx="3410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Lemon Ginger Plus Probiotics</a:t>
            </a:r>
            <a:endParaRPr lang="en-US" sz="1600" dirty="0"/>
          </a:p>
        </p:txBody>
      </p:sp>
      <p:sp>
        <p:nvSpPr>
          <p:cNvPr id="23" name="Text 10"/>
          <p:cNvSpPr/>
          <p:nvPr/>
        </p:nvSpPr>
        <p:spPr>
          <a:xfrm>
            <a:off x="2377440" y="3685032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866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商业产品：柠檬生姜益生菌草本茶</a:t>
            </a:r>
            <a:endParaRPr lang="en-US" sz="15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866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候选菌株参考：BC30® / 凝结芽孢杆菌</a:t>
            </a:r>
            <a:endParaRPr lang="en-US" sz="1500" dirty="0"/>
          </a:p>
        </p:txBody>
      </p:sp>
      <p:sp>
        <p:nvSpPr>
          <p:cNvPr id="24" name="Text 11"/>
          <p:cNvSpPr/>
          <p:nvPr/>
        </p:nvSpPr>
        <p:spPr>
          <a:xfrm>
            <a:off x="594360" y="4773168"/>
            <a:ext cx="5202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可借鉴：耐受性活菌在食品中的应用思路。</a:t>
            </a:r>
            <a:endParaRPr lang="en-US" sz="1600" dirty="0"/>
          </a:p>
          <a:p>
            <a:pPr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仍需验证：面制品加工、保质期与煮制后的活菌量。</a:t>
            </a:r>
            <a:endParaRPr lang="en-US" sz="1600" dirty="0"/>
          </a:p>
        </p:txBody>
      </p:sp>
      <p:sp>
        <p:nvSpPr>
          <p:cNvPr id="25" name="Text 12">
            <a:hlinkClick r:id="rId100" tooltip=""/>
          </p:cNvPr>
          <p:cNvSpPr/>
          <p:nvPr/>
        </p:nvSpPr>
        <p:spPr>
          <a:xfrm>
            <a:off x="594360" y="5660136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0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Bigelow 产品官网</a:t>
            </a:r>
            <a:endParaRPr lang="en-US" sz="1200" dirty="0"/>
          </a:p>
        </p:txBody>
      </p:sp>
      <p:sp>
        <p:nvSpPr>
          <p:cNvPr id="26" name="Text 13">
            <a:hlinkClick r:id="rId101" tooltip=""/>
          </p:cNvPr>
          <p:cNvSpPr/>
          <p:nvPr/>
        </p:nvSpPr>
        <p:spPr>
          <a:xfrm>
            <a:off x="594360" y="5952744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0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BC30 技术官网</a:t>
            </a:r>
            <a:endParaRPr lang="en-US" sz="1200" dirty="0"/>
          </a:p>
        </p:txBody>
      </p:sp>
      <p:sp>
        <p:nvSpPr>
          <p:cNvPr id="27" name="Shape 14"/>
          <p:cNvSpPr/>
          <p:nvPr/>
        </p:nvSpPr>
        <p:spPr>
          <a:xfrm>
            <a:off x="6409944" y="1792224"/>
            <a:ext cx="1828800" cy="32918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28" name="Text 15"/>
          <p:cNvSpPr/>
          <p:nvPr/>
        </p:nvSpPr>
        <p:spPr>
          <a:xfrm>
            <a:off x="6510528" y="182880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功能成分路线参考</a:t>
            </a:r>
            <a:endParaRPr lang="en-US" sz="1100" dirty="0"/>
          </a:p>
        </p:txBody>
      </p:sp>
      <p:sp>
        <p:nvSpPr>
          <p:cNvPr id="29" name="Shape 16"/>
          <p:cNvSpPr/>
          <p:nvPr/>
        </p:nvSpPr>
        <p:spPr>
          <a:xfrm>
            <a:off x="6409944" y="2441448"/>
            <a:ext cx="1517904" cy="2002536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30" name="Text 17"/>
          <p:cNvSpPr/>
          <p:nvPr/>
        </p:nvSpPr>
        <p:spPr>
          <a:xfrm>
            <a:off x="6556248" y="3072384"/>
            <a:ext cx="1225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66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官网原图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866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待获取</a:t>
            </a:r>
            <a:endParaRPr lang="en-US" sz="1600" dirty="0"/>
          </a:p>
        </p:txBody>
      </p:sp>
      <p:sp>
        <p:nvSpPr>
          <p:cNvPr id="31" name="Text 18"/>
          <p:cNvSpPr/>
          <p:nvPr/>
        </p:nvSpPr>
        <p:spPr>
          <a:xfrm>
            <a:off x="8193024" y="2514600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5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Calpis AMEAL S</a:t>
            </a:r>
            <a:endParaRPr lang="en-US" sz="2400" dirty="0"/>
          </a:p>
        </p:txBody>
      </p:sp>
      <p:sp>
        <p:nvSpPr>
          <p:cNvPr id="32" name="Text 19"/>
          <p:cNvSpPr/>
          <p:nvPr/>
        </p:nvSpPr>
        <p:spPr>
          <a:xfrm>
            <a:off x="8193024" y="3008376"/>
            <a:ext cx="3410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发酵乳 / 乳源活性肽</a:t>
            </a:r>
            <a:endParaRPr lang="en-US" sz="1600" dirty="0"/>
          </a:p>
        </p:txBody>
      </p:sp>
      <p:sp>
        <p:nvSpPr>
          <p:cNvPr id="33" name="Text 20"/>
          <p:cNvSpPr/>
          <p:nvPr/>
        </p:nvSpPr>
        <p:spPr>
          <a:xfrm>
            <a:off x="8193024" y="3685032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866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商业化参考：发酵乳产品（历史案例）</a:t>
            </a:r>
            <a:endParaRPr lang="en-US" sz="15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866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代表成分：VPP / IPP 乳源三肽</a:t>
            </a:r>
            <a:endParaRPr lang="en-US" sz="1500" dirty="0"/>
          </a:p>
        </p:txBody>
      </p:sp>
      <p:sp>
        <p:nvSpPr>
          <p:cNvPr id="34" name="Text 21"/>
          <p:cNvSpPr/>
          <p:nvPr/>
        </p:nvSpPr>
        <p:spPr>
          <a:xfrm>
            <a:off x="6409944" y="4773168"/>
            <a:ext cx="5202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可借鉴：以发酵活性肽构建食品功能价值。</a:t>
            </a:r>
            <a:endParaRPr lang="en-US" sz="1600" dirty="0"/>
          </a:p>
          <a:p>
            <a:pPr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仍需验证：面制品适配、热稳定性及肠道作用。</a:t>
            </a:r>
            <a:endParaRPr lang="en-US" sz="1600" dirty="0"/>
          </a:p>
        </p:txBody>
      </p:sp>
      <p:sp>
        <p:nvSpPr>
          <p:cNvPr id="35" name="Text 22">
            <a:hlinkClick r:id="rId102" tooltip=""/>
          </p:cNvPr>
          <p:cNvSpPr/>
          <p:nvPr/>
        </p:nvSpPr>
        <p:spPr>
          <a:xfrm>
            <a:off x="6409944" y="5660136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0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Calpis アミール品牌官网</a:t>
            </a:r>
            <a:endParaRPr lang="en-US" sz="1200" dirty="0"/>
          </a:p>
        </p:txBody>
      </p:sp>
      <p:sp>
        <p:nvSpPr>
          <p:cNvPr id="36" name="Text 23">
            <a:hlinkClick r:id="rId103" tooltip=""/>
          </p:cNvPr>
          <p:cNvSpPr/>
          <p:nvPr/>
        </p:nvSpPr>
        <p:spPr>
          <a:xfrm>
            <a:off x="6409944" y="5952744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0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发酵乳临床研究 · Hata et al., 1996</a:t>
            </a:r>
            <a:endParaRPr lang="en-US" sz="1200" dirty="0"/>
          </a:p>
        </p:txBody>
      </p:sp>
      <p:sp>
        <p:nvSpPr>
          <p:cNvPr id="37" name="Text 24"/>
          <p:cNvSpPr/>
          <p:nvPr/>
        </p:nvSpPr>
        <p:spPr>
          <a:xfrm>
            <a:off x="621792" y="6272784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D372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检索状态：产品页、配方信息与官网原图待联网核验；未使用生成包装图替代真实产品图。</a:t>
            </a:r>
            <a:endParaRPr lang="en-US" sz="900" dirty="0"/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LibreOfficeDev/26.8.0.0.alpha0$Linux_X86_64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2019-06-19T02:08:00Z</dcterms:created>
  <dc:creator/>
  <dc:description/>
  <dc:language>en-US</dc:language>
  <cp:lastModifiedBy>zoaod</cp:lastModifiedBy>
  <dcterms:modified xsi:type="dcterms:W3CDTF">2026-10-12T12:56:55Z</dcterms:modified>
  <cp:revision>157</cp:revision>
  <dc:subject/>
  <dc:title>空白演示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75C3D2BE65A4469C9C6188E57028B6E0_11</vt:lpwstr>
  </property>
  <property fmtid="{D5CDD505-2E9C-101B-9397-08002B2CF9AE}" pid="3" name="KSOProductBuildVer">
    <vt:lpwstr>2052-12.1.0.25225</vt:lpwstr>
  </property>
</Properties>
</file>